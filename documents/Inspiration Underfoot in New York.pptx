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048"/>
    <p:restoredTop sz="94681"/>
  </p:normalViewPr>
  <p:slideViewPr>
    <p:cSldViewPr>
      <p:cViewPr varScale="1">
        <p:scale>
          <a:sx n="172" d="100"/>
          <a:sy n="172" d="100"/>
        </p:scale>
        <p:origin x="3776" y="2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5449AF27-39FB-6943-AA66-94C0CF50DD53}" type="datetimeFigureOut">
              <a:rPr lang="de-DE" smtClean="0"/>
              <a:t>29.07.25</a:t>
            </a:fld>
            <a:endParaRPr lang="de-DE"/>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61FB6678-934D-5C4D-AC6B-3D361F47E04B}" type="slidenum">
              <a:rPr lang="de-DE" smtClean="0"/>
              <a:t>‹#›</a:t>
            </a:fld>
            <a:endParaRPr lang="de-DE"/>
          </a:p>
        </p:txBody>
      </p:sp>
    </p:spTree>
    <p:extLst>
      <p:ext uri="{BB962C8B-B14F-4D97-AF65-F5344CB8AC3E}">
        <p14:creationId xmlns:p14="http://schemas.microsoft.com/office/powerpoint/2010/main" val="1893235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481" y="2344483"/>
            <a:ext cx="9094788" cy="1588198"/>
          </a:xfrm>
          <a:prstGeom prst="rect">
            <a:avLst/>
          </a:prstGeom>
        </p:spPr>
        <p:txBody>
          <a:bodyPr wrap="square" lIns="0" tIns="0" rIns="0" bIns="0">
            <a:spAutoFit/>
          </a:bodyPr>
          <a:lstStyle>
            <a:lvl1pPr>
              <a:defRPr sz="4000" b="1" i="0">
                <a:solidFill>
                  <a:srgbClr val="666666"/>
                </a:solidFill>
                <a:latin typeface="Arial"/>
                <a:cs typeface="Arial"/>
              </a:defRPr>
            </a:lvl1pPr>
          </a:lstStyle>
          <a:p>
            <a:endParaRPr/>
          </a:p>
        </p:txBody>
      </p:sp>
      <p:sp>
        <p:nvSpPr>
          <p:cNvPr id="3" name="Holder 3"/>
          <p:cNvSpPr>
            <a:spLocks noGrp="1"/>
          </p:cNvSpPr>
          <p:nvPr>
            <p:ph type="subTitle" idx="4"/>
          </p:nvPr>
        </p:nvSpPr>
        <p:spPr>
          <a:xfrm>
            <a:off x="1604962" y="4235196"/>
            <a:ext cx="7489825" cy="1890712"/>
          </a:xfrm>
          <a:prstGeom prst="rect">
            <a:avLst/>
          </a:prstGeom>
        </p:spPr>
        <p:txBody>
          <a:bodyPr wrap="square" lIns="0" tIns="0" rIns="0" bIns="0">
            <a:spAutoFit/>
          </a:bodyPr>
          <a:lstStyle>
            <a:lvl1pPr>
              <a:defRPr sz="1800" b="1" i="0">
                <a:solidFill>
                  <a:srgbClr val="66666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1C19668-CD9B-4341-B007-536E89E04364}" type="datetime1">
              <a:rPr lang="de-DE" smtClean="0"/>
              <a:t>29.07.25</a:t>
            </a:fld>
            <a:endParaRPr lang="en-US"/>
          </a:p>
        </p:txBody>
      </p:sp>
      <p:sp>
        <p:nvSpPr>
          <p:cNvPr id="6" name="Holder 6"/>
          <p:cNvSpPr>
            <a:spLocks noGrp="1"/>
          </p:cNvSpPr>
          <p:nvPr>
            <p:ph type="sldNum" sz="quarter" idx="7"/>
          </p:nvPr>
        </p:nvSpPr>
        <p:spPr/>
        <p:txBody>
          <a:bodyPr lIns="0" tIns="0" rIns="0" bIns="0"/>
          <a:lstStyle>
            <a:lvl1pPr>
              <a:defRPr sz="1600" b="1" i="0">
                <a:solidFill>
                  <a:schemeClr val="tx1"/>
                </a:solidFill>
                <a:latin typeface="Arial"/>
                <a:cs typeface="Arial"/>
              </a:defRPr>
            </a:lvl1pPr>
          </a:lstStyle>
          <a:p>
            <a:pPr marL="12700">
              <a:lnSpc>
                <a:spcPts val="1614"/>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666666"/>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1" i="0">
                <a:solidFill>
                  <a:srgbClr val="66666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7E8DF1A-5448-9943-9F1A-A7DC533919D3}" type="datetime1">
              <a:rPr lang="de-DE" smtClean="0"/>
              <a:t>29.07.25</a:t>
            </a:fld>
            <a:endParaRPr lang="en-US"/>
          </a:p>
        </p:txBody>
      </p:sp>
      <p:sp>
        <p:nvSpPr>
          <p:cNvPr id="6" name="Holder 6"/>
          <p:cNvSpPr>
            <a:spLocks noGrp="1"/>
          </p:cNvSpPr>
          <p:nvPr>
            <p:ph type="sldNum" sz="quarter" idx="7"/>
          </p:nvPr>
        </p:nvSpPr>
        <p:spPr/>
        <p:txBody>
          <a:bodyPr lIns="0" tIns="0" rIns="0" bIns="0"/>
          <a:lstStyle>
            <a:lvl1pPr>
              <a:defRPr sz="1600" b="1" i="0">
                <a:solidFill>
                  <a:schemeClr val="tx1"/>
                </a:solidFill>
                <a:latin typeface="Arial"/>
                <a:cs typeface="Arial"/>
              </a:defRPr>
            </a:lvl1pPr>
          </a:lstStyle>
          <a:p>
            <a:pPr marL="12700">
              <a:lnSpc>
                <a:spcPts val="1614"/>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666666"/>
                </a:solidFill>
                <a:latin typeface="Arial"/>
                <a:cs typeface="Arial"/>
              </a:defRPr>
            </a:lvl1pPr>
          </a:lstStyle>
          <a:p>
            <a:endParaRPr/>
          </a:p>
        </p:txBody>
      </p:sp>
      <p:sp>
        <p:nvSpPr>
          <p:cNvPr id="3" name="Holder 3"/>
          <p:cNvSpPr>
            <a:spLocks noGrp="1"/>
          </p:cNvSpPr>
          <p:nvPr>
            <p:ph sz="half" idx="2"/>
          </p:nvPr>
        </p:nvSpPr>
        <p:spPr>
          <a:xfrm>
            <a:off x="534987" y="1739455"/>
            <a:ext cx="4654391"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10371" y="1739455"/>
            <a:ext cx="4654391"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5937EFD7-91C0-3045-9768-4C6684E5960E}" type="datetime1">
              <a:rPr lang="de-DE" smtClean="0"/>
              <a:t>29.07.25</a:t>
            </a:fld>
            <a:endParaRPr lang="en-US"/>
          </a:p>
        </p:txBody>
      </p:sp>
      <p:sp>
        <p:nvSpPr>
          <p:cNvPr id="7" name="Holder 7"/>
          <p:cNvSpPr>
            <a:spLocks noGrp="1"/>
          </p:cNvSpPr>
          <p:nvPr>
            <p:ph type="sldNum" sz="quarter" idx="7"/>
          </p:nvPr>
        </p:nvSpPr>
        <p:spPr/>
        <p:txBody>
          <a:bodyPr lIns="0" tIns="0" rIns="0" bIns="0"/>
          <a:lstStyle>
            <a:lvl1pPr>
              <a:defRPr sz="1600" b="1" i="0">
                <a:solidFill>
                  <a:schemeClr val="tx1"/>
                </a:solidFill>
                <a:latin typeface="Arial"/>
                <a:cs typeface="Arial"/>
              </a:defRPr>
            </a:lvl1pPr>
          </a:lstStyle>
          <a:p>
            <a:pPr marL="12700">
              <a:lnSpc>
                <a:spcPts val="1614"/>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666666"/>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324EB66-14FF-7043-BC22-F5E9658A8D7D}" type="datetime1">
              <a:rPr lang="de-DE" smtClean="0"/>
              <a:t>29.07.25</a:t>
            </a:fld>
            <a:endParaRPr lang="en-US"/>
          </a:p>
        </p:txBody>
      </p:sp>
      <p:sp>
        <p:nvSpPr>
          <p:cNvPr id="5" name="Holder 5"/>
          <p:cNvSpPr>
            <a:spLocks noGrp="1"/>
          </p:cNvSpPr>
          <p:nvPr>
            <p:ph type="sldNum" sz="quarter" idx="7"/>
          </p:nvPr>
        </p:nvSpPr>
        <p:spPr/>
        <p:txBody>
          <a:bodyPr lIns="0" tIns="0" rIns="0" bIns="0"/>
          <a:lstStyle>
            <a:lvl1pPr>
              <a:defRPr sz="1600" b="1" i="0">
                <a:solidFill>
                  <a:schemeClr val="tx1"/>
                </a:solidFill>
                <a:latin typeface="Arial"/>
                <a:cs typeface="Arial"/>
              </a:defRPr>
            </a:lvl1pPr>
          </a:lstStyle>
          <a:p>
            <a:pPr marL="12700">
              <a:lnSpc>
                <a:spcPts val="1614"/>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EF469A00-EA8F-AB4E-A2DC-1385AC10C7A9}" type="datetime1">
              <a:rPr lang="de-DE" smtClean="0"/>
              <a:t>29.07.25</a:t>
            </a:fld>
            <a:endParaRPr lang="en-US"/>
          </a:p>
        </p:txBody>
      </p:sp>
      <p:sp>
        <p:nvSpPr>
          <p:cNvPr id="4" name="Holder 4"/>
          <p:cNvSpPr>
            <a:spLocks noGrp="1"/>
          </p:cNvSpPr>
          <p:nvPr>
            <p:ph type="sldNum" sz="quarter" idx="7"/>
          </p:nvPr>
        </p:nvSpPr>
        <p:spPr/>
        <p:txBody>
          <a:bodyPr lIns="0" tIns="0" rIns="0" bIns="0"/>
          <a:lstStyle>
            <a:lvl1pPr>
              <a:defRPr sz="1600" b="1" i="0">
                <a:solidFill>
                  <a:schemeClr val="tx1"/>
                </a:solidFill>
                <a:latin typeface="Arial"/>
                <a:cs typeface="Arial"/>
              </a:defRPr>
            </a:lvl1pPr>
          </a:lstStyle>
          <a:p>
            <a:pPr marL="12700">
              <a:lnSpc>
                <a:spcPts val="1614"/>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00" y="0"/>
            <a:ext cx="10692130" cy="2124710"/>
          </a:xfrm>
          <a:custGeom>
            <a:avLst/>
            <a:gdLst/>
            <a:ahLst/>
            <a:cxnLst/>
            <a:rect l="l" t="t" r="r" b="b"/>
            <a:pathLst>
              <a:path w="10692130" h="2124710">
                <a:moveTo>
                  <a:pt x="10692003" y="0"/>
                </a:moveTo>
                <a:lnTo>
                  <a:pt x="0" y="0"/>
                </a:lnTo>
                <a:lnTo>
                  <a:pt x="0" y="2124202"/>
                </a:lnTo>
                <a:lnTo>
                  <a:pt x="10692003" y="2124202"/>
                </a:lnTo>
                <a:lnTo>
                  <a:pt x="10692003" y="0"/>
                </a:lnTo>
                <a:close/>
              </a:path>
            </a:pathLst>
          </a:custGeom>
          <a:solidFill>
            <a:srgbClr val="D6D6D6"/>
          </a:solidFill>
        </p:spPr>
        <p:txBody>
          <a:bodyPr wrap="square" lIns="0" tIns="0" rIns="0" bIns="0" rtlCol="0"/>
          <a:lstStyle/>
          <a:p>
            <a:endParaRPr/>
          </a:p>
        </p:txBody>
      </p:sp>
      <p:sp>
        <p:nvSpPr>
          <p:cNvPr id="2" name="Holder 2"/>
          <p:cNvSpPr>
            <a:spLocks noGrp="1"/>
          </p:cNvSpPr>
          <p:nvPr>
            <p:ph type="title"/>
          </p:nvPr>
        </p:nvSpPr>
        <p:spPr>
          <a:xfrm>
            <a:off x="5951601" y="824865"/>
            <a:ext cx="4474845" cy="1247139"/>
          </a:xfrm>
          <a:prstGeom prst="rect">
            <a:avLst/>
          </a:prstGeom>
        </p:spPr>
        <p:txBody>
          <a:bodyPr wrap="square" lIns="0" tIns="0" rIns="0" bIns="0">
            <a:spAutoFit/>
          </a:bodyPr>
          <a:lstStyle>
            <a:lvl1pPr>
              <a:defRPr sz="4000" b="1" i="0">
                <a:solidFill>
                  <a:srgbClr val="666666"/>
                </a:solidFill>
                <a:latin typeface="Arial"/>
                <a:cs typeface="Arial"/>
              </a:defRPr>
            </a:lvl1pPr>
          </a:lstStyle>
          <a:p>
            <a:endParaRPr/>
          </a:p>
        </p:txBody>
      </p:sp>
      <p:sp>
        <p:nvSpPr>
          <p:cNvPr id="3" name="Holder 3"/>
          <p:cNvSpPr>
            <a:spLocks noGrp="1"/>
          </p:cNvSpPr>
          <p:nvPr>
            <p:ph type="body" idx="1"/>
          </p:nvPr>
        </p:nvSpPr>
        <p:spPr>
          <a:xfrm>
            <a:off x="5210047" y="2142871"/>
            <a:ext cx="5316855" cy="4328160"/>
          </a:xfrm>
          <a:prstGeom prst="rect">
            <a:avLst/>
          </a:prstGeom>
        </p:spPr>
        <p:txBody>
          <a:bodyPr wrap="square" lIns="0" tIns="0" rIns="0" bIns="0">
            <a:spAutoFit/>
          </a:bodyPr>
          <a:lstStyle>
            <a:lvl1pPr>
              <a:defRPr sz="1800" b="1" i="0">
                <a:solidFill>
                  <a:srgbClr val="666666"/>
                </a:solidFill>
                <a:latin typeface="Arial"/>
                <a:cs typeface="Arial"/>
              </a:defRPr>
            </a:lvl1pPr>
          </a:lstStyle>
          <a:p>
            <a:endParaRPr/>
          </a:p>
        </p:txBody>
      </p:sp>
      <p:sp>
        <p:nvSpPr>
          <p:cNvPr id="4" name="Holder 4"/>
          <p:cNvSpPr>
            <a:spLocks noGrp="1"/>
          </p:cNvSpPr>
          <p:nvPr>
            <p:ph type="ftr" sz="quarter" idx="5"/>
          </p:nvPr>
        </p:nvSpPr>
        <p:spPr>
          <a:xfrm>
            <a:off x="3637915" y="7033450"/>
            <a:ext cx="3423920"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987" y="7033450"/>
            <a:ext cx="2460942" cy="378142"/>
          </a:xfrm>
          <a:prstGeom prst="rect">
            <a:avLst/>
          </a:prstGeom>
        </p:spPr>
        <p:txBody>
          <a:bodyPr wrap="square" lIns="0" tIns="0" rIns="0" bIns="0">
            <a:spAutoFit/>
          </a:bodyPr>
          <a:lstStyle>
            <a:lvl1pPr algn="l">
              <a:defRPr>
                <a:solidFill>
                  <a:schemeClr val="tx1">
                    <a:tint val="75000"/>
                  </a:schemeClr>
                </a:solidFill>
              </a:defRPr>
            </a:lvl1pPr>
          </a:lstStyle>
          <a:p>
            <a:fld id="{4A3F2CD6-9759-A942-992A-EAF5E10F9A63}" type="datetime1">
              <a:rPr lang="de-DE" smtClean="0"/>
              <a:t>29.07.25</a:t>
            </a:fld>
            <a:endParaRPr lang="en-US"/>
          </a:p>
        </p:txBody>
      </p:sp>
      <p:sp>
        <p:nvSpPr>
          <p:cNvPr id="6" name="Holder 6"/>
          <p:cNvSpPr>
            <a:spLocks noGrp="1"/>
          </p:cNvSpPr>
          <p:nvPr>
            <p:ph type="sldNum" sz="quarter" idx="7"/>
          </p:nvPr>
        </p:nvSpPr>
        <p:spPr>
          <a:xfrm>
            <a:off x="10212451" y="7295565"/>
            <a:ext cx="267970" cy="228600"/>
          </a:xfrm>
          <a:prstGeom prst="rect">
            <a:avLst/>
          </a:prstGeom>
        </p:spPr>
        <p:txBody>
          <a:bodyPr wrap="square" lIns="0" tIns="0" rIns="0" bIns="0">
            <a:spAutoFit/>
          </a:bodyPr>
          <a:lstStyle>
            <a:lvl1pPr>
              <a:defRPr sz="1600" b="1" i="0">
                <a:solidFill>
                  <a:schemeClr val="tx1"/>
                </a:solidFill>
                <a:latin typeface="Arial"/>
                <a:cs typeface="Arial"/>
              </a:defRPr>
            </a:lvl1pPr>
          </a:lstStyle>
          <a:p>
            <a:pPr marL="12700">
              <a:lnSpc>
                <a:spcPts val="1614"/>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80100" y="428625"/>
            <a:ext cx="4381245" cy="1597565"/>
          </a:xfrm>
          <a:prstGeom prst="rect">
            <a:avLst/>
          </a:prstGeom>
        </p:spPr>
        <p:txBody>
          <a:bodyPr vert="horz" wrap="square" lIns="0" tIns="119075" rIns="0" bIns="0" rtlCol="0">
            <a:spAutoFit/>
          </a:bodyPr>
          <a:lstStyle/>
          <a:p>
            <a:pPr marL="720090">
              <a:lnSpc>
                <a:spcPct val="100000"/>
              </a:lnSpc>
              <a:spcBef>
                <a:spcPts val="95"/>
              </a:spcBef>
            </a:pPr>
            <a:r>
              <a:rPr sz="4800" spc="-305" dirty="0">
                <a:solidFill>
                  <a:schemeClr val="tx1"/>
                </a:solidFill>
                <a:latin typeface="Goldstone" panose="02000504000000020004" pitchFamily="2" charset="0"/>
              </a:rPr>
              <a:t>Gisla</a:t>
            </a:r>
            <a:r>
              <a:rPr sz="4800" spc="320" dirty="0">
                <a:solidFill>
                  <a:schemeClr val="tx1"/>
                </a:solidFill>
                <a:latin typeface="Goldstone" panose="02000504000000020004" pitchFamily="2" charset="0"/>
              </a:rPr>
              <a:t> </a:t>
            </a:r>
            <a:r>
              <a:rPr sz="4800" spc="-225" dirty="0">
                <a:solidFill>
                  <a:schemeClr val="tx1"/>
                </a:solidFill>
                <a:latin typeface="Goldstone" panose="02000504000000020004" pitchFamily="2" charset="0"/>
              </a:rPr>
              <a:t>Burkhardt</a:t>
            </a:r>
          </a:p>
        </p:txBody>
      </p:sp>
      <p:sp>
        <p:nvSpPr>
          <p:cNvPr id="3" name="object 3"/>
          <p:cNvSpPr txBox="1"/>
          <p:nvPr/>
        </p:nvSpPr>
        <p:spPr>
          <a:xfrm>
            <a:off x="4960319" y="2664145"/>
            <a:ext cx="5733081" cy="1871666"/>
          </a:xfrm>
          <a:prstGeom prst="rect">
            <a:avLst/>
          </a:prstGeom>
        </p:spPr>
        <p:txBody>
          <a:bodyPr vert="horz" wrap="square" lIns="0" tIns="12065" rIns="0" bIns="0" rtlCol="0">
            <a:spAutoFit/>
          </a:bodyPr>
          <a:lstStyle/>
          <a:p>
            <a:pPr marL="1053465" marR="5080" indent="-1041400" algn="ctr">
              <a:lnSpc>
                <a:spcPct val="100000"/>
              </a:lnSpc>
              <a:spcBef>
                <a:spcPts val="95"/>
              </a:spcBef>
              <a:tabLst>
                <a:tab pos="1565275" algn="l"/>
                <a:tab pos="2490470" algn="l"/>
                <a:tab pos="2719070" algn="l"/>
              </a:tabLst>
            </a:pPr>
            <a:r>
              <a:rPr sz="4000" cap="small" dirty="0">
                <a:solidFill>
                  <a:schemeClr val="tx1"/>
                </a:solidFill>
                <a:latin typeface="Century Gothic" panose="020B0502020202020204" pitchFamily="34" charset="0"/>
                <a:cs typeface="Arial"/>
              </a:rPr>
              <a:t>Inspiration</a:t>
            </a:r>
            <a:endParaRPr lang="de-DE" sz="4000" cap="small" dirty="0">
              <a:solidFill>
                <a:schemeClr val="tx1"/>
              </a:solidFill>
              <a:latin typeface="Century Gothic" panose="020B0502020202020204" pitchFamily="34" charset="0"/>
              <a:cs typeface="Arial"/>
            </a:endParaRPr>
          </a:p>
          <a:p>
            <a:pPr marL="1053465" marR="5080" indent="-1041400" algn="ctr">
              <a:lnSpc>
                <a:spcPct val="100000"/>
              </a:lnSpc>
              <a:spcBef>
                <a:spcPts val="95"/>
              </a:spcBef>
              <a:tabLst>
                <a:tab pos="1565275" algn="l"/>
                <a:tab pos="2490470" algn="l"/>
                <a:tab pos="2719070" algn="l"/>
              </a:tabLst>
            </a:pPr>
            <a:r>
              <a:rPr sz="4000" cap="small" dirty="0">
                <a:solidFill>
                  <a:schemeClr val="tx1"/>
                </a:solidFill>
                <a:latin typeface="Century Gothic" panose="020B0502020202020204" pitchFamily="34" charset="0"/>
                <a:cs typeface="Arial"/>
              </a:rPr>
              <a:t>Underfoot in</a:t>
            </a:r>
            <a:endParaRPr lang="de-DE" sz="4000" cap="small" dirty="0">
              <a:solidFill>
                <a:schemeClr val="tx1"/>
              </a:solidFill>
              <a:latin typeface="Century Gothic" panose="020B0502020202020204" pitchFamily="34" charset="0"/>
              <a:cs typeface="Arial"/>
            </a:endParaRPr>
          </a:p>
          <a:p>
            <a:pPr marL="1053465" marR="5080" indent="-1041400" algn="ctr">
              <a:lnSpc>
                <a:spcPct val="100000"/>
              </a:lnSpc>
              <a:spcBef>
                <a:spcPts val="95"/>
              </a:spcBef>
              <a:tabLst>
                <a:tab pos="1565275" algn="l"/>
                <a:tab pos="2490470" algn="l"/>
                <a:tab pos="2719070" algn="l"/>
              </a:tabLst>
            </a:pPr>
            <a:r>
              <a:rPr sz="4000" cap="small" dirty="0">
                <a:solidFill>
                  <a:schemeClr val="tx1"/>
                </a:solidFill>
                <a:latin typeface="Century Gothic" panose="020B0502020202020204" pitchFamily="34" charset="0"/>
                <a:cs typeface="Arial"/>
              </a:rPr>
              <a:t>New	York</a:t>
            </a:r>
            <a:endParaRPr sz="4000" dirty="0">
              <a:solidFill>
                <a:schemeClr val="tx1"/>
              </a:solidFill>
              <a:latin typeface="Century Gothic" panose="020B0502020202020204" pitchFamily="34" charset="0"/>
              <a:cs typeface="Arial"/>
            </a:endParaRPr>
          </a:p>
        </p:txBody>
      </p:sp>
      <p:sp>
        <p:nvSpPr>
          <p:cNvPr id="4" name="object 4"/>
          <p:cNvSpPr txBox="1"/>
          <p:nvPr/>
        </p:nvSpPr>
        <p:spPr>
          <a:xfrm>
            <a:off x="4960319" y="5173766"/>
            <a:ext cx="5733081" cy="1288814"/>
          </a:xfrm>
          <a:prstGeom prst="rect">
            <a:avLst/>
          </a:prstGeom>
        </p:spPr>
        <p:txBody>
          <a:bodyPr vert="horz" wrap="square" lIns="0" tIns="77470" rIns="0" bIns="0" rtlCol="0">
            <a:spAutoFit/>
          </a:bodyPr>
          <a:lstStyle/>
          <a:p>
            <a:pPr algn="ctr">
              <a:lnSpc>
                <a:spcPct val="100000"/>
              </a:lnSpc>
              <a:spcBef>
                <a:spcPts val="610"/>
              </a:spcBef>
            </a:pPr>
            <a:r>
              <a:rPr sz="2400" cap="small" dirty="0">
                <a:solidFill>
                  <a:schemeClr val="tx1"/>
                </a:solidFill>
                <a:latin typeface="Century Gothic" panose="020B0502020202020204" pitchFamily="34" charset="0"/>
                <a:cs typeface="Arial"/>
              </a:rPr>
              <a:t>Graphically Enhanced Rubbings</a:t>
            </a:r>
            <a:endParaRPr sz="2400" dirty="0">
              <a:solidFill>
                <a:schemeClr val="tx1"/>
              </a:solidFill>
              <a:latin typeface="Century Gothic" panose="020B0502020202020204" pitchFamily="34" charset="0"/>
              <a:cs typeface="Arial"/>
            </a:endParaRPr>
          </a:p>
          <a:p>
            <a:pPr algn="ctr">
              <a:lnSpc>
                <a:spcPct val="100000"/>
              </a:lnSpc>
              <a:spcBef>
                <a:spcPts val="400"/>
              </a:spcBef>
            </a:pPr>
            <a:r>
              <a:rPr dirty="0">
                <a:solidFill>
                  <a:schemeClr val="tx1"/>
                </a:solidFill>
                <a:latin typeface="Century Gothic" panose="020B0502020202020204" pitchFamily="34" charset="0"/>
                <a:cs typeface="Arial"/>
              </a:rPr>
              <a:t>OF</a:t>
            </a:r>
            <a:r>
              <a:rPr lang="de-DE" dirty="0">
                <a:solidFill>
                  <a:schemeClr val="tx1"/>
                </a:solidFill>
                <a:latin typeface="Century Gothic" panose="020B0502020202020204" pitchFamily="34" charset="0"/>
                <a:cs typeface="Arial"/>
              </a:rPr>
              <a:t> </a:t>
            </a:r>
            <a:r>
              <a:rPr sz="2400" cap="small" dirty="0">
                <a:solidFill>
                  <a:schemeClr val="tx1"/>
                </a:solidFill>
                <a:latin typeface="Century Gothic" panose="020B0502020202020204" pitchFamily="34" charset="0"/>
                <a:cs typeface="Arial"/>
              </a:rPr>
              <a:t>Coal Chute, Manhole</a:t>
            </a:r>
            <a:endParaRPr lang="de-DE" sz="2400" cap="small" dirty="0">
              <a:solidFill>
                <a:schemeClr val="tx1"/>
              </a:solidFill>
              <a:latin typeface="Century Gothic" panose="020B0502020202020204" pitchFamily="34" charset="0"/>
              <a:cs typeface="Arial"/>
            </a:endParaRPr>
          </a:p>
          <a:p>
            <a:pPr algn="ctr">
              <a:lnSpc>
                <a:spcPct val="100000"/>
              </a:lnSpc>
              <a:spcBef>
                <a:spcPts val="400"/>
              </a:spcBef>
            </a:pPr>
            <a:r>
              <a:rPr sz="2400" cap="small" dirty="0">
                <a:solidFill>
                  <a:schemeClr val="tx1"/>
                </a:solidFill>
                <a:latin typeface="Century Gothic" panose="020B0502020202020204" pitchFamily="34" charset="0"/>
                <a:cs typeface="Arial"/>
              </a:rPr>
              <a:t>and Handhole Covers</a:t>
            </a:r>
            <a:endParaRPr sz="2400" dirty="0">
              <a:solidFill>
                <a:schemeClr val="tx1"/>
              </a:solidFill>
              <a:latin typeface="Century Gothic" panose="020B0502020202020204" pitchFamily="34" charset="0"/>
              <a:cs typeface="Arial"/>
            </a:endParaRPr>
          </a:p>
        </p:txBody>
      </p:sp>
      <p:pic>
        <p:nvPicPr>
          <p:cNvPr id="7" name="object 7"/>
          <p:cNvPicPr/>
          <p:nvPr/>
        </p:nvPicPr>
        <p:blipFill>
          <a:blip r:embed="rId2" cstate="print"/>
          <a:stretch>
            <a:fillRect/>
          </a:stretch>
        </p:blipFill>
        <p:spPr>
          <a:xfrm>
            <a:off x="315087" y="1188079"/>
            <a:ext cx="4645232" cy="62217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5163566" y="2175770"/>
            <a:ext cx="5316855" cy="5461110"/>
          </a:xfrm>
          <a:prstGeom prst="rect">
            <a:avLst/>
          </a:prstGeom>
        </p:spPr>
        <p:txBody>
          <a:bodyPr vert="horz" wrap="square" lIns="0" tIns="13335" rIns="0" bIns="0" rtlCol="0">
            <a:spAutoFit/>
          </a:bodyPr>
          <a:lstStyle/>
          <a:p>
            <a:pPr marL="12700" algn="just">
              <a:lnSpc>
                <a:spcPct val="100000"/>
              </a:lnSpc>
              <a:spcBef>
                <a:spcPts val="1850"/>
              </a:spcBef>
            </a:pPr>
            <a:r>
              <a:rPr sz="1600" b="1" dirty="0">
                <a:solidFill>
                  <a:schemeClr val="tx1"/>
                </a:solidFill>
                <a:latin typeface="Century Gothic" panose="020B0502020202020204" pitchFamily="34" charset="0"/>
                <a:cs typeface="Euphemia UCAS" panose="020B0503040102020104" pitchFamily="34" charset="-79"/>
              </a:rPr>
              <a:t>A City in Hiding Beneath the City of New York</a:t>
            </a:r>
            <a:endParaRPr sz="1600" dirty="0">
              <a:solidFill>
                <a:schemeClr val="tx1"/>
              </a:solidFill>
              <a:latin typeface="Century Gothic" panose="020B0502020202020204" pitchFamily="34" charset="0"/>
              <a:cs typeface="Euphemia UCAS" panose="020B0503040102020104" pitchFamily="34" charset="-79"/>
            </a:endParaRPr>
          </a:p>
          <a:p>
            <a:pPr marL="12700" marR="5715" algn="just">
              <a:lnSpc>
                <a:spcPct val="100000"/>
              </a:lnSpc>
              <a:spcBef>
                <a:spcPts val="1230"/>
              </a:spcBef>
            </a:pPr>
            <a:r>
              <a:rPr sz="1200" dirty="0">
                <a:solidFill>
                  <a:schemeClr val="tx1"/>
                </a:solidFill>
                <a:latin typeface="Century Gothic" panose="020B0502020202020204" pitchFamily="34" charset="0"/>
                <a:cs typeface="Euphemia UCAS" panose="020B0503040102020104" pitchFamily="34" charset="-79"/>
              </a:rPr>
              <a:t>Walking the City of New York one frequently steps on patches of cast iron with patterns resembling foot prints or horse shoe prints of the past. Those steam-belching vents, manhole, handhole and coal chute covers are the only visible reminders of an underground city indispensable for New York’s infrastructure. As an add-on to their function as gateway to the City’s infrastructure, manhole, coal chute, and handhole covers display beauty, symbolism and wide-open design possibilities – they are footprints of history.</a:t>
            </a:r>
          </a:p>
          <a:p>
            <a:pPr marL="12700" marR="5715" algn="just">
              <a:lnSpc>
                <a:spcPct val="100000"/>
              </a:lnSpc>
              <a:spcBef>
                <a:spcPts val="1205"/>
              </a:spcBef>
            </a:pPr>
            <a:r>
              <a:rPr sz="1200" dirty="0">
                <a:solidFill>
                  <a:schemeClr val="tx1"/>
                </a:solidFill>
                <a:latin typeface="Century Gothic" panose="020B0502020202020204" pitchFamily="34" charset="0"/>
                <a:cs typeface="Euphemia UCAS" panose="020B0503040102020104" pitchFamily="34" charset="-79"/>
              </a:rPr>
              <a:t>Their beauty often goes unnoticed and is slowly disappearing: some very old and decorative ones have been stolen, some simply yield to modern development and others may have been destroyed by 9/11. Unfortunately, thieves steal the cast-iron manhole covers, break them into pieces and then sell the pieces to scrap-metal dealers for whatever they can get, and the dealers don’t ask too many questions – even though the source of the bounty is quite obvious. Some of the covers find their way into »sanctuaries« provided by collectors.</a:t>
            </a:r>
          </a:p>
          <a:p>
            <a:pPr marL="12700" marR="5080" algn="just">
              <a:lnSpc>
                <a:spcPct val="100000"/>
              </a:lnSpc>
              <a:spcBef>
                <a:spcPts val="1200"/>
              </a:spcBef>
            </a:pPr>
            <a:r>
              <a:rPr sz="1200" dirty="0">
                <a:solidFill>
                  <a:schemeClr val="tx1"/>
                </a:solidFill>
                <a:latin typeface="Century Gothic" panose="020B0502020202020204" pitchFamily="34" charset="0"/>
                <a:cs typeface="Euphemia UCAS" panose="020B0503040102020104" pitchFamily="34" charset="-79"/>
              </a:rPr>
              <a:t>If you walk the streets without noticing the covers, you’ll miss a lot of delicate cast-iron artwork and, just maybe, a hint of the history of New York City. Electrical wiring, water mains, sewers, traffic and train tunnels all pulse and vibrate under your feet as you walk the five boroughs. There are at least 600,000 of those covers in the City.</a:t>
            </a:r>
          </a:p>
          <a:p>
            <a:pPr marL="12700" algn="just">
              <a:lnSpc>
                <a:spcPct val="100000"/>
              </a:lnSpc>
              <a:spcBef>
                <a:spcPts val="1200"/>
              </a:spcBef>
            </a:pPr>
            <a:r>
              <a:rPr sz="1200" dirty="0">
                <a:solidFill>
                  <a:schemeClr val="tx1"/>
                </a:solidFill>
                <a:latin typeface="Century Gothic" panose="020B0502020202020204" pitchFamily="34" charset="0"/>
                <a:cs typeface="Euphemia UCAS" panose="020B0503040102020104" pitchFamily="34" charset="-79"/>
              </a:rPr>
              <a:t>Sidewalks provide safe space for people to walk the City and an opportunity to view</a:t>
            </a:r>
            <a:r>
              <a:rPr lang="de-DE" sz="1200" dirty="0">
                <a:solidFill>
                  <a:schemeClr val="tx1"/>
                </a:solidFill>
                <a:latin typeface="Century Gothic" panose="020B0502020202020204" pitchFamily="34" charset="0"/>
                <a:cs typeface="Euphemia UCAS" panose="020B0503040102020104" pitchFamily="34" charset="-79"/>
              </a:rPr>
              <a:t> </a:t>
            </a:r>
            <a:r>
              <a:rPr sz="1200" dirty="0">
                <a:solidFill>
                  <a:schemeClr val="tx1"/>
                </a:solidFill>
                <a:latin typeface="Century Gothic" panose="020B0502020202020204" pitchFamily="34" charset="0"/>
                <a:cs typeface="Euphemia UCAS" panose="020B0503040102020104" pitchFamily="34" charset="-79"/>
              </a:rPr>
              <a:t>hidden beauty.</a:t>
            </a:r>
            <a:r>
              <a:rPr lang="de-DE" sz="1200" dirty="0">
                <a:solidFill>
                  <a:schemeClr val="tx1"/>
                </a:solidFill>
                <a:latin typeface="Century Gothic" panose="020B0502020202020204" pitchFamily="34" charset="0"/>
                <a:cs typeface="Euphemia UCAS" panose="020B0503040102020104" pitchFamily="34" charset="-79"/>
              </a:rPr>
              <a:t> </a:t>
            </a:r>
            <a:r>
              <a:rPr sz="1200" dirty="0">
                <a:solidFill>
                  <a:schemeClr val="tx1"/>
                </a:solidFill>
                <a:latin typeface="Century Gothic" panose="020B0502020202020204" pitchFamily="34" charset="0"/>
                <a:cs typeface="Euphemia UCAS" panose="020B0503040102020104" pitchFamily="34" charset="-79"/>
              </a:rPr>
              <a:t>Looking down can reveal unexpected attractions!</a:t>
            </a:r>
          </a:p>
        </p:txBody>
      </p:sp>
      <p:sp>
        <p:nvSpPr>
          <p:cNvPr id="8" name="TextBox 7">
            <a:extLst>
              <a:ext uri="{FF2B5EF4-FFF2-40B4-BE49-F238E27FC236}">
                <a16:creationId xmlns:a16="http://schemas.microsoft.com/office/drawing/2014/main" id="{BA454188-8E45-AD42-853B-F17EA1D7E585}"/>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2" name="TextBox 1">
            <a:extLst>
              <a:ext uri="{FF2B5EF4-FFF2-40B4-BE49-F238E27FC236}">
                <a16:creationId xmlns:a16="http://schemas.microsoft.com/office/drawing/2014/main" id="{F7E72F9C-65E5-934A-B230-4FF182215298}"/>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pic>
        <p:nvPicPr>
          <p:cNvPr id="11" name="object 3">
            <a:extLst>
              <a:ext uri="{FF2B5EF4-FFF2-40B4-BE49-F238E27FC236}">
                <a16:creationId xmlns:a16="http://schemas.microsoft.com/office/drawing/2014/main" id="{A2F59976-8AD9-A347-9C01-103F94809DB6}"/>
              </a:ext>
            </a:extLst>
          </p:cNvPr>
          <p:cNvPicPr/>
          <p:nvPr/>
        </p:nvPicPr>
        <p:blipFill>
          <a:blip r:embed="rId2" cstate="print"/>
          <a:stretch>
            <a:fillRect/>
          </a:stretch>
        </p:blipFill>
        <p:spPr>
          <a:xfrm>
            <a:off x="315087" y="1188079"/>
            <a:ext cx="4648200" cy="6221786"/>
          </a:xfrm>
          <a:prstGeom prst="rect">
            <a:avLst/>
          </a:prstGeom>
        </p:spPr>
      </p:pic>
      <p:sp>
        <p:nvSpPr>
          <p:cNvPr id="13" name="Slide Number Placeholder 14">
            <a:extLst>
              <a:ext uri="{FF2B5EF4-FFF2-40B4-BE49-F238E27FC236}">
                <a16:creationId xmlns:a16="http://schemas.microsoft.com/office/drawing/2014/main" id="{46C0EB25-AF8B-AA49-B1B1-FD2561398E1E}"/>
              </a:ext>
            </a:extLst>
          </p:cNvPr>
          <p:cNvSpPr txBox="1">
            <a:spLocks/>
          </p:cNvSpPr>
          <p:nvPr/>
        </p:nvSpPr>
        <p:spPr>
          <a:xfrm>
            <a:off x="314431" y="317813"/>
            <a:ext cx="304800"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2</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270" y="0"/>
            <a:ext cx="10692130" cy="2124710"/>
          </a:xfrm>
          <a:custGeom>
            <a:avLst/>
            <a:gdLst/>
            <a:ahLst/>
            <a:cxnLst/>
            <a:rect l="l" t="t" r="r" b="b"/>
            <a:pathLst>
              <a:path w="10692130" h="2124710">
                <a:moveTo>
                  <a:pt x="10692003" y="0"/>
                </a:moveTo>
                <a:lnTo>
                  <a:pt x="0" y="0"/>
                </a:lnTo>
                <a:lnTo>
                  <a:pt x="0" y="2124202"/>
                </a:lnTo>
                <a:lnTo>
                  <a:pt x="10692003" y="2124202"/>
                </a:lnTo>
                <a:lnTo>
                  <a:pt x="10692003" y="0"/>
                </a:lnTo>
                <a:close/>
              </a:path>
            </a:pathLst>
          </a:custGeom>
          <a:solidFill>
            <a:srgbClr val="D6D6D6"/>
          </a:solidFill>
        </p:spPr>
        <p:txBody>
          <a:bodyPr wrap="square" lIns="0" tIns="0" rIns="0" bIns="0" rtlCol="0"/>
          <a:lstStyle/>
          <a:p>
            <a:endParaRPr dirty="0"/>
          </a:p>
        </p:txBody>
      </p:sp>
      <p:sp>
        <p:nvSpPr>
          <p:cNvPr id="6" name="object 6"/>
          <p:cNvSpPr txBox="1"/>
          <p:nvPr/>
        </p:nvSpPr>
        <p:spPr>
          <a:xfrm>
            <a:off x="5116886" y="2179112"/>
            <a:ext cx="5389245" cy="5345053"/>
          </a:xfrm>
          <a:prstGeom prst="rect">
            <a:avLst/>
          </a:prstGeom>
        </p:spPr>
        <p:txBody>
          <a:bodyPr vert="horz" wrap="square" lIns="0" tIns="12700" rIns="0" bIns="0" rtlCol="0">
            <a:spAutoFit/>
          </a:bodyPr>
          <a:lstStyle/>
          <a:p>
            <a:pPr marL="12700" marR="5080" algn="just">
              <a:lnSpc>
                <a:spcPct val="100000"/>
              </a:lnSpc>
              <a:spcBef>
                <a:spcPts val="100"/>
              </a:spcBef>
            </a:pPr>
            <a:r>
              <a:rPr sz="1200" dirty="0">
                <a:solidFill>
                  <a:schemeClr val="tx1"/>
                </a:solidFill>
                <a:latin typeface="Century Gothic" panose="020B0502020202020204" pitchFamily="34" charset="0"/>
                <a:cs typeface="Arial"/>
              </a:rPr>
              <a:t>Coal chute covers were the first iron lids which were used, beginning about 1840, onward to cover holes in the streets to slide coal into the basements of the adjacent houses. Later, step by step manhole covers started to become part of the streetscape to access cables beneath the streets, equipment for repairing wires, most importantly water (against fire) and sewage as well as gas for lighting the streets. The small ones (water supply) are called handhole covers.</a:t>
            </a:r>
          </a:p>
          <a:p>
            <a:pPr marL="12700" marR="5080" algn="just">
              <a:lnSpc>
                <a:spcPct val="100000"/>
              </a:lnSpc>
              <a:spcBef>
                <a:spcPts val="900"/>
              </a:spcBef>
            </a:pPr>
            <a:r>
              <a:rPr sz="1200" dirty="0">
                <a:solidFill>
                  <a:schemeClr val="tx1"/>
                </a:solidFill>
                <a:latin typeface="Century Gothic" panose="020B0502020202020204" pitchFamily="34" charset="0"/>
                <a:cs typeface="Arial"/>
              </a:rPr>
              <a:t>Around 1880, electric light and electrical street car lines started their conquest of the City. To avoid the destructing powers of the elements, these, and other infrastructure utilities for the growing city were installed underground after the blizzard of 1885 and had to share their space with the underground lines for gas, telephone, telegraph, water, power, and sanitary sewer, cables and equipment for traffic signals, as well as fire hydrants. Along with these standard utility connections various companies had under-ground facilities (for example pneumatic tubes).</a:t>
            </a:r>
          </a:p>
          <a:p>
            <a:pPr marL="12700" marR="5080" algn="just">
              <a:lnSpc>
                <a:spcPct val="100000"/>
              </a:lnSpc>
              <a:spcBef>
                <a:spcPts val="900"/>
              </a:spcBef>
            </a:pPr>
            <a:r>
              <a:rPr sz="1200" dirty="0">
                <a:solidFill>
                  <a:schemeClr val="tx1"/>
                </a:solidFill>
                <a:latin typeface="Century Gothic" panose="020B0502020202020204" pitchFamily="34" charset="0"/>
                <a:cs typeface="Arial"/>
              </a:rPr>
              <a:t>In the 19th century, most of the covers were designed by the foundry workers on their own. Artisans made the cover design out of wood, the cover would then be cast in a sand mold. These days, some artists are playing with the surface, coming up with eye- catching designs. Karim Rashid, a well-known participant of “Documenta”, won the competition started by Con Edison for the millennium cover.</a:t>
            </a:r>
          </a:p>
          <a:p>
            <a:pPr marL="12700" marR="5080" algn="just">
              <a:lnSpc>
                <a:spcPct val="100000"/>
              </a:lnSpc>
              <a:spcBef>
                <a:spcPts val="905"/>
              </a:spcBef>
            </a:pPr>
            <a:r>
              <a:rPr sz="1200" dirty="0">
                <a:solidFill>
                  <a:schemeClr val="tx1"/>
                </a:solidFill>
                <a:latin typeface="Century Gothic" panose="020B0502020202020204" pitchFamily="34" charset="0"/>
                <a:cs typeface="Arial"/>
              </a:rPr>
              <a:t>Many foundries were start-ups when the first coal chute covers were cast. Later there were about 800 of them in Downtown (SoHo) and 120 in Brooklyn. Naturally not all of them producing those covers and if they did, they most likely made other artefacts as well. Today new covers are produced in India – often in dire circumstances without observing any ecological necessities and mostly without regard to style and art.</a:t>
            </a:r>
          </a:p>
        </p:txBody>
      </p:sp>
      <p:sp>
        <p:nvSpPr>
          <p:cNvPr id="10" name="TextBox 9">
            <a:extLst>
              <a:ext uri="{FF2B5EF4-FFF2-40B4-BE49-F238E27FC236}">
                <a16:creationId xmlns:a16="http://schemas.microsoft.com/office/drawing/2014/main" id="{F6FE5BF4-0165-8145-A343-B45834B05926}"/>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1" name="TextBox 10">
            <a:extLst>
              <a:ext uri="{FF2B5EF4-FFF2-40B4-BE49-F238E27FC236}">
                <a16:creationId xmlns:a16="http://schemas.microsoft.com/office/drawing/2014/main" id="{184FAFBC-BC36-DD48-90F3-80E3967F5124}"/>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pic>
        <p:nvPicPr>
          <p:cNvPr id="14" name="object 5">
            <a:extLst>
              <a:ext uri="{FF2B5EF4-FFF2-40B4-BE49-F238E27FC236}">
                <a16:creationId xmlns:a16="http://schemas.microsoft.com/office/drawing/2014/main" id="{6F122E10-86CD-3241-A313-198E298EF1C9}"/>
              </a:ext>
            </a:extLst>
          </p:cNvPr>
          <p:cNvPicPr/>
          <p:nvPr/>
        </p:nvPicPr>
        <p:blipFill>
          <a:blip r:embed="rId2" cstate="print"/>
          <a:stretch>
            <a:fillRect/>
          </a:stretch>
        </p:blipFill>
        <p:spPr>
          <a:xfrm>
            <a:off x="314431" y="1266825"/>
            <a:ext cx="4648856" cy="6131192"/>
          </a:xfrm>
          <a:prstGeom prst="rect">
            <a:avLst/>
          </a:prstGeom>
        </p:spPr>
      </p:pic>
      <p:sp>
        <p:nvSpPr>
          <p:cNvPr id="15" name="Slide Number Placeholder 14">
            <a:extLst>
              <a:ext uri="{FF2B5EF4-FFF2-40B4-BE49-F238E27FC236}">
                <a16:creationId xmlns:a16="http://schemas.microsoft.com/office/drawing/2014/main" id="{30E58AAB-6CE1-564F-9857-109A20E98760}"/>
              </a:ext>
            </a:extLst>
          </p:cNvPr>
          <p:cNvSpPr>
            <a:spLocks noGrp="1"/>
          </p:cNvSpPr>
          <p:nvPr>
            <p:ph type="sldNum" sz="quarter" idx="7"/>
          </p:nvPr>
        </p:nvSpPr>
        <p:spPr>
          <a:xfrm>
            <a:off x="314431" y="317813"/>
            <a:ext cx="304800" cy="315599"/>
          </a:xfrm>
        </p:spPr>
        <p:txBody>
          <a:bodyPr/>
          <a:lstStyle/>
          <a:p>
            <a:pPr marL="12700">
              <a:lnSpc>
                <a:spcPts val="1614"/>
              </a:lnSpc>
            </a:pPr>
            <a:r>
              <a:rPr lang="de-DE" sz="2800" spc="-25" dirty="0">
                <a:solidFill>
                  <a:schemeClr val="tx1">
                    <a:lumMod val="50000"/>
                    <a:lumOff val="50000"/>
                  </a:schemeClr>
                </a:solidFill>
                <a:latin typeface="Century Gothic" panose="020B0502020202020204" pitchFamily="34" charset="0"/>
              </a:rPr>
              <a:t>3</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314431" y="1266825"/>
            <a:ext cx="4648856" cy="6131192"/>
          </a:xfrm>
          <a:prstGeom prst="rect">
            <a:avLst/>
          </a:prstGeom>
        </p:spPr>
      </p:pic>
      <p:sp>
        <p:nvSpPr>
          <p:cNvPr id="5" name="object 5"/>
          <p:cNvSpPr txBox="1"/>
          <p:nvPr/>
        </p:nvSpPr>
        <p:spPr>
          <a:xfrm>
            <a:off x="5118100" y="2191335"/>
            <a:ext cx="5418455" cy="5121915"/>
          </a:xfrm>
          <a:prstGeom prst="rect">
            <a:avLst/>
          </a:prstGeom>
        </p:spPr>
        <p:txBody>
          <a:bodyPr vert="horz" wrap="square" lIns="0" tIns="12700" rIns="0" bIns="0" rtlCol="0">
            <a:spAutoFit/>
          </a:bodyPr>
          <a:lstStyle/>
          <a:p>
            <a:pPr marL="63500" marR="55880" algn="just">
              <a:lnSpc>
                <a:spcPct val="100000"/>
              </a:lnSpc>
              <a:spcBef>
                <a:spcPts val="100"/>
              </a:spcBef>
            </a:pPr>
            <a:r>
              <a:rPr sz="1200" spc="-90" dirty="0">
                <a:solidFill>
                  <a:schemeClr val="tx1"/>
                </a:solidFill>
                <a:latin typeface="Century Gothic" panose="020B0502020202020204" pitchFamily="34" charset="0"/>
                <a:cs typeface="Arial"/>
              </a:rPr>
              <a:t>Two</a:t>
            </a:r>
            <a:r>
              <a:rPr sz="1200" spc="7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centuries</a:t>
            </a:r>
            <a:r>
              <a:rPr sz="1200" spc="6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later,</a:t>
            </a:r>
            <a:r>
              <a:rPr sz="1200" spc="6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many</a:t>
            </a:r>
            <a:r>
              <a:rPr sz="1200" spc="6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of</a:t>
            </a:r>
            <a:r>
              <a:rPr sz="1200" spc="6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6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covers</a:t>
            </a:r>
            <a:r>
              <a:rPr sz="1200" spc="6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are</a:t>
            </a:r>
            <a:r>
              <a:rPr sz="1200" spc="65"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still</a:t>
            </a:r>
            <a:r>
              <a:rPr sz="1200" spc="5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in</a:t>
            </a:r>
            <a:r>
              <a:rPr sz="1200" spc="5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use.</a:t>
            </a:r>
            <a:r>
              <a:rPr sz="1200" spc="5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Their</a:t>
            </a:r>
            <a:r>
              <a:rPr sz="1200" spc="5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design</a:t>
            </a:r>
            <a:r>
              <a:rPr sz="1200" spc="7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might</a:t>
            </a:r>
            <a:r>
              <a:rPr sz="1200" spc="7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be</a:t>
            </a:r>
            <a:r>
              <a:rPr sz="1200" spc="6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early</a:t>
            </a:r>
            <a:r>
              <a:rPr sz="1200" spc="-3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19</a:t>
            </a:r>
            <a:r>
              <a:rPr sz="1200" spc="-44" baseline="24305" dirty="0">
                <a:solidFill>
                  <a:schemeClr val="tx1"/>
                </a:solidFill>
                <a:latin typeface="Century Gothic" panose="020B0502020202020204" pitchFamily="34" charset="0"/>
                <a:cs typeface="Arial"/>
              </a:rPr>
              <a:t>th</a:t>
            </a:r>
            <a:r>
              <a:rPr sz="1200" spc="225" baseline="2430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century,</a:t>
            </a:r>
            <a:r>
              <a:rPr sz="1200" spc="25"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but</a:t>
            </a:r>
            <a:r>
              <a:rPr sz="1200" spc="3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4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iron</a:t>
            </a:r>
            <a:r>
              <a:rPr sz="1200" spc="4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lids</a:t>
            </a:r>
            <a:r>
              <a:rPr sz="1200" spc="3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are</a:t>
            </a:r>
            <a:r>
              <a:rPr sz="1200" spc="2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durable</a:t>
            </a:r>
            <a:r>
              <a:rPr sz="1200" spc="4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and</a:t>
            </a:r>
            <a:r>
              <a:rPr sz="1200" spc="4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still</a:t>
            </a:r>
            <a:r>
              <a:rPr sz="1200" spc="3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reveal</a:t>
            </a:r>
            <a:r>
              <a:rPr sz="1200" spc="25"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their</a:t>
            </a:r>
            <a:r>
              <a:rPr sz="1200" spc="4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art</a:t>
            </a:r>
            <a:r>
              <a:rPr sz="1200" spc="4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and</a:t>
            </a:r>
            <a:r>
              <a:rPr sz="1200" spc="3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beauty.</a:t>
            </a:r>
            <a:r>
              <a:rPr sz="1200" spc="3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Their</a:t>
            </a:r>
            <a:r>
              <a:rPr sz="1200" spc="10"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age</a:t>
            </a:r>
            <a:r>
              <a:rPr sz="1200" spc="114"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can</a:t>
            </a:r>
            <a:r>
              <a:rPr sz="1200" spc="114"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be</a:t>
            </a:r>
            <a:r>
              <a:rPr sz="1200" spc="10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determined</a:t>
            </a:r>
            <a:r>
              <a:rPr sz="1200" spc="10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by</a:t>
            </a:r>
            <a:r>
              <a:rPr sz="1200" spc="10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11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aesthetic</a:t>
            </a:r>
            <a:r>
              <a:rPr sz="1200" spc="11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style</a:t>
            </a:r>
            <a:r>
              <a:rPr sz="1200" spc="11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of</a:t>
            </a:r>
            <a:r>
              <a:rPr sz="1200" spc="10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10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time.</a:t>
            </a:r>
            <a:r>
              <a:rPr sz="1200" spc="10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But</a:t>
            </a:r>
            <a:r>
              <a:rPr sz="1200" spc="10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10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first</a:t>
            </a:r>
            <a:r>
              <a:rPr sz="1200" spc="10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coal</a:t>
            </a:r>
            <a:r>
              <a:rPr sz="1200" spc="12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chute</a:t>
            </a:r>
            <a:r>
              <a:rPr sz="1200" spc="-3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covers</a:t>
            </a:r>
            <a:r>
              <a:rPr sz="1200" spc="-1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I</a:t>
            </a:r>
            <a:r>
              <a:rPr sz="1200" spc="-1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found</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in</a:t>
            </a:r>
            <a:r>
              <a:rPr sz="1200" spc="-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Charlton</a:t>
            </a:r>
            <a:r>
              <a:rPr sz="1200" spc="-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Street</a:t>
            </a:r>
            <a:r>
              <a:rPr sz="1200" spc="-5" dirty="0">
                <a:solidFill>
                  <a:schemeClr val="tx1"/>
                </a:solidFill>
                <a:latin typeface="Century Gothic" panose="020B0502020202020204" pitchFamily="34" charset="0"/>
                <a:cs typeface="Arial"/>
              </a:rPr>
              <a:t> </a:t>
            </a:r>
            <a:r>
              <a:rPr sz="1200" spc="120" dirty="0">
                <a:solidFill>
                  <a:schemeClr val="tx1"/>
                </a:solidFill>
                <a:latin typeface="Century Gothic" panose="020B0502020202020204" pitchFamily="34" charset="0"/>
                <a:cs typeface="Arial"/>
              </a:rPr>
              <a:t>/</a:t>
            </a:r>
            <a:r>
              <a:rPr sz="1200" spc="-20" dirty="0">
                <a:solidFill>
                  <a:schemeClr val="tx1"/>
                </a:solidFill>
                <a:latin typeface="Century Gothic" panose="020B0502020202020204" pitchFamily="34" charset="0"/>
                <a:cs typeface="Arial"/>
              </a:rPr>
              <a:t> </a:t>
            </a:r>
            <a:r>
              <a:rPr sz="1200" spc="-114" dirty="0">
                <a:solidFill>
                  <a:schemeClr val="tx1"/>
                </a:solidFill>
                <a:latin typeface="Century Gothic" panose="020B0502020202020204" pitchFamily="34" charset="0"/>
                <a:cs typeface="Arial"/>
              </a:rPr>
              <a:t>SoHo</a:t>
            </a:r>
            <a:r>
              <a:rPr sz="1200" spc="-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having</a:t>
            </a:r>
            <a:r>
              <a:rPr sz="1200" spc="-2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decor</a:t>
            </a:r>
            <a:r>
              <a:rPr sz="1200" spc="-1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elements</a:t>
            </a:r>
            <a:r>
              <a:rPr sz="1200" spc="-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from</a:t>
            </a:r>
            <a:r>
              <a:rPr sz="1200" spc="-5"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a</a:t>
            </a:r>
            <a:r>
              <a:rPr sz="1200" spc="-2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period</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before</a:t>
            </a:r>
            <a:r>
              <a:rPr sz="1200" spc="-3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they</a:t>
            </a:r>
            <a:r>
              <a:rPr sz="1200" spc="3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were</a:t>
            </a:r>
            <a:r>
              <a:rPr sz="1200" spc="4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cast</a:t>
            </a:r>
            <a:r>
              <a:rPr sz="1200" spc="5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carrying</a:t>
            </a:r>
            <a:r>
              <a:rPr sz="1200" spc="3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floral</a:t>
            </a:r>
            <a:r>
              <a:rPr sz="1200" spc="409"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motifs</a:t>
            </a:r>
            <a:r>
              <a:rPr sz="1200" spc="4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like</a:t>
            </a:r>
            <a:r>
              <a:rPr sz="1200" spc="4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ornamental</a:t>
            </a:r>
            <a:r>
              <a:rPr sz="1200" spc="4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decors</a:t>
            </a:r>
            <a:r>
              <a:rPr sz="1200" spc="40"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of</a:t>
            </a:r>
            <a:r>
              <a:rPr sz="1200" spc="4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rococo</a:t>
            </a:r>
            <a:r>
              <a:rPr sz="1200" spc="4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architecture.</a:t>
            </a:r>
            <a:r>
              <a:rPr sz="1200" spc="-4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Also,</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letters</a:t>
            </a:r>
            <a:r>
              <a:rPr sz="1200" spc="1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used</a:t>
            </a:r>
            <a:r>
              <a:rPr sz="1200" spc="2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in</a:t>
            </a:r>
            <a:r>
              <a:rPr sz="1200" spc="2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inscriptions</a:t>
            </a:r>
            <a:r>
              <a:rPr sz="1200" spc="1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help</a:t>
            </a:r>
            <a:r>
              <a:rPr sz="1200" spc="2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identify</a:t>
            </a:r>
            <a:r>
              <a:rPr sz="120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5"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age</a:t>
            </a:r>
            <a:r>
              <a:rPr sz="1200" spc="15"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of</a:t>
            </a:r>
            <a:r>
              <a:rPr sz="1200" spc="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design:</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older</a:t>
            </a:r>
            <a:r>
              <a:rPr sz="1200" spc="1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ones</a:t>
            </a:r>
            <a:r>
              <a:rPr sz="1200" spc="1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used</a:t>
            </a:r>
            <a:r>
              <a:rPr sz="1200" spc="-2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serifs.</a:t>
            </a:r>
            <a:r>
              <a:rPr sz="1200" spc="61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Victorian</a:t>
            </a:r>
            <a:r>
              <a:rPr sz="1200" spc="63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motifs,</a:t>
            </a:r>
            <a:r>
              <a:rPr sz="1200" spc="63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Art</a:t>
            </a:r>
            <a:r>
              <a:rPr sz="1200" spc="62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Nouveau</a:t>
            </a:r>
            <a:r>
              <a:rPr sz="1200" spc="64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and</a:t>
            </a:r>
            <a:r>
              <a:rPr sz="1200" spc="625"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Art</a:t>
            </a:r>
            <a:r>
              <a:rPr sz="1200" spc="625"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Deco</a:t>
            </a:r>
            <a:r>
              <a:rPr sz="1200" spc="63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resemble</a:t>
            </a:r>
            <a:r>
              <a:rPr sz="1200" spc="63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architectural</a:t>
            </a:r>
            <a:r>
              <a:rPr sz="1200" spc="-3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components</a:t>
            </a:r>
            <a:r>
              <a:rPr sz="1200" spc="-7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in</a:t>
            </a:r>
            <a:r>
              <a:rPr sz="1200" spc="-6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7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aesthetic</a:t>
            </a:r>
            <a:r>
              <a:rPr sz="1200" spc="-7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style</a:t>
            </a:r>
            <a:r>
              <a:rPr sz="1200" spc="-70"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of</a:t>
            </a:r>
            <a:r>
              <a:rPr sz="1200" spc="-50"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their</a:t>
            </a:r>
            <a:r>
              <a:rPr sz="1200" spc="-9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time.</a:t>
            </a:r>
            <a:endParaRPr sz="1200" dirty="0">
              <a:solidFill>
                <a:schemeClr val="tx1"/>
              </a:solidFill>
              <a:latin typeface="Century Gothic" panose="020B0502020202020204" pitchFamily="34" charset="0"/>
              <a:cs typeface="Arial"/>
            </a:endParaRPr>
          </a:p>
          <a:p>
            <a:pPr marL="63500" marR="55244" algn="just">
              <a:lnSpc>
                <a:spcPct val="100000"/>
              </a:lnSpc>
              <a:spcBef>
                <a:spcPts val="1200"/>
              </a:spcBef>
            </a:pPr>
            <a:r>
              <a:rPr sz="1200" spc="-60" dirty="0">
                <a:solidFill>
                  <a:schemeClr val="tx1"/>
                </a:solidFill>
                <a:latin typeface="Century Gothic" panose="020B0502020202020204" pitchFamily="34" charset="0"/>
                <a:cs typeface="Arial"/>
              </a:rPr>
              <a:t>Patterns</a:t>
            </a:r>
            <a:r>
              <a:rPr sz="1200" spc="23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of</a:t>
            </a:r>
            <a:r>
              <a:rPr sz="1200" spc="22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22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covers</a:t>
            </a:r>
            <a:r>
              <a:rPr sz="1200" spc="22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often</a:t>
            </a:r>
            <a:r>
              <a:rPr sz="1200" spc="22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match</a:t>
            </a:r>
            <a:r>
              <a:rPr sz="1200" spc="22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22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utilities</a:t>
            </a:r>
            <a:r>
              <a:rPr sz="1200" spc="229"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underground.</a:t>
            </a:r>
            <a:r>
              <a:rPr sz="1200" spc="225" dirty="0">
                <a:solidFill>
                  <a:schemeClr val="tx1"/>
                </a:solidFill>
                <a:latin typeface="Century Gothic" panose="020B0502020202020204" pitchFamily="34" charset="0"/>
                <a:cs typeface="Arial"/>
              </a:rPr>
              <a:t> </a:t>
            </a:r>
            <a:r>
              <a:rPr sz="1200" spc="-105" dirty="0">
                <a:solidFill>
                  <a:schemeClr val="tx1"/>
                </a:solidFill>
                <a:latin typeface="Century Gothic" panose="020B0502020202020204" pitchFamily="34" charset="0"/>
                <a:cs typeface="Arial"/>
              </a:rPr>
              <a:t>Some</a:t>
            </a:r>
            <a:r>
              <a:rPr sz="1200" spc="22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covers</a:t>
            </a:r>
            <a:r>
              <a:rPr sz="1200" spc="22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have</a:t>
            </a:r>
            <a:r>
              <a:rPr sz="1200" spc="-3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identifying</a:t>
            </a:r>
            <a:r>
              <a:rPr sz="1200" spc="7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abbreviations,</a:t>
            </a:r>
            <a:r>
              <a:rPr sz="1200" spc="65" dirty="0">
                <a:solidFill>
                  <a:schemeClr val="tx1"/>
                </a:solidFill>
                <a:latin typeface="Century Gothic" panose="020B0502020202020204" pitchFamily="34" charset="0"/>
                <a:cs typeface="Arial"/>
              </a:rPr>
              <a:t> </a:t>
            </a:r>
            <a:r>
              <a:rPr sz="1200" spc="-80" dirty="0">
                <a:solidFill>
                  <a:schemeClr val="tx1"/>
                </a:solidFill>
                <a:latin typeface="Century Gothic" panose="020B0502020202020204" pitchFamily="34" charset="0"/>
                <a:cs typeface="Arial"/>
              </a:rPr>
              <a:t>such</a:t>
            </a:r>
            <a:r>
              <a:rPr sz="1200" spc="65" dirty="0">
                <a:solidFill>
                  <a:schemeClr val="tx1"/>
                </a:solidFill>
                <a:latin typeface="Century Gothic" panose="020B0502020202020204" pitchFamily="34" charset="0"/>
                <a:cs typeface="Arial"/>
              </a:rPr>
              <a:t> </a:t>
            </a:r>
            <a:r>
              <a:rPr sz="1200" spc="-114" dirty="0">
                <a:solidFill>
                  <a:schemeClr val="tx1"/>
                </a:solidFill>
                <a:latin typeface="Century Gothic" panose="020B0502020202020204" pitchFamily="34" charset="0"/>
                <a:cs typeface="Arial"/>
              </a:rPr>
              <a:t>as</a:t>
            </a:r>
            <a:r>
              <a:rPr sz="1200" spc="445" dirty="0">
                <a:solidFill>
                  <a:schemeClr val="tx1"/>
                </a:solidFill>
                <a:latin typeface="Century Gothic" panose="020B0502020202020204" pitchFamily="34" charset="0"/>
                <a:cs typeface="Arial"/>
              </a:rPr>
              <a:t> </a:t>
            </a:r>
            <a:r>
              <a:rPr sz="1200" spc="-165" dirty="0">
                <a:solidFill>
                  <a:schemeClr val="tx1"/>
                </a:solidFill>
                <a:latin typeface="Century Gothic" panose="020B0502020202020204" pitchFamily="34" charset="0"/>
                <a:cs typeface="Arial"/>
              </a:rPr>
              <a:t>WSNY</a:t>
            </a:r>
            <a:r>
              <a:rPr sz="1200" spc="5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for</a:t>
            </a:r>
            <a:r>
              <a:rPr sz="1200" spc="44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Water</a:t>
            </a:r>
            <a:r>
              <a:rPr sz="1200" spc="5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Supply</a:t>
            </a:r>
            <a:r>
              <a:rPr sz="1200" spc="6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New</a:t>
            </a:r>
            <a:r>
              <a:rPr sz="1200" spc="55"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York</a:t>
            </a:r>
            <a:r>
              <a:rPr sz="1200" spc="6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a:t>
            </a:r>
            <a:r>
              <a:rPr sz="1200" spc="60"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or</a:t>
            </a:r>
            <a:r>
              <a:rPr sz="1200" spc="60" dirty="0">
                <a:solidFill>
                  <a:schemeClr val="tx1"/>
                </a:solidFill>
                <a:latin typeface="Century Gothic" panose="020B0502020202020204" pitchFamily="34" charset="0"/>
                <a:cs typeface="Arial"/>
              </a:rPr>
              <a:t> </a:t>
            </a:r>
            <a:r>
              <a:rPr sz="1200" spc="-135" dirty="0">
                <a:solidFill>
                  <a:schemeClr val="tx1"/>
                </a:solidFill>
                <a:latin typeface="Century Gothic" panose="020B0502020202020204" pitchFamily="34" charset="0"/>
                <a:cs typeface="Arial"/>
              </a:rPr>
              <a:t>DPW</a:t>
            </a:r>
            <a:r>
              <a:rPr sz="1200" spc="6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for</a:t>
            </a:r>
            <a:r>
              <a:rPr sz="1200" spc="1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Department</a:t>
            </a:r>
            <a:r>
              <a:rPr sz="1200" spc="12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of</a:t>
            </a:r>
            <a:r>
              <a:rPr sz="1200" spc="114"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Public</a:t>
            </a:r>
            <a:r>
              <a:rPr sz="1200" spc="10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Works.</a:t>
            </a:r>
            <a:r>
              <a:rPr sz="1200" spc="105" dirty="0">
                <a:solidFill>
                  <a:schemeClr val="tx1"/>
                </a:solidFill>
                <a:latin typeface="Century Gothic" panose="020B0502020202020204" pitchFamily="34" charset="0"/>
                <a:cs typeface="Arial"/>
              </a:rPr>
              <a:t> </a:t>
            </a:r>
            <a:r>
              <a:rPr sz="1200" spc="-105" dirty="0">
                <a:solidFill>
                  <a:schemeClr val="tx1"/>
                </a:solidFill>
                <a:latin typeface="Century Gothic" panose="020B0502020202020204" pitchFamily="34" charset="0"/>
                <a:cs typeface="Arial"/>
              </a:rPr>
              <a:t>Some</a:t>
            </a:r>
            <a:r>
              <a:rPr sz="1200" spc="13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(mostly</a:t>
            </a:r>
            <a:r>
              <a:rPr sz="1200" spc="11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10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older</a:t>
            </a:r>
            <a:r>
              <a:rPr sz="1200" spc="114"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ones)</a:t>
            </a:r>
            <a:r>
              <a:rPr sz="1200" spc="11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are</a:t>
            </a:r>
            <a:r>
              <a:rPr sz="1200" spc="11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inscribed</a:t>
            </a:r>
            <a:r>
              <a:rPr sz="1200" spc="1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with</a:t>
            </a:r>
            <a:r>
              <a:rPr sz="1200" spc="114"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3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name</a:t>
            </a:r>
            <a:r>
              <a:rPr sz="1200" spc="165"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of</a:t>
            </a:r>
            <a:r>
              <a:rPr sz="1200" spc="15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15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foundry,</a:t>
            </a:r>
            <a:r>
              <a:rPr sz="1200" spc="16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sometimes</a:t>
            </a:r>
            <a:r>
              <a:rPr sz="1200" spc="170"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with</a:t>
            </a:r>
            <a:r>
              <a:rPr sz="1200" spc="15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16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date</a:t>
            </a:r>
            <a:r>
              <a:rPr sz="1200" spc="160"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of</a:t>
            </a:r>
            <a:r>
              <a:rPr sz="1200" spc="15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design</a:t>
            </a:r>
            <a:r>
              <a:rPr sz="1200" spc="17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or</a:t>
            </a:r>
            <a:r>
              <a:rPr sz="1200" spc="15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manufacture.</a:t>
            </a:r>
            <a:r>
              <a:rPr sz="1200" spc="65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Many</a:t>
            </a:r>
            <a:r>
              <a:rPr sz="1200" spc="-3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treads</a:t>
            </a:r>
            <a:r>
              <a:rPr sz="1200" spc="950"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with</a:t>
            </a:r>
            <a:r>
              <a:rPr sz="1200" spc="31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simplified</a:t>
            </a:r>
            <a:r>
              <a:rPr sz="1200" spc="30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diamonds,</a:t>
            </a:r>
            <a:r>
              <a:rPr sz="1200" spc="31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stars,</a:t>
            </a:r>
            <a:r>
              <a:rPr sz="1200" spc="30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honeycombs,</a:t>
            </a:r>
            <a:r>
              <a:rPr sz="1200" spc="30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fishplates,</a:t>
            </a:r>
            <a:r>
              <a:rPr sz="1200" spc="31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herring</a:t>
            </a:r>
            <a:r>
              <a:rPr sz="1200" spc="29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bones,</a:t>
            </a:r>
            <a:r>
              <a:rPr sz="1200" spc="-5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waffles,</a:t>
            </a:r>
            <a:r>
              <a:rPr sz="1200" spc="459"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snowflakes</a:t>
            </a:r>
            <a:r>
              <a:rPr sz="1200" spc="6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apply</a:t>
            </a:r>
            <a:r>
              <a:rPr sz="1200" spc="6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to</a:t>
            </a:r>
            <a:r>
              <a:rPr sz="1200" spc="6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specific</a:t>
            </a:r>
            <a:r>
              <a:rPr sz="1200" spc="6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purposes</a:t>
            </a:r>
            <a:r>
              <a:rPr sz="1200" spc="6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and</a:t>
            </a:r>
            <a:r>
              <a:rPr sz="1200" spc="6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functions.</a:t>
            </a:r>
            <a:r>
              <a:rPr sz="1200" spc="5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Cartwheels</a:t>
            </a:r>
            <a:r>
              <a:rPr sz="1200" spc="6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are</a:t>
            </a:r>
            <a:r>
              <a:rPr sz="1200" spc="6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often</a:t>
            </a:r>
            <a:r>
              <a:rPr sz="1200" spc="-3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castings</a:t>
            </a:r>
            <a:r>
              <a:rPr sz="1200" spc="-3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for</a:t>
            </a:r>
            <a:r>
              <a:rPr sz="1200" spc="-4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4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Department</a:t>
            </a:r>
            <a:r>
              <a:rPr sz="1200" spc="-2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of</a:t>
            </a:r>
            <a:r>
              <a:rPr sz="1200" spc="-3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Public</a:t>
            </a:r>
            <a:r>
              <a:rPr sz="1200" spc="-3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Works,</a:t>
            </a:r>
            <a:r>
              <a:rPr sz="1200" spc="-3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and</a:t>
            </a:r>
            <a:r>
              <a:rPr sz="1200" spc="-4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since</a:t>
            </a:r>
            <a:r>
              <a:rPr sz="1200" spc="-3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New</a:t>
            </a:r>
            <a:r>
              <a:rPr sz="1200" spc="-40" dirty="0">
                <a:solidFill>
                  <a:schemeClr val="tx1"/>
                </a:solidFill>
                <a:latin typeface="Century Gothic" panose="020B0502020202020204" pitchFamily="34" charset="0"/>
                <a:cs typeface="Arial"/>
              </a:rPr>
              <a:t> </a:t>
            </a:r>
            <a:r>
              <a:rPr sz="1200" spc="-100" dirty="0">
                <a:solidFill>
                  <a:schemeClr val="tx1"/>
                </a:solidFill>
                <a:latin typeface="Century Gothic" panose="020B0502020202020204" pitchFamily="34" charset="0"/>
                <a:cs typeface="Arial"/>
              </a:rPr>
              <a:t>York</a:t>
            </a:r>
            <a:r>
              <a:rPr sz="1200" spc="-40"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has</a:t>
            </a:r>
            <a:r>
              <a:rPr sz="1200" spc="-35"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a</a:t>
            </a:r>
            <a:r>
              <a:rPr sz="1200" spc="-4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large</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port</a:t>
            </a:r>
            <a:r>
              <a:rPr sz="1200" spc="-4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it</a:t>
            </a:r>
            <a:r>
              <a:rPr sz="1200" spc="-3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is</a:t>
            </a:r>
            <a:r>
              <a:rPr sz="1200" spc="-55"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not</a:t>
            </a:r>
            <a:r>
              <a:rPr sz="1200" spc="229"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surprising</a:t>
            </a:r>
            <a:r>
              <a:rPr sz="1200" spc="229"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that</a:t>
            </a:r>
            <a:r>
              <a:rPr sz="1200" spc="23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one</a:t>
            </a:r>
            <a:r>
              <a:rPr sz="1200" spc="220"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can</a:t>
            </a:r>
            <a:r>
              <a:rPr sz="1200" spc="23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also</a:t>
            </a:r>
            <a:r>
              <a:rPr sz="1200" spc="235"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find</a:t>
            </a:r>
            <a:r>
              <a:rPr sz="1200" spc="240"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waves</a:t>
            </a:r>
            <a:r>
              <a:rPr sz="1200" spc="229"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and</a:t>
            </a:r>
            <a:r>
              <a:rPr sz="1200" spc="23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ship</a:t>
            </a:r>
            <a:r>
              <a:rPr sz="1200" spc="23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steering-</a:t>
            </a:r>
            <a:r>
              <a:rPr sz="1200" spc="-55" dirty="0">
                <a:solidFill>
                  <a:schemeClr val="tx1"/>
                </a:solidFill>
                <a:latin typeface="Century Gothic" panose="020B0502020202020204" pitchFamily="34" charset="0"/>
                <a:cs typeface="Arial"/>
              </a:rPr>
              <a:t>wheels</a:t>
            </a:r>
            <a:r>
              <a:rPr sz="1200" spc="22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and</a:t>
            </a:r>
            <a:r>
              <a:rPr sz="1200" spc="235"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other</a:t>
            </a:r>
            <a:r>
              <a:rPr sz="1200" spc="1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maritime</a:t>
            </a:r>
            <a:r>
              <a:rPr sz="1200" spc="-6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elements.</a:t>
            </a:r>
            <a:endParaRPr sz="1200" dirty="0">
              <a:solidFill>
                <a:schemeClr val="tx1"/>
              </a:solidFill>
              <a:latin typeface="Century Gothic" panose="020B0502020202020204" pitchFamily="34" charset="0"/>
              <a:cs typeface="Arial"/>
            </a:endParaRPr>
          </a:p>
          <a:p>
            <a:pPr marL="63500" marR="55880" algn="just">
              <a:lnSpc>
                <a:spcPct val="100000"/>
              </a:lnSpc>
              <a:spcBef>
                <a:spcPts val="1205"/>
              </a:spcBef>
            </a:pPr>
            <a:r>
              <a:rPr sz="1200" spc="-55" dirty="0">
                <a:solidFill>
                  <a:schemeClr val="tx1"/>
                </a:solidFill>
                <a:latin typeface="Century Gothic" panose="020B0502020202020204" pitchFamily="34" charset="0"/>
                <a:cs typeface="Arial"/>
              </a:rPr>
              <a:t>For</a:t>
            </a:r>
            <a:r>
              <a:rPr sz="1200" spc="-3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electricity </a:t>
            </a:r>
            <a:r>
              <a:rPr sz="1200" spc="-60" dirty="0">
                <a:solidFill>
                  <a:schemeClr val="tx1"/>
                </a:solidFill>
                <a:latin typeface="Century Gothic" panose="020B0502020202020204" pitchFamily="34" charset="0"/>
                <a:cs typeface="Arial"/>
              </a:rPr>
              <a:t>(since</a:t>
            </a:r>
            <a:r>
              <a:rPr sz="1200" spc="-1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ca.</a:t>
            </a:r>
            <a:r>
              <a:rPr sz="1200" spc="-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1880</a:t>
            </a:r>
            <a:r>
              <a:rPr sz="1200" spc="-10"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Con</a:t>
            </a:r>
            <a:r>
              <a:rPr sz="1200" spc="1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Edison),</a:t>
            </a:r>
            <a:r>
              <a:rPr sz="1200" spc="-10" dirty="0">
                <a:solidFill>
                  <a:schemeClr val="tx1"/>
                </a:solidFill>
                <a:latin typeface="Century Gothic" panose="020B0502020202020204" pitchFamily="34" charset="0"/>
                <a:cs typeface="Arial"/>
              </a:rPr>
              <a:t> there</a:t>
            </a:r>
            <a:r>
              <a:rPr sz="1200" spc="-2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are</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often</a:t>
            </a:r>
            <a:r>
              <a:rPr sz="1200" spc="-1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abstract</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electric</a:t>
            </a:r>
            <a:r>
              <a:rPr sz="1200" spc="-1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plugs</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on </a:t>
            </a:r>
            <a:r>
              <a:rPr sz="1200" spc="-10" dirty="0">
                <a:solidFill>
                  <a:schemeClr val="tx1"/>
                </a:solidFill>
                <a:latin typeface="Century Gothic" panose="020B0502020202020204" pitchFamily="34" charset="0"/>
                <a:cs typeface="Arial"/>
              </a:rPr>
              <a:t>the</a:t>
            </a:r>
            <a:r>
              <a:rPr sz="1200" spc="-35" dirty="0">
                <a:solidFill>
                  <a:schemeClr val="tx1"/>
                </a:solidFill>
                <a:latin typeface="Century Gothic" panose="020B0502020202020204" pitchFamily="34" charset="0"/>
                <a:cs typeface="Arial"/>
              </a:rPr>
              <a:t> </a:t>
            </a:r>
            <a:r>
              <a:rPr sz="1200" spc="-80" dirty="0">
                <a:solidFill>
                  <a:schemeClr val="tx1"/>
                </a:solidFill>
                <a:latin typeface="Century Gothic" panose="020B0502020202020204" pitchFamily="34" charset="0"/>
                <a:cs typeface="Arial"/>
              </a:rPr>
              <a:t>covers.</a:t>
            </a:r>
            <a:r>
              <a:rPr sz="120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Traffic</a:t>
            </a:r>
            <a:r>
              <a:rPr sz="1200"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systems</a:t>
            </a:r>
            <a:r>
              <a:rPr sz="1200" spc="15"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have</a:t>
            </a:r>
            <a:r>
              <a:rPr sz="1200" spc="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mostly</a:t>
            </a:r>
            <a:r>
              <a:rPr sz="1200" spc="-2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patterns</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with </a:t>
            </a:r>
            <a:r>
              <a:rPr sz="1200" spc="-40" dirty="0">
                <a:solidFill>
                  <a:schemeClr val="tx1"/>
                </a:solidFill>
                <a:latin typeface="Century Gothic" panose="020B0502020202020204" pitchFamily="34" charset="0"/>
                <a:cs typeface="Arial"/>
              </a:rPr>
              <a:t>radiating</a:t>
            </a:r>
            <a:r>
              <a:rPr sz="1200" spc="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chains.</a:t>
            </a:r>
            <a:r>
              <a:rPr sz="1200" spc="5" dirty="0">
                <a:solidFill>
                  <a:schemeClr val="tx1"/>
                </a:solidFill>
                <a:latin typeface="Century Gothic" panose="020B0502020202020204" pitchFamily="34" charset="0"/>
                <a:cs typeface="Arial"/>
              </a:rPr>
              <a:t> </a:t>
            </a:r>
            <a:r>
              <a:rPr sz="1200" spc="-120" dirty="0">
                <a:solidFill>
                  <a:schemeClr val="tx1"/>
                </a:solidFill>
                <a:latin typeface="Century Gothic" panose="020B0502020202020204" pitchFamily="34" charset="0"/>
                <a:cs typeface="Arial"/>
              </a:rPr>
              <a:t>The</a:t>
            </a:r>
            <a:r>
              <a:rPr sz="1200" spc="3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iron</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covers </a:t>
            </a:r>
            <a:r>
              <a:rPr sz="1200" dirty="0">
                <a:solidFill>
                  <a:schemeClr val="tx1"/>
                </a:solidFill>
                <a:latin typeface="Century Gothic" panose="020B0502020202020204" pitchFamily="34" charset="0"/>
                <a:cs typeface="Arial"/>
              </a:rPr>
              <a:t>with</a:t>
            </a:r>
            <a:r>
              <a:rPr sz="1200" spc="11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stars</a:t>
            </a:r>
            <a:r>
              <a:rPr sz="1200" spc="11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and</a:t>
            </a:r>
            <a:r>
              <a:rPr sz="1200" spc="114"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starbursts</a:t>
            </a:r>
            <a:r>
              <a:rPr sz="1200" spc="11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(designed</a:t>
            </a:r>
            <a:r>
              <a:rPr sz="1200" spc="1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1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11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last</a:t>
            </a:r>
            <a:r>
              <a:rPr sz="1200" spc="114"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years</a:t>
            </a:r>
            <a:r>
              <a:rPr sz="1200" spc="11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11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19</a:t>
            </a:r>
            <a:r>
              <a:rPr sz="1200" baseline="24305" dirty="0">
                <a:solidFill>
                  <a:schemeClr val="tx1"/>
                </a:solidFill>
                <a:latin typeface="Century Gothic" panose="020B0502020202020204" pitchFamily="34" charset="0"/>
                <a:cs typeface="Arial"/>
              </a:rPr>
              <a:t>th</a:t>
            </a:r>
            <a:r>
              <a:rPr sz="1200" spc="337" baseline="2430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century)</a:t>
            </a:r>
            <a:r>
              <a:rPr sz="1200" spc="1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are</a:t>
            </a:r>
            <a:r>
              <a:rPr sz="1200" spc="10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used repeatedly </a:t>
            </a:r>
            <a:r>
              <a:rPr sz="1200" dirty="0">
                <a:solidFill>
                  <a:schemeClr val="tx1"/>
                </a:solidFill>
                <a:latin typeface="Century Gothic" panose="020B0502020202020204" pitchFamily="34" charset="0"/>
                <a:cs typeface="Arial"/>
              </a:rPr>
              <a:t>to</a:t>
            </a:r>
            <a:r>
              <a:rPr sz="1200" spc="-1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represent</a:t>
            </a:r>
            <a:r>
              <a:rPr sz="1200" spc="-1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foundries </a:t>
            </a:r>
            <a:r>
              <a:rPr sz="1200" dirty="0">
                <a:solidFill>
                  <a:schemeClr val="tx1"/>
                </a:solidFill>
                <a:latin typeface="Century Gothic" panose="020B0502020202020204" pitchFamily="34" charset="0"/>
                <a:cs typeface="Arial"/>
              </a:rPr>
              <a:t>and</a:t>
            </a:r>
            <a:r>
              <a:rPr sz="1200" spc="-2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private</a:t>
            </a:r>
            <a:r>
              <a:rPr sz="1200" spc="-1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companies.</a:t>
            </a:r>
            <a:r>
              <a:rPr sz="1200" spc="-1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There</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are</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many</a:t>
            </a:r>
            <a:r>
              <a:rPr sz="1200" spc="-1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covers </a:t>
            </a:r>
            <a:r>
              <a:rPr sz="1200" spc="-45" dirty="0">
                <a:solidFill>
                  <a:schemeClr val="tx1"/>
                </a:solidFill>
                <a:latin typeface="Century Gothic" panose="020B0502020202020204" pitchFamily="34" charset="0"/>
                <a:cs typeface="Arial"/>
              </a:rPr>
              <a:t>designed</a:t>
            </a:r>
            <a:r>
              <a:rPr sz="1200" spc="3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with</a:t>
            </a:r>
            <a:r>
              <a:rPr sz="1200" spc="2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hexagons</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&amp;</a:t>
            </a:r>
            <a:r>
              <a:rPr sz="1200" spc="2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honeycombs</a:t>
            </a:r>
            <a:r>
              <a:rPr sz="1200" spc="3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or</a:t>
            </a:r>
            <a:r>
              <a:rPr sz="1200" spc="2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square</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dots</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3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circular</a:t>
            </a:r>
            <a:r>
              <a:rPr sz="1200" spc="3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lines</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for</a:t>
            </a:r>
            <a:r>
              <a:rPr sz="1200" spc="2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sewers, </a:t>
            </a:r>
            <a:r>
              <a:rPr sz="1200" spc="-35" dirty="0">
                <a:solidFill>
                  <a:schemeClr val="tx1"/>
                </a:solidFill>
                <a:latin typeface="Century Gothic" panose="020B0502020202020204" pitchFamily="34" charset="0"/>
                <a:cs typeface="Arial"/>
              </a:rPr>
              <a:t>public</a:t>
            </a:r>
            <a:r>
              <a:rPr sz="1200" spc="-5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works,</a:t>
            </a:r>
            <a:r>
              <a:rPr sz="120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and</a:t>
            </a:r>
            <a:r>
              <a:rPr sz="1200" spc="-50" dirty="0">
                <a:solidFill>
                  <a:schemeClr val="tx1"/>
                </a:solidFill>
                <a:latin typeface="Century Gothic" panose="020B0502020202020204" pitchFamily="34" charset="0"/>
                <a:cs typeface="Arial"/>
              </a:rPr>
              <a:t> sanitary </a:t>
            </a:r>
            <a:r>
              <a:rPr sz="1200" spc="-10" dirty="0">
                <a:solidFill>
                  <a:schemeClr val="tx1"/>
                </a:solidFill>
                <a:latin typeface="Century Gothic" panose="020B0502020202020204" pitchFamily="34" charset="0"/>
                <a:cs typeface="Arial"/>
              </a:rPr>
              <a:t>systems.</a:t>
            </a:r>
            <a:endParaRPr sz="1200" dirty="0">
              <a:solidFill>
                <a:schemeClr val="tx1"/>
              </a:solidFill>
              <a:latin typeface="Century Gothic" panose="020B0502020202020204" pitchFamily="34" charset="0"/>
              <a:cs typeface="Arial"/>
            </a:endParaRPr>
          </a:p>
        </p:txBody>
      </p:sp>
      <p:sp>
        <p:nvSpPr>
          <p:cNvPr id="9" name="TextBox 8">
            <a:extLst>
              <a:ext uri="{FF2B5EF4-FFF2-40B4-BE49-F238E27FC236}">
                <a16:creationId xmlns:a16="http://schemas.microsoft.com/office/drawing/2014/main" id="{AD9EF6F8-10B6-434F-ADB9-7E7E33C7D969}"/>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0" name="TextBox 9">
            <a:extLst>
              <a:ext uri="{FF2B5EF4-FFF2-40B4-BE49-F238E27FC236}">
                <a16:creationId xmlns:a16="http://schemas.microsoft.com/office/drawing/2014/main" id="{13E4E057-AB47-4C41-88CF-7E9466E16058}"/>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1" name="Slide Number Placeholder 14">
            <a:extLst>
              <a:ext uri="{FF2B5EF4-FFF2-40B4-BE49-F238E27FC236}">
                <a16:creationId xmlns:a16="http://schemas.microsoft.com/office/drawing/2014/main" id="{D85D36F7-55A7-6F4D-BC50-DBEEB482B5BF}"/>
              </a:ext>
            </a:extLst>
          </p:cNvPr>
          <p:cNvSpPr txBox="1">
            <a:spLocks/>
          </p:cNvSpPr>
          <p:nvPr/>
        </p:nvSpPr>
        <p:spPr>
          <a:xfrm>
            <a:off x="314431" y="317813"/>
            <a:ext cx="304800"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4</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93700" y="2199931"/>
            <a:ext cx="4425696" cy="3282695"/>
          </a:xfrm>
          <a:prstGeom prst="rect">
            <a:avLst/>
          </a:prstGeom>
        </p:spPr>
      </p:pic>
      <p:sp>
        <p:nvSpPr>
          <p:cNvPr id="4" name="object 4"/>
          <p:cNvSpPr txBox="1"/>
          <p:nvPr/>
        </p:nvSpPr>
        <p:spPr>
          <a:xfrm>
            <a:off x="5053601" y="2311016"/>
            <a:ext cx="5316855" cy="3313728"/>
          </a:xfrm>
          <a:prstGeom prst="rect">
            <a:avLst/>
          </a:prstGeom>
        </p:spPr>
        <p:txBody>
          <a:bodyPr vert="horz" wrap="square" lIns="0" tIns="12700" rIns="0" bIns="0" rtlCol="0">
            <a:spAutoFit/>
          </a:bodyPr>
          <a:lstStyle/>
          <a:p>
            <a:pPr marL="12700" marR="5715" algn="just">
              <a:lnSpc>
                <a:spcPct val="100000"/>
              </a:lnSpc>
              <a:spcBef>
                <a:spcPts val="100"/>
              </a:spcBef>
            </a:pPr>
            <a:r>
              <a:rPr sz="1200" spc="-45" dirty="0">
                <a:solidFill>
                  <a:schemeClr val="tx1"/>
                </a:solidFill>
                <a:latin typeface="Century Gothic" panose="020B0502020202020204" pitchFamily="34" charset="0"/>
                <a:cs typeface="Arial"/>
              </a:rPr>
              <a:t>New</a:t>
            </a:r>
            <a:r>
              <a:rPr sz="1200" spc="-10"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York’s</a:t>
            </a:r>
            <a:r>
              <a:rPr sz="1200" spc="1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»queen</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 the</a:t>
            </a:r>
            <a:r>
              <a:rPr sz="1200" spc="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covers«,</a:t>
            </a:r>
            <a:r>
              <a:rPr sz="1200" spc="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Diana</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Stuart,</a:t>
            </a:r>
            <a:r>
              <a:rPr sz="1200" spc="-2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studied</a:t>
            </a:r>
            <a:r>
              <a:rPr sz="1200" spc="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hardware</a:t>
            </a:r>
            <a:r>
              <a:rPr sz="1200" spc="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catalogues</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the </a:t>
            </a:r>
            <a:r>
              <a:rPr sz="1200" dirty="0">
                <a:solidFill>
                  <a:schemeClr val="tx1"/>
                </a:solidFill>
                <a:latin typeface="Century Gothic" panose="020B0502020202020204" pitchFamily="34" charset="0"/>
                <a:cs typeface="Arial"/>
              </a:rPr>
              <a:t>19th</a:t>
            </a:r>
            <a:r>
              <a:rPr sz="1200" spc="-2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century</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and</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found</a:t>
            </a:r>
            <a:r>
              <a:rPr sz="1200" spc="-25" dirty="0">
                <a:solidFill>
                  <a:schemeClr val="tx1"/>
                </a:solidFill>
                <a:latin typeface="Century Gothic" panose="020B0502020202020204" pitchFamily="34" charset="0"/>
                <a:cs typeface="Arial"/>
              </a:rPr>
              <a:t> herringbone</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patterns,</a:t>
            </a:r>
            <a:r>
              <a:rPr sz="1200" spc="-2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snowflakes,</a:t>
            </a:r>
            <a:r>
              <a:rPr sz="1200" spc="-1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tick-</a:t>
            </a:r>
            <a:r>
              <a:rPr sz="1200" spc="-55" dirty="0">
                <a:solidFill>
                  <a:schemeClr val="tx1"/>
                </a:solidFill>
                <a:latin typeface="Century Gothic" panose="020B0502020202020204" pitchFamily="34" charset="0"/>
                <a:cs typeface="Arial"/>
              </a:rPr>
              <a:t>tack-</a:t>
            </a:r>
            <a:r>
              <a:rPr sz="1200" dirty="0">
                <a:solidFill>
                  <a:schemeClr val="tx1"/>
                </a:solidFill>
                <a:latin typeface="Century Gothic" panose="020B0502020202020204" pitchFamily="34" charset="0"/>
                <a:cs typeface="Arial"/>
              </a:rPr>
              <a:t>toe</a:t>
            </a:r>
            <a:r>
              <a:rPr sz="1200" spc="-2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grids,</a:t>
            </a:r>
            <a:r>
              <a:rPr sz="1200" spc="-2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cart- </a:t>
            </a:r>
            <a:r>
              <a:rPr sz="1200" spc="-60" dirty="0">
                <a:solidFill>
                  <a:schemeClr val="tx1"/>
                </a:solidFill>
                <a:latin typeface="Century Gothic" panose="020B0502020202020204" pitchFamily="34" charset="0"/>
                <a:cs typeface="Arial"/>
              </a:rPr>
              <a:t>wheels,</a:t>
            </a:r>
            <a:r>
              <a:rPr sz="1200" spc="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pinwheels,</a:t>
            </a:r>
            <a:r>
              <a:rPr sz="1200" spc="-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diamonds,</a:t>
            </a:r>
            <a:r>
              <a:rPr sz="1200" spc="10"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and</a:t>
            </a:r>
            <a:r>
              <a:rPr sz="120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bingo</a:t>
            </a:r>
            <a:r>
              <a:rPr sz="1200" spc="1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boards.</a:t>
            </a:r>
            <a:r>
              <a:rPr sz="1200" spc="-15"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Designers</a:t>
            </a:r>
            <a:r>
              <a:rPr sz="1200" spc="1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integrated</a:t>
            </a:r>
            <a:r>
              <a:rPr sz="1200" spc="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beauty</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and </a:t>
            </a:r>
            <a:r>
              <a:rPr sz="1200" spc="-30" dirty="0">
                <a:solidFill>
                  <a:schemeClr val="tx1"/>
                </a:solidFill>
                <a:latin typeface="Century Gothic" panose="020B0502020202020204" pitchFamily="34" charset="0"/>
                <a:cs typeface="Arial"/>
              </a:rPr>
              <a:t>culture</a:t>
            </a:r>
            <a:r>
              <a:rPr sz="1200" spc="-7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4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what</a:t>
            </a:r>
            <a:r>
              <a:rPr sz="1200" spc="-35" dirty="0">
                <a:solidFill>
                  <a:schemeClr val="tx1"/>
                </a:solidFill>
                <a:latin typeface="Century Gothic" panose="020B0502020202020204" pitchFamily="34" charset="0"/>
                <a:cs typeface="Arial"/>
              </a:rPr>
              <a:t> </a:t>
            </a:r>
            <a:r>
              <a:rPr sz="1200" spc="-100" dirty="0">
                <a:solidFill>
                  <a:schemeClr val="tx1"/>
                </a:solidFill>
                <a:latin typeface="Century Gothic" panose="020B0502020202020204" pitchFamily="34" charset="0"/>
                <a:cs typeface="Arial"/>
              </a:rPr>
              <a:t>makes</a:t>
            </a:r>
            <a:r>
              <a:rPr sz="1200" spc="-2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New</a:t>
            </a:r>
            <a:r>
              <a:rPr sz="1200" spc="-40" dirty="0">
                <a:solidFill>
                  <a:schemeClr val="tx1"/>
                </a:solidFill>
                <a:latin typeface="Century Gothic" panose="020B0502020202020204" pitchFamily="34" charset="0"/>
                <a:cs typeface="Arial"/>
              </a:rPr>
              <a:t> </a:t>
            </a:r>
            <a:r>
              <a:rPr sz="1200" spc="-100" dirty="0">
                <a:solidFill>
                  <a:schemeClr val="tx1"/>
                </a:solidFill>
                <a:latin typeface="Century Gothic" panose="020B0502020202020204" pitchFamily="34" charset="0"/>
                <a:cs typeface="Arial"/>
              </a:rPr>
              <a:t>York</a:t>
            </a:r>
            <a:r>
              <a:rPr sz="1200" spc="-55"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so</a:t>
            </a:r>
            <a:r>
              <a:rPr sz="1200" spc="-2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special</a:t>
            </a:r>
            <a:r>
              <a:rPr sz="1200" spc="-3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into</a:t>
            </a:r>
            <a:r>
              <a:rPr sz="1200" spc="-50" dirty="0">
                <a:solidFill>
                  <a:schemeClr val="tx1"/>
                </a:solidFill>
                <a:latin typeface="Century Gothic" panose="020B0502020202020204" pitchFamily="34" charset="0"/>
                <a:cs typeface="Arial"/>
              </a:rPr>
              <a:t> these</a:t>
            </a:r>
            <a:r>
              <a:rPr sz="1200" spc="-4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covers.</a:t>
            </a:r>
            <a:endParaRPr sz="1200" dirty="0">
              <a:solidFill>
                <a:schemeClr val="tx1"/>
              </a:solidFill>
              <a:latin typeface="Century Gothic" panose="020B0502020202020204" pitchFamily="34" charset="0"/>
              <a:cs typeface="Arial"/>
            </a:endParaRPr>
          </a:p>
          <a:p>
            <a:pPr marL="12700" marR="5080" algn="just">
              <a:lnSpc>
                <a:spcPct val="100000"/>
              </a:lnSpc>
              <a:spcBef>
                <a:spcPts val="900"/>
              </a:spcBef>
            </a:pPr>
            <a:r>
              <a:rPr sz="1200" dirty="0">
                <a:solidFill>
                  <a:schemeClr val="tx1"/>
                </a:solidFill>
                <a:latin typeface="Century Gothic" panose="020B0502020202020204" pitchFamily="34" charset="0"/>
                <a:cs typeface="Arial"/>
              </a:rPr>
              <a:t>With</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City</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growing,</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1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industrial</a:t>
            </a:r>
            <a:r>
              <a:rPr sz="1200" spc="-1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revolution</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demanded</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more</a:t>
            </a:r>
            <a:r>
              <a:rPr sz="1200" spc="-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and</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new</a:t>
            </a:r>
            <a:r>
              <a:rPr sz="1200" spc="-1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utilities, </a:t>
            </a:r>
            <a:r>
              <a:rPr sz="1200" spc="-25" dirty="0">
                <a:solidFill>
                  <a:schemeClr val="tx1"/>
                </a:solidFill>
                <a:latin typeface="Century Gothic" panose="020B0502020202020204" pitchFamily="34" charset="0"/>
                <a:cs typeface="Arial"/>
              </a:rPr>
              <a:t>which</a:t>
            </a:r>
            <a:r>
              <a:rPr sz="1200" spc="-3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had</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to</a:t>
            </a:r>
            <a:r>
              <a:rPr sz="1200" spc="-1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move</a:t>
            </a:r>
            <a:r>
              <a:rPr sz="1200" spc="-2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underground</a:t>
            </a:r>
            <a:r>
              <a:rPr sz="1200" spc="-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and</a:t>
            </a:r>
            <a:r>
              <a:rPr sz="1200" spc="-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were</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need</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manhole</a:t>
            </a:r>
            <a:r>
              <a:rPr sz="1200" spc="-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covers.</a:t>
            </a:r>
            <a:r>
              <a:rPr sz="1200" spc="-10"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Thousands</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of </a:t>
            </a:r>
            <a:r>
              <a:rPr sz="1200" spc="-55" dirty="0">
                <a:solidFill>
                  <a:schemeClr val="tx1"/>
                </a:solidFill>
                <a:latin typeface="Century Gothic" panose="020B0502020202020204" pitchFamily="34" charset="0"/>
                <a:cs typeface="Arial"/>
              </a:rPr>
              <a:t>covers</a:t>
            </a:r>
            <a:r>
              <a:rPr sz="1200" spc="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were</a:t>
            </a:r>
            <a:r>
              <a:rPr sz="1200" spc="-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cast</a:t>
            </a:r>
            <a:r>
              <a:rPr sz="1200" spc="-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and</a:t>
            </a:r>
            <a:r>
              <a:rPr sz="120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installed</a:t>
            </a:r>
            <a:r>
              <a:rPr sz="1200" spc="-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laying</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further</a:t>
            </a:r>
            <a:r>
              <a:rPr sz="1200" spc="-1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foundation</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for</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creativity</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not to</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be </a:t>
            </a:r>
            <a:r>
              <a:rPr sz="1200" spc="-75" dirty="0">
                <a:solidFill>
                  <a:schemeClr val="tx1"/>
                </a:solidFill>
                <a:latin typeface="Century Gothic" panose="020B0502020202020204" pitchFamily="34" charset="0"/>
                <a:cs typeface="Arial"/>
              </a:rPr>
              <a:t>missed</a:t>
            </a:r>
            <a:r>
              <a:rPr sz="1200" spc="-2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Underfoot</a:t>
            </a:r>
            <a:r>
              <a:rPr sz="1200" spc="-6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in</a:t>
            </a:r>
            <a:r>
              <a:rPr sz="1200" spc="-3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New</a:t>
            </a:r>
            <a:r>
              <a:rPr sz="1200" spc="-3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York.</a:t>
            </a:r>
            <a:endParaRPr sz="1200" dirty="0">
              <a:solidFill>
                <a:schemeClr val="tx1"/>
              </a:solidFill>
              <a:latin typeface="Century Gothic" panose="020B0502020202020204" pitchFamily="34" charset="0"/>
              <a:cs typeface="Arial"/>
            </a:endParaRPr>
          </a:p>
          <a:p>
            <a:pPr marL="12700" marR="6350" algn="just">
              <a:lnSpc>
                <a:spcPct val="100000"/>
              </a:lnSpc>
              <a:spcBef>
                <a:spcPts val="900"/>
              </a:spcBef>
            </a:pPr>
            <a:r>
              <a:rPr sz="1200" spc="-30" dirty="0">
                <a:solidFill>
                  <a:schemeClr val="tx1"/>
                </a:solidFill>
                <a:latin typeface="Century Gothic" panose="020B0502020202020204" pitchFamily="34" charset="0"/>
                <a:cs typeface="Arial"/>
              </a:rPr>
              <a:t>December</a:t>
            </a:r>
            <a:r>
              <a:rPr sz="1200" spc="6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2001</a:t>
            </a:r>
            <a:r>
              <a:rPr sz="1200" spc="7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marked</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first</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public</a:t>
            </a:r>
            <a:r>
              <a:rPr sz="1200" spc="6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exhibition</a:t>
            </a:r>
            <a:r>
              <a:rPr sz="1200" spc="7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6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Gisla</a:t>
            </a:r>
            <a:r>
              <a:rPr sz="1200" spc="7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Burkhardt’s</a:t>
            </a:r>
            <a:r>
              <a:rPr sz="1200" spc="7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beautiful </a:t>
            </a:r>
            <a:r>
              <a:rPr sz="1200" spc="-55" dirty="0">
                <a:solidFill>
                  <a:schemeClr val="tx1"/>
                </a:solidFill>
                <a:latin typeface="Century Gothic" panose="020B0502020202020204" pitchFamily="34" charset="0"/>
                <a:cs typeface="Arial"/>
              </a:rPr>
              <a:t>graphically</a:t>
            </a:r>
            <a:r>
              <a:rPr sz="1200" spc="-3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enhanced</a:t>
            </a:r>
            <a:r>
              <a:rPr sz="1200" spc="-1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rubbings</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8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those</a:t>
            </a:r>
            <a:r>
              <a:rPr sz="1200" spc="-3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covers</a:t>
            </a:r>
            <a:r>
              <a:rPr sz="1200" spc="-6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Underfoot</a:t>
            </a:r>
            <a:r>
              <a:rPr sz="1200" spc="-5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in</a:t>
            </a:r>
            <a:r>
              <a:rPr sz="1200" spc="-70" dirty="0">
                <a:solidFill>
                  <a:schemeClr val="tx1"/>
                </a:solidFill>
                <a:latin typeface="Century Gothic" panose="020B0502020202020204" pitchFamily="34" charset="0"/>
                <a:cs typeface="Arial"/>
              </a:rPr>
              <a:t> </a:t>
            </a:r>
            <a:r>
              <a:rPr sz="1200" spc="-80" dirty="0">
                <a:solidFill>
                  <a:schemeClr val="tx1"/>
                </a:solidFill>
                <a:latin typeface="Century Gothic" panose="020B0502020202020204" pitchFamily="34" charset="0"/>
                <a:cs typeface="Arial"/>
              </a:rPr>
              <a:t>New</a:t>
            </a:r>
            <a:r>
              <a:rPr sz="1200" spc="-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York</a:t>
            </a:r>
            <a:r>
              <a:rPr sz="1200" spc="19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which</a:t>
            </a:r>
            <a:r>
              <a:rPr sz="1200" spc="-4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opened </a:t>
            </a:r>
            <a:r>
              <a:rPr sz="1200" spc="-20" dirty="0">
                <a:solidFill>
                  <a:schemeClr val="tx1"/>
                </a:solidFill>
                <a:latin typeface="Century Gothic" panose="020B0502020202020204" pitchFamily="34" charset="0"/>
                <a:cs typeface="Arial"/>
              </a:rPr>
              <a:t>in</a:t>
            </a:r>
            <a:r>
              <a:rPr sz="1200" spc="-6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Berlin!</a:t>
            </a:r>
            <a:endParaRPr sz="1200" dirty="0">
              <a:solidFill>
                <a:schemeClr val="tx1"/>
              </a:solidFill>
              <a:latin typeface="Century Gothic" panose="020B0502020202020204" pitchFamily="34" charset="0"/>
              <a:cs typeface="Arial"/>
            </a:endParaRPr>
          </a:p>
          <a:p>
            <a:pPr marL="12700" marR="5715" algn="just">
              <a:lnSpc>
                <a:spcPct val="100000"/>
              </a:lnSpc>
              <a:spcBef>
                <a:spcPts val="905"/>
              </a:spcBef>
            </a:pPr>
            <a:r>
              <a:rPr sz="1200" spc="-65" dirty="0">
                <a:solidFill>
                  <a:schemeClr val="tx1"/>
                </a:solidFill>
                <a:latin typeface="Century Gothic" panose="020B0502020202020204" pitchFamily="34" charset="0"/>
                <a:cs typeface="Arial"/>
              </a:rPr>
              <a:t>Reading</a:t>
            </a:r>
            <a:r>
              <a:rPr sz="1200" dirty="0">
                <a:solidFill>
                  <a:schemeClr val="tx1"/>
                </a:solidFill>
                <a:latin typeface="Century Gothic" panose="020B0502020202020204" pitchFamily="34" charset="0"/>
                <a:cs typeface="Arial"/>
              </a:rPr>
              <a:t> the</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New</a:t>
            </a:r>
            <a:r>
              <a:rPr sz="1200" spc="-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York</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Times,</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one</a:t>
            </a:r>
            <a:r>
              <a:rPr sz="1200" spc="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learns</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that</a:t>
            </a:r>
            <a:r>
              <a:rPr sz="1200" spc="-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even</a:t>
            </a:r>
            <a:r>
              <a:rPr sz="120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nowadays</a:t>
            </a:r>
            <a:r>
              <a:rPr sz="120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thieves</a:t>
            </a:r>
            <a:r>
              <a:rPr sz="120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continue</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to </a:t>
            </a:r>
            <a:r>
              <a:rPr sz="1200" spc="-45" dirty="0">
                <a:solidFill>
                  <a:schemeClr val="tx1"/>
                </a:solidFill>
                <a:latin typeface="Century Gothic" panose="020B0502020202020204" pitchFamily="34" charset="0"/>
                <a:cs typeface="Arial"/>
              </a:rPr>
              <a:t>steal</a:t>
            </a:r>
            <a:r>
              <a:rPr sz="1200" spc="-4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1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cast-</a:t>
            </a:r>
            <a:r>
              <a:rPr sz="1200" dirty="0">
                <a:solidFill>
                  <a:schemeClr val="tx1"/>
                </a:solidFill>
                <a:latin typeface="Century Gothic" panose="020B0502020202020204" pitchFamily="34" charset="0"/>
                <a:cs typeface="Arial"/>
              </a:rPr>
              <a:t>iron</a:t>
            </a:r>
            <a:r>
              <a:rPr sz="1200" spc="-1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manhole</a:t>
            </a:r>
            <a:r>
              <a:rPr sz="120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covers:</a:t>
            </a:r>
            <a:r>
              <a:rPr sz="1200" dirty="0">
                <a:solidFill>
                  <a:schemeClr val="tx1"/>
                </a:solidFill>
                <a:latin typeface="Century Gothic" panose="020B0502020202020204" pitchFamily="34" charset="0"/>
                <a:cs typeface="Arial"/>
              </a:rPr>
              <a:t> it </a:t>
            </a:r>
            <a:r>
              <a:rPr sz="1200" spc="-20" dirty="0">
                <a:solidFill>
                  <a:schemeClr val="tx1"/>
                </a:solidFill>
                <a:latin typeface="Century Gothic" panose="020B0502020202020204" pitchFamily="34" charset="0"/>
                <a:cs typeface="Arial"/>
              </a:rPr>
              <a:t>is</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a:t>
            </a:r>
            <a:r>
              <a:rPr sz="1200" spc="-1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costly</a:t>
            </a:r>
            <a:r>
              <a:rPr sz="1200" spc="-2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problem</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for</a:t>
            </a:r>
            <a:r>
              <a:rPr sz="1200" spc="-5" dirty="0">
                <a:solidFill>
                  <a:schemeClr val="tx1"/>
                </a:solidFill>
                <a:latin typeface="Century Gothic" panose="020B0502020202020204" pitchFamily="34" charset="0"/>
                <a:cs typeface="Arial"/>
              </a:rPr>
              <a:t> </a:t>
            </a:r>
            <a:r>
              <a:rPr sz="1200" spc="-110" dirty="0">
                <a:solidFill>
                  <a:schemeClr val="tx1"/>
                </a:solidFill>
                <a:latin typeface="Century Gothic" panose="020B0502020202020204" pitchFamily="34" charset="0"/>
                <a:cs typeface="Arial"/>
              </a:rPr>
              <a:t>Con</a:t>
            </a:r>
            <a:r>
              <a:rPr sz="1200" spc="25" dirty="0">
                <a:solidFill>
                  <a:schemeClr val="tx1"/>
                </a:solidFill>
                <a:latin typeface="Century Gothic" panose="020B0502020202020204" pitchFamily="34" charset="0"/>
                <a:cs typeface="Arial"/>
              </a:rPr>
              <a:t> </a:t>
            </a:r>
            <a:r>
              <a:rPr sz="1200" spc="-80" dirty="0">
                <a:solidFill>
                  <a:schemeClr val="tx1"/>
                </a:solidFill>
                <a:latin typeface="Century Gothic" panose="020B0502020202020204" pitchFamily="34" charset="0"/>
                <a:cs typeface="Arial"/>
              </a:rPr>
              <a:t>Edison</a:t>
            </a:r>
            <a:r>
              <a:rPr sz="120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and</a:t>
            </a:r>
            <a:r>
              <a:rPr sz="120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others! </a:t>
            </a:r>
            <a:r>
              <a:rPr sz="1200" spc="-40" dirty="0">
                <a:solidFill>
                  <a:schemeClr val="tx1"/>
                </a:solidFill>
                <a:latin typeface="Century Gothic" panose="020B0502020202020204" pitchFamily="34" charset="0"/>
                <a:cs typeface="Arial"/>
              </a:rPr>
              <a:t>Luckily</a:t>
            </a:r>
            <a:r>
              <a:rPr sz="1200" spc="-4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there</a:t>
            </a:r>
            <a:r>
              <a:rPr sz="1200" spc="-7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are</a:t>
            </a:r>
            <a:r>
              <a:rPr sz="1200" spc="-3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collectors </a:t>
            </a:r>
            <a:r>
              <a:rPr sz="1200" dirty="0">
                <a:solidFill>
                  <a:schemeClr val="tx1"/>
                </a:solidFill>
                <a:latin typeface="Century Gothic" panose="020B0502020202020204" pitchFamily="34" charset="0"/>
                <a:cs typeface="Arial"/>
              </a:rPr>
              <a:t>like</a:t>
            </a:r>
            <a:r>
              <a:rPr sz="1200" spc="-35"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Tom</a:t>
            </a:r>
            <a:r>
              <a:rPr sz="1200" dirty="0">
                <a:solidFill>
                  <a:schemeClr val="tx1"/>
                </a:solidFill>
                <a:latin typeface="Century Gothic" panose="020B0502020202020204" pitchFamily="34" charset="0"/>
                <a:cs typeface="Arial"/>
              </a:rPr>
              <a:t> and</a:t>
            </a:r>
            <a:r>
              <a:rPr sz="1200" spc="-3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Toni</a:t>
            </a:r>
            <a:r>
              <a:rPr sz="1200" spc="-3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Cohill</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3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Amityville,</a:t>
            </a:r>
            <a:r>
              <a:rPr sz="1200" spc="-3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Long</a:t>
            </a:r>
            <a:r>
              <a:rPr sz="1200" spc="-2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Island,</a:t>
            </a:r>
            <a:r>
              <a:rPr sz="1200" spc="-3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who work</a:t>
            </a:r>
            <a:r>
              <a:rPr sz="1200" spc="-4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for</a:t>
            </a:r>
            <a:r>
              <a:rPr sz="1200" spc="-6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7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conservation</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6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this</a:t>
            </a:r>
            <a:endParaRPr sz="1200" dirty="0">
              <a:solidFill>
                <a:schemeClr val="tx1"/>
              </a:solidFill>
              <a:latin typeface="Century Gothic" panose="020B0502020202020204" pitchFamily="34" charset="0"/>
              <a:cs typeface="Arial"/>
            </a:endParaRPr>
          </a:p>
        </p:txBody>
      </p:sp>
      <p:sp>
        <p:nvSpPr>
          <p:cNvPr id="5" name="object 5"/>
          <p:cNvSpPr txBox="1"/>
          <p:nvPr/>
        </p:nvSpPr>
        <p:spPr>
          <a:xfrm>
            <a:off x="6117017" y="5673913"/>
            <a:ext cx="3259966" cy="197490"/>
          </a:xfrm>
          <a:prstGeom prst="rect">
            <a:avLst/>
          </a:prstGeom>
        </p:spPr>
        <p:txBody>
          <a:bodyPr vert="horz" wrap="square" lIns="0" tIns="12700" rIns="0" bIns="0" rtlCol="0">
            <a:spAutoFit/>
          </a:bodyPr>
          <a:lstStyle/>
          <a:p>
            <a:pPr marL="12700" algn="ctr">
              <a:lnSpc>
                <a:spcPct val="100000"/>
              </a:lnSpc>
              <a:spcBef>
                <a:spcPts val="100"/>
              </a:spcBef>
            </a:pPr>
            <a:r>
              <a:rPr sz="1200" b="1" dirty="0">
                <a:solidFill>
                  <a:schemeClr val="tx1"/>
                </a:solidFill>
                <a:latin typeface="Century Gothic" panose="020B0502020202020204" pitchFamily="34" charset="0"/>
                <a:cs typeface="Arial"/>
              </a:rPr>
              <a:t>HIDDEN ART on the STREETS of NEW YORK</a:t>
            </a:r>
          </a:p>
        </p:txBody>
      </p:sp>
      <p:sp>
        <p:nvSpPr>
          <p:cNvPr id="6" name="object 6"/>
          <p:cNvSpPr txBox="1"/>
          <p:nvPr/>
        </p:nvSpPr>
        <p:spPr>
          <a:xfrm>
            <a:off x="5053600" y="6328579"/>
            <a:ext cx="5316855" cy="382156"/>
          </a:xfrm>
          <a:prstGeom prst="rect">
            <a:avLst/>
          </a:prstGeom>
        </p:spPr>
        <p:txBody>
          <a:bodyPr vert="horz" wrap="square" lIns="0" tIns="12700" rIns="0" bIns="0" rtlCol="0">
            <a:spAutoFit/>
          </a:bodyPr>
          <a:lstStyle/>
          <a:p>
            <a:pPr marL="12700" algn="ctr">
              <a:lnSpc>
                <a:spcPct val="100000"/>
              </a:lnSpc>
              <a:spcBef>
                <a:spcPts val="100"/>
              </a:spcBef>
            </a:pPr>
            <a:r>
              <a:rPr sz="1200" spc="-25" dirty="0">
                <a:solidFill>
                  <a:schemeClr val="tx1"/>
                </a:solidFill>
                <a:latin typeface="Century Gothic" panose="020B0502020202020204" pitchFamily="34" charset="0"/>
                <a:cs typeface="Arial"/>
              </a:rPr>
              <a:t>Approximately</a:t>
            </a:r>
            <a:r>
              <a:rPr sz="1200" spc="44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400</a:t>
            </a:r>
            <a:r>
              <a:rPr sz="1200" spc="4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photos</a:t>
            </a:r>
            <a:r>
              <a:rPr sz="1200" spc="43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44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manhole</a:t>
            </a:r>
            <a:r>
              <a:rPr sz="1200" spc="44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covers</a:t>
            </a:r>
            <a:r>
              <a:rPr sz="1200" spc="44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are</a:t>
            </a:r>
            <a:r>
              <a:rPr sz="1200" spc="42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presented</a:t>
            </a:r>
            <a:r>
              <a:rPr sz="1200" spc="43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434"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44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2003</a:t>
            </a:r>
            <a:r>
              <a:rPr lang="de-DE" sz="120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documentary</a:t>
            </a:r>
            <a:r>
              <a:rPr sz="1200" spc="-6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work</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2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Diana</a:t>
            </a:r>
            <a:r>
              <a:rPr sz="1200" spc="-3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Stuart</a:t>
            </a:r>
            <a:r>
              <a:rPr sz="1200" spc="-6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who</a:t>
            </a:r>
            <a:r>
              <a:rPr sz="1200" spc="-1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published</a:t>
            </a:r>
            <a:endParaRPr sz="1200" dirty="0">
              <a:solidFill>
                <a:schemeClr val="tx1"/>
              </a:solidFill>
              <a:latin typeface="Century Gothic" panose="020B0502020202020204" pitchFamily="34" charset="0"/>
              <a:cs typeface="Arial"/>
            </a:endParaRPr>
          </a:p>
        </p:txBody>
      </p:sp>
      <p:sp>
        <p:nvSpPr>
          <p:cNvPr id="7" name="object 7"/>
          <p:cNvSpPr txBox="1"/>
          <p:nvPr/>
        </p:nvSpPr>
        <p:spPr>
          <a:xfrm>
            <a:off x="4965700" y="6766316"/>
            <a:ext cx="5311837" cy="197490"/>
          </a:xfrm>
          <a:prstGeom prst="rect">
            <a:avLst/>
          </a:prstGeom>
        </p:spPr>
        <p:txBody>
          <a:bodyPr vert="horz" wrap="square" lIns="0" tIns="12700" rIns="0" bIns="0" rtlCol="0">
            <a:spAutoFit/>
          </a:bodyPr>
          <a:lstStyle/>
          <a:p>
            <a:pPr marL="12700" algn="ctr">
              <a:lnSpc>
                <a:spcPct val="100000"/>
              </a:lnSpc>
              <a:spcBef>
                <a:spcPts val="100"/>
              </a:spcBef>
            </a:pPr>
            <a:r>
              <a:rPr sz="1200" b="1" dirty="0">
                <a:solidFill>
                  <a:schemeClr val="tx1"/>
                </a:solidFill>
                <a:latin typeface="Century Gothic" panose="020B0502020202020204" pitchFamily="34" charset="0"/>
                <a:cs typeface="Arial"/>
              </a:rPr>
              <a:t>»DESIGNS UNDERFOOT – The Art of Manhole Covers in New York City«.</a:t>
            </a:r>
            <a:endParaRPr sz="1200" dirty="0">
              <a:solidFill>
                <a:schemeClr val="tx1"/>
              </a:solidFill>
              <a:latin typeface="Century Gothic" panose="020B0502020202020204" pitchFamily="34" charset="0"/>
              <a:cs typeface="Arial"/>
            </a:endParaRPr>
          </a:p>
        </p:txBody>
      </p:sp>
      <p:sp>
        <p:nvSpPr>
          <p:cNvPr id="8" name="object 8"/>
          <p:cNvSpPr txBox="1"/>
          <p:nvPr/>
        </p:nvSpPr>
        <p:spPr>
          <a:xfrm>
            <a:off x="667575" y="5580837"/>
            <a:ext cx="3960495" cy="596317"/>
          </a:xfrm>
          <a:prstGeom prst="rect">
            <a:avLst/>
          </a:prstGeom>
          <a:solidFill>
            <a:schemeClr val="bg1">
              <a:lumMod val="95000"/>
            </a:schemeClr>
          </a:solidFill>
        </p:spPr>
        <p:txBody>
          <a:bodyPr vert="horz" wrap="square" lIns="0" tIns="41910" rIns="0" bIns="0" rtlCol="0">
            <a:spAutoFit/>
          </a:bodyPr>
          <a:lstStyle/>
          <a:p>
            <a:pPr marL="126364" marR="120650" algn="ctr">
              <a:lnSpc>
                <a:spcPct val="100000"/>
              </a:lnSpc>
              <a:spcBef>
                <a:spcPts val="330"/>
              </a:spcBef>
            </a:pPr>
            <a:r>
              <a:rPr sz="1200" dirty="0">
                <a:latin typeface="Century Gothic" panose="020B0502020202020204" pitchFamily="34" charset="0"/>
                <a:cs typeface="Arial"/>
              </a:rPr>
              <a:t>Preview of a sample of U</a:t>
            </a:r>
            <a:r>
              <a:rPr sz="950" dirty="0">
                <a:latin typeface="Century Gothic" panose="020B0502020202020204" pitchFamily="34" charset="0"/>
                <a:cs typeface="Arial"/>
              </a:rPr>
              <a:t>NDERFOOT IN </a:t>
            </a:r>
            <a:r>
              <a:rPr sz="1200" dirty="0">
                <a:latin typeface="Century Gothic" panose="020B0502020202020204" pitchFamily="34" charset="0"/>
                <a:cs typeface="Arial"/>
              </a:rPr>
              <a:t>N</a:t>
            </a:r>
            <a:r>
              <a:rPr sz="950" dirty="0">
                <a:latin typeface="Century Gothic" panose="020B0502020202020204" pitchFamily="34" charset="0"/>
                <a:cs typeface="Arial"/>
              </a:rPr>
              <a:t>EW </a:t>
            </a:r>
            <a:r>
              <a:rPr sz="1200" dirty="0">
                <a:latin typeface="Century Gothic" panose="020B0502020202020204" pitchFamily="34" charset="0"/>
                <a:cs typeface="Arial"/>
              </a:rPr>
              <a:t>Y</a:t>
            </a:r>
            <a:r>
              <a:rPr sz="950" dirty="0">
                <a:latin typeface="Century Gothic" panose="020B0502020202020204" pitchFamily="34" charset="0"/>
                <a:cs typeface="Arial"/>
              </a:rPr>
              <a:t>ORK </a:t>
            </a:r>
            <a:r>
              <a:rPr sz="1200" dirty="0">
                <a:latin typeface="Century Gothic" panose="020B0502020202020204" pitchFamily="34" charset="0"/>
                <a:cs typeface="Arial"/>
              </a:rPr>
              <a:t>displayed in Berlin at GSG in December 2001 in cooperation with International Design Center</a:t>
            </a:r>
          </a:p>
        </p:txBody>
      </p:sp>
      <p:sp>
        <p:nvSpPr>
          <p:cNvPr id="12" name="TextBox 11">
            <a:extLst>
              <a:ext uri="{FF2B5EF4-FFF2-40B4-BE49-F238E27FC236}">
                <a16:creationId xmlns:a16="http://schemas.microsoft.com/office/drawing/2014/main" id="{00CB355D-A904-254C-BC29-DD403831E5CA}"/>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3" name="TextBox 12">
            <a:extLst>
              <a:ext uri="{FF2B5EF4-FFF2-40B4-BE49-F238E27FC236}">
                <a16:creationId xmlns:a16="http://schemas.microsoft.com/office/drawing/2014/main" id="{C8A4A7A7-0457-CA44-84F1-4D635D1595D4}"/>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4" name="Slide Number Placeholder 14">
            <a:extLst>
              <a:ext uri="{FF2B5EF4-FFF2-40B4-BE49-F238E27FC236}">
                <a16:creationId xmlns:a16="http://schemas.microsoft.com/office/drawing/2014/main" id="{FD6963D2-2D5B-6B40-A720-277E487B6AC4}"/>
              </a:ext>
            </a:extLst>
          </p:cNvPr>
          <p:cNvSpPr txBox="1">
            <a:spLocks/>
          </p:cNvSpPr>
          <p:nvPr/>
        </p:nvSpPr>
        <p:spPr>
          <a:xfrm>
            <a:off x="314431" y="317813"/>
            <a:ext cx="304800"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5</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900" y="2092452"/>
            <a:ext cx="4541520" cy="4507991"/>
          </a:xfrm>
          <a:prstGeom prst="rect">
            <a:avLst/>
          </a:prstGeom>
        </p:spPr>
      </p:pic>
      <p:sp>
        <p:nvSpPr>
          <p:cNvPr id="4" name="object 4"/>
          <p:cNvSpPr txBox="1"/>
          <p:nvPr/>
        </p:nvSpPr>
        <p:spPr>
          <a:xfrm>
            <a:off x="4660900" y="2028825"/>
            <a:ext cx="5892800" cy="5650265"/>
          </a:xfrm>
          <a:prstGeom prst="rect">
            <a:avLst/>
          </a:prstGeom>
        </p:spPr>
        <p:txBody>
          <a:bodyPr vert="horz" wrap="square" lIns="0" tIns="134620" rIns="0" bIns="0" rtlCol="0">
            <a:spAutoFit/>
          </a:bodyPr>
          <a:lstStyle/>
          <a:p>
            <a:pPr marL="38100" algn="just">
              <a:lnSpc>
                <a:spcPct val="100000"/>
              </a:lnSpc>
              <a:spcBef>
                <a:spcPts val="1060"/>
              </a:spcBef>
            </a:pPr>
            <a:r>
              <a:rPr sz="1600" b="1" dirty="0">
                <a:solidFill>
                  <a:schemeClr val="tx1"/>
                </a:solidFill>
                <a:latin typeface="Century Gothic" panose="020B0502020202020204" pitchFamily="34" charset="0"/>
                <a:cs typeface="Arial"/>
              </a:rPr>
              <a:t>My Brief History of the Project</a:t>
            </a:r>
            <a:endParaRPr sz="1600" dirty="0">
              <a:solidFill>
                <a:schemeClr val="tx1"/>
              </a:solidFill>
              <a:latin typeface="Century Gothic" panose="020B0502020202020204" pitchFamily="34" charset="0"/>
              <a:cs typeface="Arial"/>
            </a:endParaRPr>
          </a:p>
          <a:p>
            <a:pPr marL="38100" marR="30480" algn="just">
              <a:lnSpc>
                <a:spcPct val="100000"/>
              </a:lnSpc>
              <a:spcBef>
                <a:spcPts val="720"/>
              </a:spcBef>
            </a:pPr>
            <a:r>
              <a:rPr sz="1200" dirty="0">
                <a:solidFill>
                  <a:schemeClr val="tx1"/>
                </a:solidFill>
                <a:latin typeface="Century Gothic" panose="020B0502020202020204" pitchFamily="34" charset="0"/>
                <a:cs typeface="Arial"/>
              </a:rPr>
              <a:t>Beginning in 1999, I was in New York numerous times offering my Berlin Studio in exchange for accommodation and a studio in this fabulous city. With the question of transport as well as art and cultural impact in mind, I searched for a »suitcase-project« and was fascinated by the iron covers of the gateways to the city beneath the City of New York.</a:t>
            </a:r>
          </a:p>
          <a:p>
            <a:pPr marL="38100" marR="31115" algn="just">
              <a:lnSpc>
                <a:spcPct val="100000"/>
              </a:lnSpc>
              <a:spcBef>
                <a:spcPts val="509"/>
              </a:spcBef>
            </a:pPr>
            <a:r>
              <a:rPr sz="1200" dirty="0">
                <a:solidFill>
                  <a:schemeClr val="tx1"/>
                </a:solidFill>
                <a:latin typeface="Century Gothic" panose="020B0502020202020204" pitchFamily="34" charset="0"/>
                <a:cs typeface="Arial"/>
              </a:rPr>
              <a:t>Through July 2000, I</a:t>
            </a:r>
            <a:r>
              <a:rPr lang="de-DE" sz="120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produced 50 different rubbings of covers using graphite on cotton. Later, in the studio I upgraded them graphically with graphite. Initially this was purely an artist‘s project. After some research at the Public Library on 42</a:t>
            </a:r>
            <a:r>
              <a:rPr sz="1200" baseline="24305" dirty="0">
                <a:solidFill>
                  <a:schemeClr val="tx1"/>
                </a:solidFill>
                <a:latin typeface="Century Gothic" panose="020B0502020202020204" pitchFamily="34" charset="0"/>
                <a:cs typeface="Arial"/>
              </a:rPr>
              <a:t>nd </a:t>
            </a:r>
            <a:r>
              <a:rPr sz="1200" dirty="0">
                <a:solidFill>
                  <a:schemeClr val="tx1"/>
                </a:solidFill>
                <a:latin typeface="Century Gothic" panose="020B0502020202020204" pitchFamily="34" charset="0"/>
                <a:cs typeface="Arial"/>
              </a:rPr>
              <a:t>Street and learning about the development of the City, its infrastructure and the history of the iron foundries, I decided to create as complete a documentation as possible.</a:t>
            </a:r>
          </a:p>
          <a:p>
            <a:pPr marL="38100" marR="30480" algn="just">
              <a:lnSpc>
                <a:spcPct val="100000"/>
              </a:lnSpc>
              <a:spcBef>
                <a:spcPts val="490"/>
              </a:spcBef>
            </a:pPr>
            <a:r>
              <a:rPr sz="1200" dirty="0">
                <a:solidFill>
                  <a:schemeClr val="tx1"/>
                </a:solidFill>
                <a:latin typeface="Century Gothic" panose="020B0502020202020204" pitchFamily="34" charset="0"/>
                <a:cs typeface="Arial"/>
              </a:rPr>
              <a:t>Cultural Attaché Ludwig Linden at the German House in New York got me into contact with Peter Simmons and Claire Bell, then curator and director of the Museum of the City of New York who at the end of 2000 wrote to me a letter indicating that the museum considered holding an exhibition of my manhole cover art work. This brought my project to a new level – it now became my project for the City of New York. A heartfelt connection blossomed!</a:t>
            </a:r>
          </a:p>
          <a:p>
            <a:pPr marL="38100" marR="30480" algn="just">
              <a:lnSpc>
                <a:spcPct val="100000"/>
              </a:lnSpc>
              <a:spcBef>
                <a:spcPts val="505"/>
              </a:spcBef>
            </a:pPr>
            <a:r>
              <a:rPr sz="1200" dirty="0">
                <a:solidFill>
                  <a:schemeClr val="tx1"/>
                </a:solidFill>
                <a:latin typeface="Century Gothic" panose="020B0502020202020204" pitchFamily="34" charset="0"/>
                <a:cs typeface="Arial"/>
              </a:rPr>
              <a:t>I was able to contact the CEO of Con Edison. Many of my rubbings are Con Edison manhole covers, including the Millennium Cover designed by Karim Rashid in 1999 and one designed by Lawrence Weiner. Con Edison was prepared to finance the exhibition. There was an exhibition slot in Autumn 2006 – but then the management of Con Edison changed and sponsorship was delayed indefinitely!</a:t>
            </a:r>
            <a:r>
              <a:rPr lang="de-DE" sz="120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After recovering from this blow, I‘m now revitalizing the project: out of 120 works of art and history 70 are framed and 50 selected and ready for New York … and ready to broaden the way pedestrians see beauty in the City forever …</a:t>
            </a:r>
          </a:p>
        </p:txBody>
      </p:sp>
      <p:sp>
        <p:nvSpPr>
          <p:cNvPr id="5" name="object 5"/>
          <p:cNvSpPr txBox="1"/>
          <p:nvPr/>
        </p:nvSpPr>
        <p:spPr>
          <a:xfrm>
            <a:off x="388302" y="6493042"/>
            <a:ext cx="3942715" cy="214802"/>
          </a:xfrm>
          <a:prstGeom prst="rect">
            <a:avLst/>
          </a:prstGeom>
          <a:solidFill>
            <a:schemeClr val="bg1">
              <a:lumMod val="95000"/>
            </a:schemeClr>
          </a:solidFill>
        </p:spPr>
        <p:txBody>
          <a:bodyPr vert="horz" wrap="square" lIns="0" tIns="29845" rIns="0" bIns="0" rtlCol="0">
            <a:spAutoFit/>
          </a:bodyPr>
          <a:lstStyle/>
          <a:p>
            <a:pPr algn="ctr">
              <a:lnSpc>
                <a:spcPct val="100000"/>
              </a:lnSpc>
              <a:spcBef>
                <a:spcPts val="235"/>
              </a:spcBef>
            </a:pPr>
            <a:r>
              <a:rPr sz="1200" dirty="0">
                <a:latin typeface="Century Gothic" panose="020B0502020202020204" pitchFamily="34" charset="0"/>
                <a:cs typeface="Arial Narrow"/>
              </a:rPr>
              <a:t>Gisla Burkhardt working on Broadway in May 2000</a:t>
            </a:r>
          </a:p>
        </p:txBody>
      </p:sp>
      <p:sp>
        <p:nvSpPr>
          <p:cNvPr id="8" name="TextBox 7">
            <a:extLst>
              <a:ext uri="{FF2B5EF4-FFF2-40B4-BE49-F238E27FC236}">
                <a16:creationId xmlns:a16="http://schemas.microsoft.com/office/drawing/2014/main" id="{9F0E5616-FEF8-9140-A25B-BF6C4B4E6721}"/>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0" name="TextBox 9">
            <a:extLst>
              <a:ext uri="{FF2B5EF4-FFF2-40B4-BE49-F238E27FC236}">
                <a16:creationId xmlns:a16="http://schemas.microsoft.com/office/drawing/2014/main" id="{F4C2CA39-5089-834F-8799-CFEE209E6796}"/>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1" name="Slide Number Placeholder 14">
            <a:extLst>
              <a:ext uri="{FF2B5EF4-FFF2-40B4-BE49-F238E27FC236}">
                <a16:creationId xmlns:a16="http://schemas.microsoft.com/office/drawing/2014/main" id="{46CCAFD1-72F4-DF44-8AC1-FABA5214C73F}"/>
              </a:ext>
            </a:extLst>
          </p:cNvPr>
          <p:cNvSpPr txBox="1">
            <a:spLocks/>
          </p:cNvSpPr>
          <p:nvPr/>
        </p:nvSpPr>
        <p:spPr>
          <a:xfrm>
            <a:off x="314431" y="317813"/>
            <a:ext cx="304800"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6</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37099" y="2216276"/>
            <a:ext cx="5789423" cy="5152051"/>
          </a:xfrm>
          <a:prstGeom prst="rect">
            <a:avLst/>
          </a:prstGeom>
        </p:spPr>
        <p:txBody>
          <a:bodyPr vert="horz" wrap="square" lIns="0" tIns="12065" rIns="0" bIns="0" rtlCol="0">
            <a:spAutoFit/>
          </a:bodyPr>
          <a:lstStyle/>
          <a:p>
            <a:pPr marL="12700" algn="just">
              <a:lnSpc>
                <a:spcPct val="100000"/>
              </a:lnSpc>
              <a:spcBef>
                <a:spcPts val="95"/>
              </a:spcBef>
            </a:pPr>
            <a:r>
              <a:rPr sz="1600" b="1" dirty="0">
                <a:solidFill>
                  <a:schemeClr val="tx1"/>
                </a:solidFill>
                <a:latin typeface="Century Gothic" panose="020B0502020202020204" pitchFamily="34" charset="0"/>
                <a:cs typeface="Arial"/>
              </a:rPr>
              <a:t>More about the Project</a:t>
            </a:r>
            <a:endParaRPr sz="1600" dirty="0">
              <a:solidFill>
                <a:schemeClr val="tx1"/>
              </a:solidFill>
              <a:latin typeface="Century Gothic" panose="020B0502020202020204" pitchFamily="34" charset="0"/>
              <a:cs typeface="Arial"/>
            </a:endParaRPr>
          </a:p>
          <a:p>
            <a:pPr marL="12700" marR="5080" algn="just">
              <a:lnSpc>
                <a:spcPct val="100000"/>
              </a:lnSpc>
              <a:spcBef>
                <a:spcPts val="1230"/>
              </a:spcBef>
            </a:pPr>
            <a:r>
              <a:rPr sz="1200" dirty="0">
                <a:solidFill>
                  <a:schemeClr val="tx1"/>
                </a:solidFill>
                <a:latin typeface="Century Gothic" panose="020B0502020202020204" pitchFamily="34" charset="0"/>
                <a:cs typeface="Arial"/>
              </a:rPr>
              <a:t>The graphically enhanced rubbings of the coal chute, manhole and handhole covers were made on strong cotton which I bought on Broadway. The rubbings make details visible that would normally not be noticed by passersby. Those marks of time (wear and tear) have fascinated me and inspired me to create more than 120 different manhole cover rubbings in New York with the covers dated between 1830 and 2000. 70 of them are framed and catalogued with details as to their location and time of creation (where ever possible).</a:t>
            </a:r>
          </a:p>
          <a:p>
            <a:pPr marL="12700" marR="5080" algn="just">
              <a:lnSpc>
                <a:spcPct val="100000"/>
              </a:lnSpc>
              <a:spcBef>
                <a:spcPts val="1200"/>
              </a:spcBef>
            </a:pPr>
            <a:r>
              <a:rPr sz="1200" dirty="0">
                <a:solidFill>
                  <a:schemeClr val="tx1"/>
                </a:solidFill>
                <a:latin typeface="Century Gothic" panose="020B0502020202020204" pitchFamily="34" charset="0"/>
                <a:cs typeface="Arial"/>
              </a:rPr>
              <a:t>The size of the framed pieces are between 80 cm by 80 cm (approximately 32 inches) and 120 cm by 120 cm ( approximately 48 inches).</a:t>
            </a:r>
          </a:p>
          <a:p>
            <a:pPr marL="12700" algn="just">
              <a:lnSpc>
                <a:spcPct val="100000"/>
              </a:lnSpc>
              <a:spcBef>
                <a:spcPts val="1175"/>
              </a:spcBef>
            </a:pPr>
            <a:r>
              <a:rPr sz="1600" b="1" dirty="0">
                <a:solidFill>
                  <a:schemeClr val="tx1"/>
                </a:solidFill>
                <a:latin typeface="Century Gothic" panose="020B0502020202020204" pitchFamily="34" charset="0"/>
                <a:cs typeface="Arial"/>
              </a:rPr>
              <a:t>How it all began…</a:t>
            </a:r>
            <a:endParaRPr sz="1600" dirty="0">
              <a:solidFill>
                <a:schemeClr val="tx1"/>
              </a:solidFill>
              <a:latin typeface="Century Gothic" panose="020B0502020202020204" pitchFamily="34" charset="0"/>
              <a:cs typeface="Arial"/>
            </a:endParaRPr>
          </a:p>
          <a:p>
            <a:pPr marL="12700" marR="5080" algn="just">
              <a:lnSpc>
                <a:spcPct val="100000"/>
              </a:lnSpc>
              <a:spcBef>
                <a:spcPts val="1230"/>
              </a:spcBef>
            </a:pPr>
            <a:r>
              <a:rPr sz="1200" dirty="0">
                <a:solidFill>
                  <a:schemeClr val="tx1"/>
                </a:solidFill>
                <a:latin typeface="Century Gothic" panose="020B0502020202020204" pitchFamily="34" charset="0"/>
                <a:cs typeface="Arial"/>
              </a:rPr>
              <a:t>Visitors to New York normally walk the streets with their eyes looking up in the air to see the famous skyscrapers. I did the opposite – looking downward – and I found man- hole, coal chute, and handhole covers with diameters ranging from 20 cm (appr. 8 inches) to 120 cm (approx. 48 inches) all made in cast iron. I discovered them first in the former iron foundry district, Soho, and then couldn‘t stop looking for them.</a:t>
            </a:r>
          </a:p>
          <a:p>
            <a:pPr marL="12700" marR="5080" algn="just">
              <a:lnSpc>
                <a:spcPct val="100000"/>
              </a:lnSpc>
              <a:spcBef>
                <a:spcPts val="1200"/>
              </a:spcBef>
            </a:pPr>
            <a:r>
              <a:rPr sz="1200" dirty="0">
                <a:solidFill>
                  <a:schemeClr val="tx1"/>
                </a:solidFill>
                <a:latin typeface="Century Gothic" panose="020B0502020202020204" pitchFamily="34" charset="0"/>
                <a:cs typeface="Arial"/>
              </a:rPr>
              <a:t>They are relicts of history of the City as it grew, living art displaying its historical and economical development. Some covers display the name of the iron foundry or the name of the company using the chute below and denote the verve and character of the times. Their decorative elements not only help dating them but add to the innovative atmosphere that is New York.</a:t>
            </a:r>
          </a:p>
        </p:txBody>
      </p:sp>
      <p:pic>
        <p:nvPicPr>
          <p:cNvPr id="5" name="object 5"/>
          <p:cNvPicPr/>
          <p:nvPr/>
        </p:nvPicPr>
        <p:blipFill>
          <a:blip r:embed="rId2" cstate="print"/>
          <a:stretch>
            <a:fillRect/>
          </a:stretch>
        </p:blipFill>
        <p:spPr>
          <a:xfrm>
            <a:off x="165100" y="2219296"/>
            <a:ext cx="4384548" cy="3442716"/>
          </a:xfrm>
          <a:prstGeom prst="rect">
            <a:avLst/>
          </a:prstGeom>
        </p:spPr>
      </p:pic>
      <p:sp>
        <p:nvSpPr>
          <p:cNvPr id="7" name="TextBox 6">
            <a:extLst>
              <a:ext uri="{FF2B5EF4-FFF2-40B4-BE49-F238E27FC236}">
                <a16:creationId xmlns:a16="http://schemas.microsoft.com/office/drawing/2014/main" id="{92D6482A-CCD1-3842-B53E-50A68EFCAD68}"/>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9" name="TextBox 8">
            <a:extLst>
              <a:ext uri="{FF2B5EF4-FFF2-40B4-BE49-F238E27FC236}">
                <a16:creationId xmlns:a16="http://schemas.microsoft.com/office/drawing/2014/main" id="{C88E9D48-93F0-2342-A52D-D72E459566A4}"/>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0" name="Slide Number Placeholder 14">
            <a:extLst>
              <a:ext uri="{FF2B5EF4-FFF2-40B4-BE49-F238E27FC236}">
                <a16:creationId xmlns:a16="http://schemas.microsoft.com/office/drawing/2014/main" id="{5E0C71A9-EE9A-E94A-9165-1E4CF41FDC7D}"/>
              </a:ext>
            </a:extLst>
          </p:cNvPr>
          <p:cNvSpPr txBox="1">
            <a:spLocks/>
          </p:cNvSpPr>
          <p:nvPr/>
        </p:nvSpPr>
        <p:spPr>
          <a:xfrm>
            <a:off x="314431" y="317813"/>
            <a:ext cx="304800"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7</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41900" y="2039708"/>
            <a:ext cx="5418455" cy="4916731"/>
          </a:xfrm>
          <a:prstGeom prst="rect">
            <a:avLst/>
          </a:prstGeom>
        </p:spPr>
        <p:txBody>
          <a:bodyPr vert="horz" wrap="square" lIns="0" tIns="118110" rIns="0" bIns="0" rtlCol="0">
            <a:spAutoFit/>
          </a:bodyPr>
          <a:lstStyle/>
          <a:p>
            <a:pPr marL="76200">
              <a:lnSpc>
                <a:spcPct val="100000"/>
              </a:lnSpc>
              <a:spcBef>
                <a:spcPts val="930"/>
              </a:spcBef>
            </a:pPr>
            <a:r>
              <a:rPr sz="1600" b="1" dirty="0">
                <a:solidFill>
                  <a:schemeClr val="tx1"/>
                </a:solidFill>
                <a:latin typeface="Century Gothic" panose="020B0502020202020204" pitchFamily="34" charset="0"/>
                <a:cs typeface="Arial"/>
              </a:rPr>
              <a:t>90 Henry Street, Brooklyn Heights</a:t>
            </a:r>
          </a:p>
          <a:p>
            <a:pPr marL="76200" marR="2818130">
              <a:lnSpc>
                <a:spcPct val="141700"/>
              </a:lnSpc>
              <a:spcBef>
                <a:spcPts val="30"/>
              </a:spcBef>
            </a:pPr>
            <a:r>
              <a:rPr sz="1200" b="1" dirty="0">
                <a:solidFill>
                  <a:schemeClr val="tx1"/>
                </a:solidFill>
                <a:latin typeface="Century Gothic" panose="020B0502020202020204" pitchFamily="34" charset="0"/>
                <a:cs typeface="Arial"/>
              </a:rPr>
              <a:t>19</a:t>
            </a:r>
            <a:r>
              <a:rPr sz="1200" b="1" baseline="24305" dirty="0">
                <a:solidFill>
                  <a:schemeClr val="tx1"/>
                </a:solidFill>
                <a:latin typeface="Century Gothic" panose="020B0502020202020204" pitchFamily="34" charset="0"/>
                <a:cs typeface="Arial"/>
              </a:rPr>
              <a:t>th </a:t>
            </a:r>
            <a:r>
              <a:rPr sz="1200" b="1" dirty="0">
                <a:solidFill>
                  <a:schemeClr val="tx1"/>
                </a:solidFill>
                <a:latin typeface="Century Gothic" panose="020B0502020202020204" pitchFamily="34" charset="0"/>
                <a:cs typeface="Arial"/>
              </a:rPr>
              <a:t>February 1856; J.B. Cornell‘s Patent Rubbing made June 2000</a:t>
            </a:r>
          </a:p>
          <a:p>
            <a:pPr>
              <a:lnSpc>
                <a:spcPct val="100000"/>
              </a:lnSpc>
            </a:pP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76200" marR="43180" algn="just">
              <a:lnSpc>
                <a:spcPct val="100000"/>
              </a:lnSpc>
            </a:pPr>
            <a:r>
              <a:rPr sz="1200" dirty="0">
                <a:solidFill>
                  <a:schemeClr val="tx1"/>
                </a:solidFill>
                <a:latin typeface="Century Gothic" panose="020B0502020202020204" pitchFamily="34" charset="0"/>
                <a:cs typeface="Arial"/>
              </a:rPr>
              <a:t>While shopping in a small drugstore in Brooklyn, by accident I found an unusual cover hidden under crates of fruit within the entrance of the shop. There are many covers with 8 corners, but this was the first six-sided one I found. The shopkeeper was helpful and moved the crates so that I was able to access the cover for the rubbing. He was visibly proud when he learned that this was an exceptional discovery.</a:t>
            </a:r>
          </a:p>
          <a:p>
            <a:pPr marL="76200" marR="43180" algn="just">
              <a:lnSpc>
                <a:spcPct val="100000"/>
              </a:lnSpc>
              <a:spcBef>
                <a:spcPts val="1200"/>
              </a:spcBef>
            </a:pPr>
            <a:r>
              <a:rPr sz="1200" dirty="0">
                <a:solidFill>
                  <a:schemeClr val="tx1"/>
                </a:solidFill>
                <a:latin typeface="Century Gothic" panose="020B0502020202020204" pitchFamily="34" charset="0"/>
                <a:cs typeface="Arial"/>
              </a:rPr>
              <a:t>Later, I learned that even Diana Stuart, the queen of manhole covers in New York, had not known of six-sided covers that old. She thinks this one is today the only one that is still in existence. Also, she argues, it is one of the last ones produced by J.B. Cornells in their foundry at 143 Centre Street. Since Cornell’s business expanded they built a new and larger foundry on W 26 St. at the riverfront in 1859. Cornell’s is famous for their iron decorations: the balcony dated 1884 of Chelsea Hotel on W. 23 St., the fence enclosing the Worth Monument dated 1857 at Madison Square and other beautiful 19th century ironworks.</a:t>
            </a:r>
          </a:p>
          <a:p>
            <a:pPr marL="76200" algn="just">
              <a:lnSpc>
                <a:spcPct val="100000"/>
              </a:lnSpc>
              <a:spcBef>
                <a:spcPts val="1205"/>
              </a:spcBef>
            </a:pPr>
            <a:r>
              <a:rPr sz="1200" dirty="0">
                <a:solidFill>
                  <a:schemeClr val="tx1"/>
                </a:solidFill>
                <a:latin typeface="Century Gothic" panose="020B0502020202020204" pitchFamily="34" charset="0"/>
                <a:cs typeface="Arial"/>
              </a:rPr>
              <a:t>The extraordinary hexagonal iron cover is beautifully designed with matching</a:t>
            </a:r>
          </a:p>
          <a:p>
            <a:pPr marL="76200" algn="just">
              <a:lnSpc>
                <a:spcPct val="100000"/>
              </a:lnSpc>
            </a:pPr>
            <a:r>
              <a:rPr sz="1200" dirty="0">
                <a:solidFill>
                  <a:schemeClr val="tx1"/>
                </a:solidFill>
                <a:latin typeface="Century Gothic" panose="020B0502020202020204" pitchFamily="34" charset="0"/>
                <a:cs typeface="Arial"/>
              </a:rPr>
              <a:t>hexagonal vaulted insets completing its interior.</a:t>
            </a:r>
          </a:p>
        </p:txBody>
      </p:sp>
      <p:grpSp>
        <p:nvGrpSpPr>
          <p:cNvPr id="3" name="object 3"/>
          <p:cNvGrpSpPr/>
          <p:nvPr/>
        </p:nvGrpSpPr>
        <p:grpSpPr>
          <a:xfrm>
            <a:off x="450151" y="1368983"/>
            <a:ext cx="4397502" cy="5868035"/>
            <a:chOff x="450151" y="1368983"/>
            <a:chExt cx="4397502" cy="5868035"/>
          </a:xfrm>
        </p:grpSpPr>
        <p:pic>
          <p:nvPicPr>
            <p:cNvPr id="5" name="object 5"/>
            <p:cNvPicPr/>
            <p:nvPr/>
          </p:nvPicPr>
          <p:blipFill>
            <a:blip r:embed="rId2" cstate="print"/>
            <a:stretch>
              <a:fillRect/>
            </a:stretch>
          </p:blipFill>
          <p:spPr>
            <a:xfrm>
              <a:off x="450151" y="1368983"/>
              <a:ext cx="4397502" cy="5868035"/>
            </a:xfrm>
            <a:prstGeom prst="rect">
              <a:avLst/>
            </a:prstGeom>
          </p:spPr>
        </p:pic>
        <p:pic>
          <p:nvPicPr>
            <p:cNvPr id="6" name="object 6"/>
            <p:cNvPicPr/>
            <p:nvPr/>
          </p:nvPicPr>
          <p:blipFill>
            <a:blip r:embed="rId3" cstate="print"/>
            <a:stretch>
              <a:fillRect/>
            </a:stretch>
          </p:blipFill>
          <p:spPr>
            <a:xfrm>
              <a:off x="741426" y="1692783"/>
              <a:ext cx="3222752" cy="3240023"/>
            </a:xfrm>
            <a:prstGeom prst="rect">
              <a:avLst/>
            </a:prstGeom>
          </p:spPr>
        </p:pic>
        <p:sp>
          <p:nvSpPr>
            <p:cNvPr id="7" name="object 7"/>
            <p:cNvSpPr/>
            <p:nvPr/>
          </p:nvSpPr>
          <p:spPr>
            <a:xfrm>
              <a:off x="3239008" y="6117971"/>
              <a:ext cx="403860" cy="366395"/>
            </a:xfrm>
            <a:custGeom>
              <a:avLst/>
              <a:gdLst/>
              <a:ahLst/>
              <a:cxnLst/>
              <a:rect l="l" t="t" r="r" b="b"/>
              <a:pathLst>
                <a:path w="403860" h="366395">
                  <a:moveTo>
                    <a:pt x="152019" y="0"/>
                  </a:moveTo>
                  <a:lnTo>
                    <a:pt x="204596" y="73025"/>
                  </a:lnTo>
                  <a:lnTo>
                    <a:pt x="0" y="220205"/>
                  </a:lnTo>
                  <a:lnTo>
                    <a:pt x="105029" y="366369"/>
                  </a:lnTo>
                  <a:lnTo>
                    <a:pt x="309753" y="219240"/>
                  </a:lnTo>
                  <a:lnTo>
                    <a:pt x="362204" y="292315"/>
                  </a:lnTo>
                  <a:lnTo>
                    <a:pt x="403352" y="41021"/>
                  </a:lnTo>
                  <a:lnTo>
                    <a:pt x="152019" y="0"/>
                  </a:lnTo>
                  <a:close/>
                </a:path>
              </a:pathLst>
            </a:custGeom>
            <a:solidFill>
              <a:srgbClr val="FF0000"/>
            </a:solidFill>
          </p:spPr>
          <p:txBody>
            <a:bodyPr wrap="square" lIns="0" tIns="0" rIns="0" bIns="0" rtlCol="0"/>
            <a:lstStyle/>
            <a:p>
              <a:endParaRPr/>
            </a:p>
          </p:txBody>
        </p:sp>
      </p:grpSp>
      <p:sp>
        <p:nvSpPr>
          <p:cNvPr id="10" name="TextBox 9">
            <a:extLst>
              <a:ext uri="{FF2B5EF4-FFF2-40B4-BE49-F238E27FC236}">
                <a16:creationId xmlns:a16="http://schemas.microsoft.com/office/drawing/2014/main" id="{898271A6-A10A-7046-A463-6700066EAA03}"/>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8F07ACE3-B906-D740-8AC9-797DFEA2C5EA}"/>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749A1F15-B928-5540-9299-D79AE5429EFE}"/>
              </a:ext>
            </a:extLst>
          </p:cNvPr>
          <p:cNvSpPr txBox="1">
            <a:spLocks/>
          </p:cNvSpPr>
          <p:nvPr/>
        </p:nvSpPr>
        <p:spPr>
          <a:xfrm>
            <a:off x="314431" y="317813"/>
            <a:ext cx="304800"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8</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41900" y="2039708"/>
            <a:ext cx="5484875" cy="5623334"/>
          </a:xfrm>
          <a:prstGeom prst="rect">
            <a:avLst/>
          </a:prstGeom>
        </p:spPr>
        <p:txBody>
          <a:bodyPr vert="horz" wrap="square" lIns="0" tIns="118110" rIns="0" bIns="0" rtlCol="0">
            <a:spAutoFit/>
          </a:bodyPr>
          <a:lstStyle/>
          <a:p>
            <a:pPr marL="12700">
              <a:lnSpc>
                <a:spcPct val="100000"/>
              </a:lnSpc>
              <a:spcBef>
                <a:spcPts val="930"/>
              </a:spcBef>
            </a:pPr>
            <a:r>
              <a:rPr sz="1600" b="1" spc="-120" dirty="0">
                <a:solidFill>
                  <a:schemeClr val="tx1"/>
                </a:solidFill>
                <a:latin typeface="Century Gothic" panose="020B0502020202020204" pitchFamily="34" charset="0"/>
                <a:cs typeface="Arial"/>
              </a:rPr>
              <a:t>Irving</a:t>
            </a:r>
            <a:r>
              <a:rPr sz="1600" b="1" spc="-5" dirty="0">
                <a:solidFill>
                  <a:schemeClr val="tx1"/>
                </a:solidFill>
                <a:latin typeface="Century Gothic" panose="020B0502020202020204" pitchFamily="34" charset="0"/>
                <a:cs typeface="Arial"/>
              </a:rPr>
              <a:t> </a:t>
            </a:r>
            <a:r>
              <a:rPr sz="1600" b="1" spc="-10" dirty="0">
                <a:solidFill>
                  <a:schemeClr val="tx1"/>
                </a:solidFill>
                <a:latin typeface="Century Gothic" panose="020B0502020202020204" pitchFamily="34" charset="0"/>
                <a:cs typeface="Arial"/>
              </a:rPr>
              <a:t>Place</a:t>
            </a:r>
            <a:endParaRPr sz="1600" dirty="0">
              <a:solidFill>
                <a:schemeClr val="tx1"/>
              </a:solidFill>
              <a:latin typeface="Century Gothic" panose="020B0502020202020204" pitchFamily="34" charset="0"/>
              <a:cs typeface="Arial"/>
            </a:endParaRPr>
          </a:p>
          <a:p>
            <a:pPr marL="12700">
              <a:lnSpc>
                <a:spcPct val="100000"/>
              </a:lnSpc>
              <a:spcBef>
                <a:spcPts val="630"/>
              </a:spcBef>
            </a:pPr>
            <a:r>
              <a:rPr sz="1200" b="1" spc="-60" dirty="0">
                <a:solidFill>
                  <a:schemeClr val="tx1"/>
                </a:solidFill>
                <a:latin typeface="Century Gothic" panose="020B0502020202020204" pitchFamily="34" charset="0"/>
                <a:cs typeface="Arial"/>
              </a:rPr>
              <a:t>1999</a:t>
            </a:r>
            <a:r>
              <a:rPr sz="1200" b="1" spc="-35" dirty="0">
                <a:solidFill>
                  <a:schemeClr val="tx1"/>
                </a:solidFill>
                <a:latin typeface="Century Gothic" panose="020B0502020202020204" pitchFamily="34" charset="0"/>
                <a:cs typeface="Arial"/>
              </a:rPr>
              <a:t> </a:t>
            </a:r>
            <a:r>
              <a:rPr sz="1200" b="1" spc="-95" dirty="0">
                <a:solidFill>
                  <a:schemeClr val="tx1"/>
                </a:solidFill>
                <a:latin typeface="Century Gothic" panose="020B0502020202020204" pitchFamily="34" charset="0"/>
                <a:cs typeface="Arial"/>
              </a:rPr>
              <a:t>Karim</a:t>
            </a:r>
            <a:r>
              <a:rPr sz="1200" b="1" spc="-35" dirty="0">
                <a:solidFill>
                  <a:schemeClr val="tx1"/>
                </a:solidFill>
                <a:latin typeface="Century Gothic" panose="020B0502020202020204" pitchFamily="34" charset="0"/>
                <a:cs typeface="Arial"/>
              </a:rPr>
              <a:t> </a:t>
            </a:r>
            <a:r>
              <a:rPr sz="1200" b="1" spc="-114" dirty="0">
                <a:solidFill>
                  <a:schemeClr val="tx1"/>
                </a:solidFill>
                <a:latin typeface="Century Gothic" panose="020B0502020202020204" pitchFamily="34" charset="0"/>
                <a:cs typeface="Arial"/>
              </a:rPr>
              <a:t>Rashid;</a:t>
            </a:r>
            <a:r>
              <a:rPr sz="1200" b="1" spc="-40" dirty="0">
                <a:solidFill>
                  <a:schemeClr val="tx1"/>
                </a:solidFill>
                <a:latin typeface="Century Gothic" panose="020B0502020202020204" pitchFamily="34" charset="0"/>
                <a:cs typeface="Arial"/>
              </a:rPr>
              <a:t> </a:t>
            </a:r>
            <a:r>
              <a:rPr sz="1200" b="1" spc="-60" dirty="0">
                <a:solidFill>
                  <a:schemeClr val="tx1"/>
                </a:solidFill>
                <a:latin typeface="Century Gothic" panose="020B0502020202020204" pitchFamily="34" charset="0"/>
                <a:cs typeface="Arial"/>
              </a:rPr>
              <a:t>Millenium</a:t>
            </a:r>
            <a:r>
              <a:rPr sz="1200" b="1" spc="-20" dirty="0">
                <a:solidFill>
                  <a:schemeClr val="tx1"/>
                </a:solidFill>
                <a:latin typeface="Century Gothic" panose="020B0502020202020204" pitchFamily="34" charset="0"/>
                <a:cs typeface="Arial"/>
              </a:rPr>
              <a:t> 2000</a:t>
            </a:r>
            <a:endParaRPr sz="1200" dirty="0">
              <a:solidFill>
                <a:schemeClr val="tx1"/>
              </a:solidFill>
              <a:latin typeface="Century Gothic" panose="020B0502020202020204" pitchFamily="34" charset="0"/>
              <a:cs typeface="Arial"/>
            </a:endParaRPr>
          </a:p>
          <a:p>
            <a:pPr marL="12700">
              <a:lnSpc>
                <a:spcPct val="100000"/>
              </a:lnSpc>
              <a:spcBef>
                <a:spcPts val="600"/>
              </a:spcBef>
            </a:pPr>
            <a:r>
              <a:rPr sz="1200" b="1" spc="-114" dirty="0">
                <a:solidFill>
                  <a:schemeClr val="tx1"/>
                </a:solidFill>
                <a:latin typeface="Century Gothic" panose="020B0502020202020204" pitchFamily="34" charset="0"/>
                <a:cs typeface="Arial"/>
              </a:rPr>
              <a:t>Rubbing</a:t>
            </a:r>
            <a:r>
              <a:rPr sz="1200" b="1" spc="-25" dirty="0">
                <a:solidFill>
                  <a:schemeClr val="tx1"/>
                </a:solidFill>
                <a:latin typeface="Century Gothic" panose="020B0502020202020204" pitchFamily="34" charset="0"/>
                <a:cs typeface="Arial"/>
              </a:rPr>
              <a:t> </a:t>
            </a:r>
            <a:r>
              <a:rPr sz="1200" b="1" spc="-130" dirty="0">
                <a:solidFill>
                  <a:schemeClr val="tx1"/>
                </a:solidFill>
                <a:latin typeface="Century Gothic" panose="020B0502020202020204" pitchFamily="34" charset="0"/>
                <a:cs typeface="Arial"/>
              </a:rPr>
              <a:t>July</a:t>
            </a:r>
            <a:r>
              <a:rPr sz="1200" b="1" spc="-55" dirty="0">
                <a:solidFill>
                  <a:schemeClr val="tx1"/>
                </a:solidFill>
                <a:latin typeface="Century Gothic" panose="020B0502020202020204" pitchFamily="34" charset="0"/>
                <a:cs typeface="Arial"/>
              </a:rPr>
              <a:t> </a:t>
            </a:r>
            <a:r>
              <a:rPr sz="1200" b="1" spc="-20" dirty="0">
                <a:solidFill>
                  <a:schemeClr val="tx1"/>
                </a:solidFill>
                <a:latin typeface="Century Gothic" panose="020B0502020202020204" pitchFamily="34" charset="0"/>
                <a:cs typeface="Arial"/>
              </a:rPr>
              <a:t>2000</a:t>
            </a:r>
            <a:endParaRPr sz="1200" dirty="0">
              <a:solidFill>
                <a:schemeClr val="tx1"/>
              </a:solidFill>
              <a:latin typeface="Century Gothic" panose="020B0502020202020204" pitchFamily="34" charset="0"/>
              <a:cs typeface="Arial"/>
            </a:endParaRPr>
          </a:p>
          <a:p>
            <a:pPr>
              <a:lnSpc>
                <a:spcPct val="100000"/>
              </a:lnSpc>
            </a:pP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12700" marR="5080" algn="just">
              <a:lnSpc>
                <a:spcPct val="100000"/>
              </a:lnSpc>
            </a:pPr>
            <a:r>
              <a:rPr sz="1200" spc="-80" dirty="0">
                <a:solidFill>
                  <a:schemeClr val="tx1"/>
                </a:solidFill>
                <a:latin typeface="Century Gothic" panose="020B0502020202020204" pitchFamily="34" charset="0"/>
                <a:cs typeface="Arial"/>
              </a:rPr>
              <a:t>This</a:t>
            </a:r>
            <a:r>
              <a:rPr sz="1200" spc="36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fascinating</a:t>
            </a:r>
            <a:r>
              <a:rPr sz="1200" spc="36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cover</a:t>
            </a:r>
            <a:r>
              <a:rPr sz="1200" spc="365"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was</a:t>
            </a:r>
            <a:r>
              <a:rPr sz="1200" spc="37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designed</a:t>
            </a:r>
            <a:r>
              <a:rPr sz="1200" spc="38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in</a:t>
            </a:r>
            <a:r>
              <a:rPr sz="1200" spc="37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1999</a:t>
            </a:r>
            <a:r>
              <a:rPr sz="1200" spc="36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by</a:t>
            </a:r>
            <a:r>
              <a:rPr sz="1200" spc="36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Karim</a:t>
            </a:r>
            <a:r>
              <a:rPr sz="1200" spc="380"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Rashid</a:t>
            </a:r>
            <a:r>
              <a:rPr sz="1200" spc="37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from</a:t>
            </a:r>
            <a:r>
              <a:rPr sz="1200" spc="37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Egypt,</a:t>
            </a:r>
            <a:r>
              <a:rPr sz="1200" spc="365"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a</a:t>
            </a:r>
            <a:r>
              <a:rPr sz="1200" spc="-5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renowned</a:t>
            </a:r>
            <a:r>
              <a:rPr sz="1200" spc="-2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architect,</a:t>
            </a:r>
            <a:r>
              <a:rPr sz="1200" spc="-3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designer,</a:t>
            </a:r>
            <a:r>
              <a:rPr sz="1200" spc="-3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all-round</a:t>
            </a:r>
            <a:r>
              <a:rPr sz="1200" spc="-20" dirty="0">
                <a:solidFill>
                  <a:schemeClr val="tx1"/>
                </a:solidFill>
                <a:latin typeface="Century Gothic" panose="020B0502020202020204" pitchFamily="34" charset="0"/>
                <a:cs typeface="Arial"/>
              </a:rPr>
              <a:t> artist</a:t>
            </a:r>
            <a:r>
              <a:rPr sz="1200" spc="-1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and</a:t>
            </a:r>
            <a:r>
              <a:rPr sz="1200" spc="-30" dirty="0">
                <a:solidFill>
                  <a:schemeClr val="tx1"/>
                </a:solidFill>
                <a:latin typeface="Century Gothic" panose="020B0502020202020204" pitchFamily="34" charset="0"/>
                <a:cs typeface="Arial"/>
              </a:rPr>
              <a:t> </a:t>
            </a:r>
            <a:r>
              <a:rPr sz="1200" spc="-114" dirty="0">
                <a:solidFill>
                  <a:schemeClr val="tx1"/>
                </a:solidFill>
                <a:latin typeface="Century Gothic" panose="020B0502020202020204" pitchFamily="34" charset="0"/>
                <a:cs typeface="Arial"/>
              </a:rPr>
              <a:t>as</a:t>
            </a:r>
            <a:r>
              <a:rPr sz="1200" spc="-2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far</a:t>
            </a:r>
            <a:r>
              <a:rPr sz="1200" spc="-20" dirty="0">
                <a:solidFill>
                  <a:schemeClr val="tx1"/>
                </a:solidFill>
                <a:latin typeface="Century Gothic" panose="020B0502020202020204" pitchFamily="34" charset="0"/>
                <a:cs typeface="Arial"/>
              </a:rPr>
              <a:t> </a:t>
            </a:r>
            <a:r>
              <a:rPr sz="1200" spc="-114" dirty="0">
                <a:solidFill>
                  <a:schemeClr val="tx1"/>
                </a:solidFill>
                <a:latin typeface="Century Gothic" panose="020B0502020202020204" pitchFamily="34" charset="0"/>
                <a:cs typeface="Arial"/>
              </a:rPr>
              <a:t>as</a:t>
            </a:r>
            <a:r>
              <a:rPr sz="1200" spc="-2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we</a:t>
            </a:r>
            <a:r>
              <a:rPr sz="1200" spc="-20"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know</a:t>
            </a:r>
            <a:r>
              <a:rPr sz="1200" spc="-25"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a</a:t>
            </a:r>
            <a:r>
              <a:rPr sz="1200" spc="-2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participant</a:t>
            </a:r>
            <a:r>
              <a:rPr sz="1200" spc="-15" dirty="0">
                <a:solidFill>
                  <a:schemeClr val="tx1"/>
                </a:solidFill>
                <a:latin typeface="Century Gothic" panose="020B0502020202020204" pitchFamily="34" charset="0"/>
                <a:cs typeface="Arial"/>
              </a:rPr>
              <a:t> of </a:t>
            </a:r>
            <a:r>
              <a:rPr sz="1200" spc="-20" dirty="0">
                <a:solidFill>
                  <a:schemeClr val="tx1"/>
                </a:solidFill>
                <a:latin typeface="Century Gothic" panose="020B0502020202020204" pitchFamily="34" charset="0"/>
                <a:cs typeface="Arial"/>
              </a:rPr>
              <a:t>the</a:t>
            </a:r>
            <a:r>
              <a:rPr sz="1200" spc="500"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famous</a:t>
            </a:r>
            <a:r>
              <a:rPr sz="1200" spc="515" dirty="0">
                <a:solidFill>
                  <a:schemeClr val="tx1"/>
                </a:solidFill>
                <a:latin typeface="Century Gothic" panose="020B0502020202020204" pitchFamily="34" charset="0"/>
                <a:cs typeface="Arial"/>
              </a:rPr>
              <a:t> </a:t>
            </a:r>
            <a:r>
              <a:rPr sz="1200" spc="-60" dirty="0">
                <a:solidFill>
                  <a:schemeClr val="tx1"/>
                </a:solidFill>
                <a:latin typeface="Century Gothic" panose="020B0502020202020204" pitchFamily="34" charset="0"/>
                <a:cs typeface="Arial"/>
              </a:rPr>
              <a:t>»Documenta«</a:t>
            </a:r>
            <a:r>
              <a:rPr sz="1200" spc="509"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in</a:t>
            </a:r>
            <a:r>
              <a:rPr sz="1200" spc="505" dirty="0">
                <a:solidFill>
                  <a:schemeClr val="tx1"/>
                </a:solidFill>
                <a:latin typeface="Century Gothic" panose="020B0502020202020204" pitchFamily="34" charset="0"/>
                <a:cs typeface="Arial"/>
              </a:rPr>
              <a:t> </a:t>
            </a:r>
            <a:r>
              <a:rPr sz="1200" spc="-100" dirty="0">
                <a:solidFill>
                  <a:schemeClr val="tx1"/>
                </a:solidFill>
                <a:latin typeface="Century Gothic" panose="020B0502020202020204" pitchFamily="34" charset="0"/>
                <a:cs typeface="Arial"/>
              </a:rPr>
              <a:t>Kassel,</a:t>
            </a:r>
            <a:r>
              <a:rPr sz="1200" spc="509" dirty="0">
                <a:solidFill>
                  <a:schemeClr val="tx1"/>
                </a:solidFill>
                <a:latin typeface="Century Gothic" panose="020B0502020202020204" pitchFamily="34" charset="0"/>
                <a:cs typeface="Arial"/>
              </a:rPr>
              <a:t> </a:t>
            </a:r>
            <a:r>
              <a:rPr sz="1200" spc="-80" dirty="0">
                <a:solidFill>
                  <a:schemeClr val="tx1"/>
                </a:solidFill>
                <a:latin typeface="Century Gothic" panose="020B0502020202020204" pitchFamily="34" charset="0"/>
                <a:cs typeface="Arial"/>
              </a:rPr>
              <a:t>Germany.</a:t>
            </a:r>
            <a:r>
              <a:rPr sz="1200" spc="509"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He</a:t>
            </a:r>
            <a:r>
              <a:rPr sz="1200" spc="515"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was</a:t>
            </a:r>
            <a:r>
              <a:rPr sz="1200" spc="51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51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winner</a:t>
            </a:r>
            <a:r>
              <a:rPr sz="1200" spc="51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of</a:t>
            </a:r>
            <a:r>
              <a:rPr sz="1200" spc="50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the</a:t>
            </a:r>
            <a:r>
              <a:rPr sz="1200" spc="-3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competition</a:t>
            </a:r>
            <a:r>
              <a:rPr sz="1200" spc="-70" dirty="0">
                <a:solidFill>
                  <a:schemeClr val="tx1"/>
                </a:solidFill>
                <a:latin typeface="Century Gothic" panose="020B0502020202020204" pitchFamily="34" charset="0"/>
                <a:cs typeface="Arial"/>
              </a:rPr>
              <a:t> </a:t>
            </a:r>
            <a:r>
              <a:rPr sz="1200" spc="-5" dirty="0">
                <a:solidFill>
                  <a:schemeClr val="tx1"/>
                </a:solidFill>
                <a:latin typeface="Century Gothic" panose="020B0502020202020204" pitchFamily="34" charset="0"/>
                <a:cs typeface="Arial"/>
              </a:rPr>
              <a:t>for</a:t>
            </a:r>
            <a:r>
              <a:rPr sz="1200" spc="-7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8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Millennium</a:t>
            </a:r>
            <a:r>
              <a:rPr sz="1200" spc="-80" dirty="0">
                <a:solidFill>
                  <a:schemeClr val="tx1"/>
                </a:solidFill>
                <a:latin typeface="Century Gothic" panose="020B0502020202020204" pitchFamily="34" charset="0"/>
                <a:cs typeface="Arial"/>
              </a:rPr>
              <a:t> Cover</a:t>
            </a:r>
            <a:r>
              <a:rPr sz="1200" spc="-7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contest</a:t>
            </a:r>
            <a:r>
              <a:rPr sz="1200" spc="-65" dirty="0">
                <a:solidFill>
                  <a:schemeClr val="tx1"/>
                </a:solidFill>
                <a:latin typeface="Century Gothic" panose="020B0502020202020204" pitchFamily="34" charset="0"/>
                <a:cs typeface="Arial"/>
              </a:rPr>
              <a:t> </a:t>
            </a:r>
            <a:r>
              <a:rPr sz="1200" spc="-15" dirty="0">
                <a:solidFill>
                  <a:schemeClr val="tx1"/>
                </a:solidFill>
                <a:latin typeface="Century Gothic" panose="020B0502020202020204" pitchFamily="34" charset="0"/>
                <a:cs typeface="Arial"/>
              </a:rPr>
              <a:t>initiated</a:t>
            </a:r>
            <a:r>
              <a:rPr sz="1200" spc="-95"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by</a:t>
            </a:r>
            <a:r>
              <a:rPr sz="1200" spc="-90" dirty="0">
                <a:solidFill>
                  <a:schemeClr val="tx1"/>
                </a:solidFill>
                <a:latin typeface="Century Gothic" panose="020B0502020202020204" pitchFamily="34" charset="0"/>
                <a:cs typeface="Arial"/>
              </a:rPr>
              <a:t> </a:t>
            </a:r>
            <a:r>
              <a:rPr sz="1200" spc="-100" dirty="0">
                <a:solidFill>
                  <a:schemeClr val="tx1"/>
                </a:solidFill>
                <a:latin typeface="Century Gothic" panose="020B0502020202020204" pitchFamily="34" charset="0"/>
                <a:cs typeface="Arial"/>
              </a:rPr>
              <a:t>Con</a:t>
            </a:r>
            <a:r>
              <a:rPr sz="1200" spc="-5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Edison.</a:t>
            </a:r>
            <a:endParaRPr sz="1200" dirty="0">
              <a:solidFill>
                <a:schemeClr val="tx1"/>
              </a:solidFill>
              <a:latin typeface="Century Gothic" panose="020B0502020202020204" pitchFamily="34" charset="0"/>
              <a:cs typeface="Arial"/>
            </a:endParaRPr>
          </a:p>
          <a:p>
            <a:pPr marL="12700" marR="5080" algn="just">
              <a:lnSpc>
                <a:spcPct val="100000"/>
              </a:lnSpc>
              <a:spcBef>
                <a:spcPts val="1200"/>
              </a:spcBef>
            </a:pPr>
            <a:r>
              <a:rPr sz="1200" dirty="0">
                <a:solidFill>
                  <a:schemeClr val="tx1"/>
                </a:solidFill>
                <a:latin typeface="Century Gothic" panose="020B0502020202020204" pitchFamily="34" charset="0"/>
                <a:cs typeface="Arial"/>
              </a:rPr>
              <a:t>His</a:t>
            </a:r>
            <a:r>
              <a:rPr sz="1200" spc="7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cover</a:t>
            </a:r>
            <a:r>
              <a:rPr sz="1200" spc="5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named</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“Global</a:t>
            </a:r>
            <a:r>
              <a:rPr sz="1200" spc="6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Energy”</a:t>
            </a:r>
            <a:r>
              <a:rPr sz="1200" spc="5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designed</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for</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Con</a:t>
            </a:r>
            <a:r>
              <a:rPr sz="1200" spc="5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Edison</a:t>
            </a:r>
            <a:r>
              <a:rPr sz="1200" spc="6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for</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5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turn</a:t>
            </a:r>
            <a:r>
              <a:rPr sz="1200" spc="6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5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the </a:t>
            </a:r>
            <a:r>
              <a:rPr sz="1200" spc="-20" dirty="0">
                <a:solidFill>
                  <a:schemeClr val="tx1"/>
                </a:solidFill>
                <a:latin typeface="Century Gothic" panose="020B0502020202020204" pitchFamily="34" charset="0"/>
                <a:cs typeface="Arial"/>
              </a:rPr>
              <a:t>millennium</a:t>
            </a:r>
            <a:r>
              <a:rPr sz="1200" spc="-65"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has</a:t>
            </a:r>
            <a:r>
              <a:rPr sz="120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an</a:t>
            </a:r>
            <a:r>
              <a:rPr sz="1200" spc="-5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abstract</a:t>
            </a:r>
            <a:r>
              <a:rPr sz="1200" spc="26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globe-</a:t>
            </a:r>
            <a:r>
              <a:rPr sz="1200" spc="-70" dirty="0">
                <a:solidFill>
                  <a:schemeClr val="tx1"/>
                </a:solidFill>
                <a:latin typeface="Century Gothic" panose="020B0502020202020204" pitchFamily="34" charset="0"/>
                <a:cs typeface="Arial"/>
              </a:rPr>
              <a:t>shaped</a:t>
            </a:r>
            <a:r>
              <a:rPr sz="1200" spc="-1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pattern</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that</a:t>
            </a:r>
            <a:r>
              <a:rPr sz="1200" spc="-35" dirty="0">
                <a:solidFill>
                  <a:schemeClr val="tx1"/>
                </a:solidFill>
                <a:latin typeface="Century Gothic" panose="020B0502020202020204" pitchFamily="34" charset="0"/>
                <a:cs typeface="Arial"/>
              </a:rPr>
              <a:t> </a:t>
            </a:r>
            <a:r>
              <a:rPr sz="1200" spc="-90" dirty="0">
                <a:solidFill>
                  <a:schemeClr val="tx1"/>
                </a:solidFill>
                <a:latin typeface="Century Gothic" panose="020B0502020202020204" pitchFamily="34" charset="0"/>
                <a:cs typeface="Arial"/>
              </a:rPr>
              <a:t>seems</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to</a:t>
            </a:r>
            <a:r>
              <a:rPr sz="1200" spc="-2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ripple.</a:t>
            </a:r>
            <a:r>
              <a:rPr sz="1200" spc="-3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It</a:t>
            </a:r>
            <a:r>
              <a:rPr sz="1200" spc="-2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is</a:t>
            </a:r>
            <a:r>
              <a:rPr sz="1200" spc="-2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similar </a:t>
            </a:r>
            <a:r>
              <a:rPr sz="1200" dirty="0">
                <a:solidFill>
                  <a:schemeClr val="tx1"/>
                </a:solidFill>
                <a:latin typeface="Century Gothic" panose="020B0502020202020204" pitchFamily="34" charset="0"/>
                <a:cs typeface="Arial"/>
              </a:rPr>
              <a:t>to the</a:t>
            </a:r>
            <a:r>
              <a:rPr sz="1200" spc="-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paintings</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5" dirty="0">
                <a:solidFill>
                  <a:schemeClr val="tx1"/>
                </a:solidFill>
                <a:latin typeface="Century Gothic" panose="020B0502020202020204" pitchFamily="34" charset="0"/>
                <a:cs typeface="Arial"/>
              </a:rPr>
              <a:t> </a:t>
            </a:r>
            <a:r>
              <a:rPr sz="1200" spc="-80" dirty="0">
                <a:solidFill>
                  <a:schemeClr val="tx1"/>
                </a:solidFill>
                <a:latin typeface="Century Gothic" panose="020B0502020202020204" pitchFamily="34" charset="0"/>
                <a:cs typeface="Arial"/>
              </a:rPr>
              <a:t>Vasarely</a:t>
            </a:r>
            <a:r>
              <a:rPr sz="120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(1908</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1997),</a:t>
            </a:r>
            <a:r>
              <a:rPr sz="120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based</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on</a:t>
            </a:r>
            <a:r>
              <a:rPr sz="1200" spc="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mathematical</a:t>
            </a:r>
            <a:r>
              <a:rPr sz="1200" spc="1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calculations.</a:t>
            </a:r>
            <a:r>
              <a:rPr sz="120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In </a:t>
            </a:r>
            <a:r>
              <a:rPr sz="1200" dirty="0">
                <a:solidFill>
                  <a:schemeClr val="tx1"/>
                </a:solidFill>
                <a:latin typeface="Century Gothic" panose="020B0502020202020204" pitchFamily="34" charset="0"/>
                <a:cs typeface="Arial"/>
              </a:rPr>
              <a:t>my </a:t>
            </a:r>
            <a:r>
              <a:rPr sz="1200" spc="-25" dirty="0">
                <a:solidFill>
                  <a:schemeClr val="tx1"/>
                </a:solidFill>
                <a:latin typeface="Century Gothic" panose="020B0502020202020204" pitchFamily="34" charset="0"/>
                <a:cs typeface="Arial"/>
              </a:rPr>
              <a:t>view,</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this</a:t>
            </a:r>
            <a:r>
              <a:rPr sz="1200" spc="1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manhole</a:t>
            </a:r>
            <a:r>
              <a:rPr sz="120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cover</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is</a:t>
            </a:r>
            <a:r>
              <a:rPr sz="1200" spc="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excellent</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 its mutual </a:t>
            </a:r>
            <a:r>
              <a:rPr sz="1200" spc="-20" dirty="0">
                <a:solidFill>
                  <a:schemeClr val="tx1"/>
                </a:solidFill>
                <a:latin typeface="Century Gothic" panose="020B0502020202020204" pitchFamily="34" charset="0"/>
                <a:cs typeface="Arial"/>
              </a:rPr>
              <a:t>completion</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both in</a:t>
            </a:r>
            <a:r>
              <a:rPr sz="1200" spc="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formal </a:t>
            </a:r>
            <a:r>
              <a:rPr sz="1200" spc="-45" dirty="0">
                <a:solidFill>
                  <a:schemeClr val="tx1"/>
                </a:solidFill>
                <a:latin typeface="Century Gothic" panose="020B0502020202020204" pitchFamily="34" charset="0"/>
                <a:cs typeface="Arial"/>
              </a:rPr>
              <a:t>graphical</a:t>
            </a:r>
            <a:r>
              <a:rPr sz="1200" spc="-40"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shape</a:t>
            </a:r>
            <a:r>
              <a:rPr sz="1200" spc="-2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and</a:t>
            </a:r>
            <a:r>
              <a:rPr sz="1200" spc="-3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its</a:t>
            </a:r>
            <a:r>
              <a:rPr sz="1200" spc="-4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meaningful</a:t>
            </a:r>
            <a:r>
              <a:rPr sz="1200" spc="-30" dirty="0">
                <a:solidFill>
                  <a:schemeClr val="tx1"/>
                </a:solidFill>
                <a:latin typeface="Century Gothic" panose="020B0502020202020204" pitchFamily="34" charset="0"/>
                <a:cs typeface="Arial"/>
              </a:rPr>
              <a:t> statement.</a:t>
            </a:r>
            <a:r>
              <a:rPr sz="1200" spc="-40"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And</a:t>
            </a:r>
            <a:r>
              <a:rPr sz="1200" spc="-2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t>
            </a:r>
            <a:r>
              <a:rPr sz="1200" spc="-3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this</a:t>
            </a:r>
            <a:r>
              <a:rPr sz="1200" spc="-3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functional</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iron</a:t>
            </a:r>
            <a:r>
              <a:rPr sz="1200" spc="-4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cast</a:t>
            </a:r>
            <a:r>
              <a:rPr sz="1200" spc="28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was </a:t>
            </a:r>
            <a:r>
              <a:rPr sz="1200" spc="-55" dirty="0">
                <a:solidFill>
                  <a:schemeClr val="tx1"/>
                </a:solidFill>
                <a:latin typeface="Century Gothic" panose="020B0502020202020204" pitchFamily="34" charset="0"/>
                <a:cs typeface="Arial"/>
              </a:rPr>
              <a:t>made</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7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New</a:t>
            </a:r>
            <a:r>
              <a:rPr sz="1200" spc="-20" dirty="0">
                <a:solidFill>
                  <a:schemeClr val="tx1"/>
                </a:solidFill>
                <a:latin typeface="Century Gothic" panose="020B0502020202020204" pitchFamily="34" charset="0"/>
                <a:cs typeface="Arial"/>
              </a:rPr>
              <a:t> </a:t>
            </a:r>
            <a:r>
              <a:rPr sz="1200" spc="-100" dirty="0">
                <a:solidFill>
                  <a:schemeClr val="tx1"/>
                </a:solidFill>
                <a:latin typeface="Century Gothic" panose="020B0502020202020204" pitchFamily="34" charset="0"/>
                <a:cs typeface="Arial"/>
              </a:rPr>
              <a:t>York</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it</a:t>
            </a:r>
            <a:r>
              <a:rPr sz="1200" spc="-1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is</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part</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1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millennium</a:t>
            </a:r>
            <a:r>
              <a:rPr sz="1200" spc="-2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mania</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which</a:t>
            </a:r>
            <a:r>
              <a:rPr sz="1200" spc="-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included</a:t>
            </a:r>
            <a:r>
              <a:rPr sz="1200" spc="-10" dirty="0">
                <a:solidFill>
                  <a:schemeClr val="tx1"/>
                </a:solidFill>
                <a:latin typeface="Century Gothic" panose="020B0502020202020204" pitchFamily="34" charset="0"/>
                <a:cs typeface="Arial"/>
              </a:rPr>
              <a:t> </a:t>
            </a:r>
            <a:r>
              <a:rPr sz="1200" spc="-110" dirty="0">
                <a:solidFill>
                  <a:schemeClr val="tx1"/>
                </a:solidFill>
                <a:latin typeface="Century Gothic" panose="020B0502020202020204" pitchFamily="34" charset="0"/>
                <a:cs typeface="Arial"/>
              </a:rPr>
              <a:t>»Year</a:t>
            </a:r>
            <a:r>
              <a:rPr sz="1200" spc="2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2000« </a:t>
            </a:r>
            <a:r>
              <a:rPr sz="1200" dirty="0">
                <a:solidFill>
                  <a:schemeClr val="tx1"/>
                </a:solidFill>
                <a:latin typeface="Century Gothic" panose="020B0502020202020204" pitchFamily="34" charset="0"/>
                <a:cs typeface="Arial"/>
              </a:rPr>
              <a:t>bomber</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jackets,</a:t>
            </a:r>
            <a:r>
              <a:rPr sz="1200" spc="10"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survivalist</a:t>
            </a:r>
            <a:r>
              <a:rPr sz="1200" spc="2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packages,</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and</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a:t>
            </a:r>
            <a:r>
              <a:rPr sz="1200" spc="1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cereal</a:t>
            </a:r>
            <a:r>
              <a:rPr sz="1200" spc="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named</a:t>
            </a:r>
            <a:r>
              <a:rPr sz="1200" spc="2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»Millennium-</a:t>
            </a:r>
            <a:r>
              <a:rPr sz="1200" spc="-20" dirty="0">
                <a:solidFill>
                  <a:schemeClr val="tx1"/>
                </a:solidFill>
                <a:latin typeface="Century Gothic" panose="020B0502020202020204" pitchFamily="34" charset="0"/>
                <a:cs typeface="Arial"/>
              </a:rPr>
              <a:t>Os«</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(NY </a:t>
            </a:r>
            <a:r>
              <a:rPr sz="1200" spc="-70" dirty="0">
                <a:solidFill>
                  <a:schemeClr val="tx1"/>
                </a:solidFill>
                <a:latin typeface="Century Gothic" panose="020B0502020202020204" pitchFamily="34" charset="0"/>
                <a:cs typeface="Arial"/>
              </a:rPr>
              <a:t>Times,</a:t>
            </a:r>
            <a:r>
              <a:rPr sz="1200" spc="-30"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Sept.</a:t>
            </a:r>
            <a:r>
              <a:rPr sz="1200" spc="-90"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1999).</a:t>
            </a:r>
            <a:endParaRPr sz="1200" dirty="0">
              <a:solidFill>
                <a:schemeClr val="tx1"/>
              </a:solidFill>
              <a:latin typeface="Century Gothic" panose="020B0502020202020204" pitchFamily="34" charset="0"/>
              <a:cs typeface="Arial"/>
            </a:endParaRPr>
          </a:p>
          <a:p>
            <a:pPr marL="12700" marR="5080" algn="just">
              <a:lnSpc>
                <a:spcPct val="100000"/>
              </a:lnSpc>
              <a:spcBef>
                <a:spcPts val="1205"/>
              </a:spcBef>
            </a:pPr>
            <a:r>
              <a:rPr sz="1200" spc="-80" dirty="0">
                <a:solidFill>
                  <a:schemeClr val="tx1"/>
                </a:solidFill>
                <a:latin typeface="Century Gothic" panose="020B0502020202020204" pitchFamily="34" charset="0"/>
                <a:cs typeface="Arial"/>
              </a:rPr>
              <a:t>This</a:t>
            </a:r>
            <a:r>
              <a:rPr sz="1200" spc="15" dirty="0">
                <a:solidFill>
                  <a:schemeClr val="tx1"/>
                </a:solidFill>
                <a:latin typeface="Century Gothic" panose="020B0502020202020204" pitchFamily="34" charset="0"/>
                <a:cs typeface="Arial"/>
              </a:rPr>
              <a:t> </a:t>
            </a:r>
            <a:r>
              <a:rPr sz="1200" spc="-20" dirty="0">
                <a:solidFill>
                  <a:schemeClr val="tx1"/>
                </a:solidFill>
                <a:latin typeface="Century Gothic" panose="020B0502020202020204" pitchFamily="34" charset="0"/>
                <a:cs typeface="Arial"/>
              </a:rPr>
              <a:t>Millennium</a:t>
            </a:r>
            <a:r>
              <a:rPr sz="1200" spc="2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cover</a:t>
            </a:r>
            <a:r>
              <a:rPr sz="1200" spc="25"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was</a:t>
            </a:r>
            <a:r>
              <a:rPr sz="1200" spc="1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graphically</a:t>
            </a:r>
            <a:r>
              <a:rPr sz="1200" spc="2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challenging:</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it</a:t>
            </a:r>
            <a:r>
              <a:rPr sz="1200" spc="25" dirty="0">
                <a:solidFill>
                  <a:schemeClr val="tx1"/>
                </a:solidFill>
                <a:latin typeface="Century Gothic" panose="020B0502020202020204" pitchFamily="34" charset="0"/>
                <a:cs typeface="Arial"/>
              </a:rPr>
              <a:t> </a:t>
            </a:r>
            <a:r>
              <a:rPr sz="1200" spc="-100" dirty="0">
                <a:solidFill>
                  <a:schemeClr val="tx1"/>
                </a:solidFill>
                <a:latin typeface="Century Gothic" panose="020B0502020202020204" pitchFamily="34" charset="0"/>
                <a:cs typeface="Arial"/>
              </a:rPr>
              <a:t>has</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shifting</a:t>
            </a:r>
            <a:r>
              <a:rPr sz="1200" spc="25" dirty="0">
                <a:solidFill>
                  <a:schemeClr val="tx1"/>
                </a:solidFill>
                <a:latin typeface="Century Gothic" panose="020B0502020202020204" pitchFamily="34" charset="0"/>
                <a:cs typeface="Arial"/>
              </a:rPr>
              <a:t> </a:t>
            </a:r>
            <a:r>
              <a:rPr sz="1200" spc="-35" dirty="0">
                <a:solidFill>
                  <a:schemeClr val="tx1"/>
                </a:solidFill>
                <a:latin typeface="Century Gothic" panose="020B0502020202020204" pitchFamily="34" charset="0"/>
                <a:cs typeface="Arial"/>
              </a:rPr>
              <a:t>three-</a:t>
            </a:r>
            <a:r>
              <a:rPr sz="1200" spc="-20" dirty="0">
                <a:solidFill>
                  <a:schemeClr val="tx1"/>
                </a:solidFill>
                <a:latin typeface="Century Gothic" panose="020B0502020202020204" pitchFamily="34" charset="0"/>
                <a:cs typeface="Arial"/>
              </a:rPr>
              <a:t>dimensional </a:t>
            </a:r>
            <a:r>
              <a:rPr sz="1200" spc="-10" dirty="0">
                <a:solidFill>
                  <a:schemeClr val="tx1"/>
                </a:solidFill>
                <a:latin typeface="Century Gothic" panose="020B0502020202020204" pitchFamily="34" charset="0"/>
                <a:cs typeface="Arial"/>
              </a:rPr>
              <a:t>effects.</a:t>
            </a:r>
            <a:r>
              <a:rPr sz="1200" spc="3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Therefore,</a:t>
            </a:r>
            <a:r>
              <a:rPr sz="1200" spc="4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a:t>
            </a:r>
            <a:r>
              <a:rPr sz="1200" spc="2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finished</a:t>
            </a:r>
            <a:r>
              <a:rPr sz="1200" spc="4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three</a:t>
            </a:r>
            <a:r>
              <a:rPr sz="1200" spc="3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rubbings</a:t>
            </a:r>
            <a:r>
              <a:rPr sz="1200" spc="3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2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different</a:t>
            </a:r>
            <a:r>
              <a:rPr sz="1200" spc="4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techniques</a:t>
            </a:r>
            <a:r>
              <a:rPr sz="1200" spc="4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accentuating </a:t>
            </a:r>
            <a:r>
              <a:rPr sz="1200" spc="-20" dirty="0">
                <a:solidFill>
                  <a:schemeClr val="tx1"/>
                </a:solidFill>
                <a:latin typeface="Century Gothic" panose="020B0502020202020204" pitchFamily="34" charset="0"/>
                <a:cs typeface="Arial"/>
              </a:rPr>
              <a:t>different</a:t>
            </a:r>
            <a:r>
              <a:rPr sz="1200" spc="-45"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effects.</a:t>
            </a:r>
            <a:r>
              <a:rPr sz="1200" spc="-15" dirty="0">
                <a:solidFill>
                  <a:schemeClr val="tx1"/>
                </a:solidFill>
                <a:latin typeface="Century Gothic" panose="020B0502020202020204" pitchFamily="34" charset="0"/>
                <a:cs typeface="Arial"/>
              </a:rPr>
              <a:t> </a:t>
            </a:r>
            <a:r>
              <a:rPr sz="1200" spc="-110" dirty="0">
                <a:solidFill>
                  <a:schemeClr val="tx1"/>
                </a:solidFill>
                <a:latin typeface="Century Gothic" panose="020B0502020202020204" pitchFamily="34" charset="0"/>
                <a:cs typeface="Arial"/>
              </a:rPr>
              <a:t>One</a:t>
            </a:r>
            <a:r>
              <a:rPr sz="1200" spc="2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displays</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10"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vault</a:t>
            </a:r>
            <a:r>
              <a:rPr sz="1200" spc="-5" dirty="0">
                <a:solidFill>
                  <a:schemeClr val="tx1"/>
                </a:solidFill>
                <a:latin typeface="Century Gothic" panose="020B0502020202020204" pitchFamily="34" charset="0"/>
                <a:cs typeface="Arial"/>
              </a:rPr>
              <a:t> </a:t>
            </a:r>
            <a:r>
              <a:rPr sz="1200" spc="-70" dirty="0">
                <a:solidFill>
                  <a:schemeClr val="tx1"/>
                </a:solidFill>
                <a:latin typeface="Century Gothic" panose="020B0502020202020204" pitchFamily="34" charset="0"/>
                <a:cs typeface="Arial"/>
              </a:rPr>
              <a:t>accented</a:t>
            </a:r>
            <a:r>
              <a:rPr sz="1200" spc="-1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and</a:t>
            </a:r>
            <a:r>
              <a:rPr sz="1200" spc="-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another</a:t>
            </a:r>
            <a:r>
              <a:rPr sz="1200" spc="-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highlights</a:t>
            </a:r>
            <a:r>
              <a:rPr sz="1200" spc="-10" dirty="0">
                <a:solidFill>
                  <a:schemeClr val="tx1"/>
                </a:solidFill>
                <a:latin typeface="Century Gothic" panose="020B0502020202020204" pitchFamily="34" charset="0"/>
                <a:cs typeface="Arial"/>
              </a:rPr>
              <a:t> the</a:t>
            </a:r>
            <a:r>
              <a:rPr sz="1200" spc="-25" dirty="0">
                <a:solidFill>
                  <a:schemeClr val="tx1"/>
                </a:solidFill>
                <a:latin typeface="Century Gothic" panose="020B0502020202020204" pitchFamily="34" charset="0"/>
                <a:cs typeface="Arial"/>
              </a:rPr>
              <a:t> </a:t>
            </a:r>
            <a:r>
              <a:rPr sz="1200" spc="-30" dirty="0">
                <a:solidFill>
                  <a:schemeClr val="tx1"/>
                </a:solidFill>
                <a:latin typeface="Century Gothic" panose="020B0502020202020204" pitchFamily="34" charset="0"/>
                <a:cs typeface="Arial"/>
              </a:rPr>
              <a:t>hole.</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In </a:t>
            </a:r>
            <a:r>
              <a:rPr sz="1200" dirty="0">
                <a:solidFill>
                  <a:schemeClr val="tx1"/>
                </a:solidFill>
                <a:latin typeface="Century Gothic" panose="020B0502020202020204" pitchFamily="34" charset="0"/>
                <a:cs typeface="Arial"/>
              </a:rPr>
              <a:t>the</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third I</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didn’t</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highlight</a:t>
            </a:r>
            <a:r>
              <a:rPr sz="1200" dirty="0">
                <a:solidFill>
                  <a:schemeClr val="tx1"/>
                </a:solidFill>
                <a:latin typeface="Century Gothic" panose="020B0502020202020204" pitchFamily="34" charset="0"/>
                <a:cs typeface="Arial"/>
              </a:rPr>
              <a:t> the </a:t>
            </a:r>
            <a:r>
              <a:rPr sz="1200" spc="-25" dirty="0">
                <a:solidFill>
                  <a:schemeClr val="tx1"/>
                </a:solidFill>
                <a:latin typeface="Century Gothic" panose="020B0502020202020204" pitchFamily="34" charset="0"/>
                <a:cs typeface="Arial"/>
              </a:rPr>
              <a:t>spatiality</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1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15" dirty="0">
                <a:solidFill>
                  <a:schemeClr val="tx1"/>
                </a:solidFill>
                <a:latin typeface="Century Gothic" panose="020B0502020202020204" pitchFamily="34" charset="0"/>
                <a:cs typeface="Arial"/>
              </a:rPr>
              <a:t> </a:t>
            </a:r>
            <a:r>
              <a:rPr sz="1200" spc="-65" dirty="0">
                <a:solidFill>
                  <a:schemeClr val="tx1"/>
                </a:solidFill>
                <a:latin typeface="Century Gothic" panose="020B0502020202020204" pitchFamily="34" charset="0"/>
                <a:cs typeface="Arial"/>
              </a:rPr>
              <a:t>design</a:t>
            </a:r>
            <a:r>
              <a:rPr sz="1200" spc="-1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but</a:t>
            </a:r>
            <a:r>
              <a:rPr sz="1200" spc="-2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played</a:t>
            </a:r>
            <a:r>
              <a:rPr sz="1200" dirty="0">
                <a:solidFill>
                  <a:schemeClr val="tx1"/>
                </a:solidFill>
                <a:latin typeface="Century Gothic" panose="020B0502020202020204" pitchFamily="34" charset="0"/>
                <a:cs typeface="Arial"/>
              </a:rPr>
              <a:t> with</a:t>
            </a:r>
            <a:r>
              <a:rPr sz="1200" spc="-1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shadows</a:t>
            </a:r>
            <a:r>
              <a:rPr sz="1200" spc="-1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and </a:t>
            </a:r>
            <a:r>
              <a:rPr sz="1200" spc="-10" dirty="0">
                <a:solidFill>
                  <a:schemeClr val="tx1"/>
                </a:solidFill>
                <a:latin typeface="Century Gothic" panose="020B0502020202020204" pitchFamily="34" charset="0"/>
                <a:cs typeface="Arial"/>
              </a:rPr>
              <a:t>light.</a:t>
            </a:r>
            <a:endParaRPr sz="1200" dirty="0">
              <a:solidFill>
                <a:schemeClr val="tx1"/>
              </a:solidFill>
              <a:latin typeface="Century Gothic" panose="020B0502020202020204" pitchFamily="34" charset="0"/>
              <a:cs typeface="Arial"/>
            </a:endParaRPr>
          </a:p>
          <a:p>
            <a:pPr marL="12700" marR="8255" algn="just">
              <a:lnSpc>
                <a:spcPct val="100000"/>
              </a:lnSpc>
              <a:spcBef>
                <a:spcPts val="1200"/>
              </a:spcBef>
            </a:pPr>
            <a:r>
              <a:rPr sz="1200" spc="-100" dirty="0">
                <a:solidFill>
                  <a:schemeClr val="tx1"/>
                </a:solidFill>
                <a:latin typeface="Century Gothic" panose="020B0502020202020204" pitchFamily="34" charset="0"/>
                <a:cs typeface="Arial"/>
              </a:rPr>
              <a:t>The</a:t>
            </a:r>
            <a:r>
              <a:rPr sz="1200" spc="15"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mystifying</a:t>
            </a:r>
            <a:r>
              <a:rPr sz="1200" spc="-4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effect</a:t>
            </a:r>
            <a:r>
              <a:rPr sz="1200" spc="-60" dirty="0">
                <a:solidFill>
                  <a:schemeClr val="tx1"/>
                </a:solidFill>
                <a:latin typeface="Century Gothic" panose="020B0502020202020204" pitchFamily="34" charset="0"/>
                <a:cs typeface="Arial"/>
              </a:rPr>
              <a:t> </a:t>
            </a:r>
            <a:r>
              <a:rPr sz="1200" spc="-95" dirty="0">
                <a:solidFill>
                  <a:schemeClr val="tx1"/>
                </a:solidFill>
                <a:latin typeface="Century Gothic" panose="020B0502020202020204" pitchFamily="34" charset="0"/>
                <a:cs typeface="Arial"/>
              </a:rPr>
              <a:t>caused</a:t>
            </a:r>
            <a:r>
              <a:rPr sz="1200" spc="10" dirty="0">
                <a:solidFill>
                  <a:schemeClr val="tx1"/>
                </a:solidFill>
                <a:latin typeface="Century Gothic" panose="020B0502020202020204" pitchFamily="34" charset="0"/>
                <a:cs typeface="Arial"/>
              </a:rPr>
              <a:t> </a:t>
            </a:r>
            <a:r>
              <a:rPr sz="1200" spc="-50" dirty="0">
                <a:solidFill>
                  <a:schemeClr val="tx1"/>
                </a:solidFill>
                <a:latin typeface="Century Gothic" panose="020B0502020202020204" pitchFamily="34" charset="0"/>
                <a:cs typeface="Arial"/>
              </a:rPr>
              <a:t>by</a:t>
            </a:r>
            <a:r>
              <a:rPr sz="1200" spc="-35" dirty="0">
                <a:solidFill>
                  <a:schemeClr val="tx1"/>
                </a:solidFill>
                <a:latin typeface="Century Gothic" panose="020B0502020202020204" pitchFamily="34" charset="0"/>
                <a:cs typeface="Arial"/>
              </a:rPr>
              <a:t> </a:t>
            </a:r>
            <a:r>
              <a:rPr sz="1200" spc="-85" dirty="0">
                <a:solidFill>
                  <a:schemeClr val="tx1"/>
                </a:solidFill>
                <a:latin typeface="Century Gothic" panose="020B0502020202020204" pitchFamily="34" charset="0"/>
                <a:cs typeface="Arial"/>
              </a:rPr>
              <a:t>my</a:t>
            </a:r>
            <a:r>
              <a:rPr sz="1200" dirty="0">
                <a:solidFill>
                  <a:schemeClr val="tx1"/>
                </a:solidFill>
                <a:latin typeface="Century Gothic" panose="020B0502020202020204" pitchFamily="34" charset="0"/>
                <a:cs typeface="Arial"/>
              </a:rPr>
              <a:t> </a:t>
            </a:r>
            <a:r>
              <a:rPr sz="1200" spc="-55" dirty="0">
                <a:solidFill>
                  <a:schemeClr val="tx1"/>
                </a:solidFill>
                <a:latin typeface="Century Gothic" panose="020B0502020202020204" pitchFamily="34" charset="0"/>
                <a:cs typeface="Arial"/>
              </a:rPr>
              <a:t>graphical</a:t>
            </a:r>
            <a:r>
              <a:rPr sz="1200" spc="-30" dirty="0">
                <a:solidFill>
                  <a:schemeClr val="tx1"/>
                </a:solidFill>
                <a:latin typeface="Century Gothic" panose="020B0502020202020204" pitchFamily="34" charset="0"/>
                <a:cs typeface="Arial"/>
              </a:rPr>
              <a:t> </a:t>
            </a:r>
            <a:r>
              <a:rPr sz="1200" spc="-45" dirty="0">
                <a:solidFill>
                  <a:schemeClr val="tx1"/>
                </a:solidFill>
                <a:latin typeface="Century Gothic" panose="020B0502020202020204" pitchFamily="34" charset="0"/>
                <a:cs typeface="Arial"/>
              </a:rPr>
              <a:t>creations</a:t>
            </a:r>
            <a:r>
              <a:rPr sz="1200" spc="-35"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is</a:t>
            </a:r>
            <a:r>
              <a:rPr sz="1200" spc="-10" dirty="0">
                <a:solidFill>
                  <a:schemeClr val="tx1"/>
                </a:solidFill>
                <a:latin typeface="Century Gothic" panose="020B0502020202020204" pitchFamily="34" charset="0"/>
                <a:cs typeface="Arial"/>
              </a:rPr>
              <a:t> </a:t>
            </a:r>
            <a:r>
              <a:rPr sz="1200" spc="-75" dirty="0">
                <a:solidFill>
                  <a:schemeClr val="tx1"/>
                </a:solidFill>
                <a:latin typeface="Century Gothic" panose="020B0502020202020204" pitchFamily="34" charset="0"/>
                <a:cs typeface="Arial"/>
              </a:rPr>
              <a:t>an</a:t>
            </a:r>
            <a:r>
              <a:rPr sz="1200" spc="-10"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effect</a:t>
            </a:r>
            <a:r>
              <a:rPr sz="1200" spc="-3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in</a:t>
            </a:r>
            <a:r>
              <a:rPr sz="1200" spc="-25"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the</a:t>
            </a:r>
            <a:r>
              <a:rPr sz="1200" spc="-2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art</a:t>
            </a:r>
            <a:r>
              <a:rPr sz="1200" spc="-15" dirty="0">
                <a:solidFill>
                  <a:schemeClr val="tx1"/>
                </a:solidFill>
                <a:latin typeface="Century Gothic" panose="020B0502020202020204" pitchFamily="34" charset="0"/>
                <a:cs typeface="Arial"/>
              </a:rPr>
              <a:t> </a:t>
            </a:r>
            <a:r>
              <a:rPr sz="1200" spc="-40" dirty="0">
                <a:solidFill>
                  <a:schemeClr val="tx1"/>
                </a:solidFill>
                <a:latin typeface="Century Gothic" panose="020B0502020202020204" pitchFamily="34" charset="0"/>
                <a:cs typeface="Arial"/>
              </a:rPr>
              <a:t>style</a:t>
            </a:r>
            <a:r>
              <a:rPr sz="1200" spc="-15" dirty="0">
                <a:solidFill>
                  <a:schemeClr val="tx1"/>
                </a:solidFill>
                <a:latin typeface="Century Gothic" panose="020B0502020202020204" pitchFamily="34" charset="0"/>
                <a:cs typeface="Arial"/>
              </a:rPr>
              <a:t> </a:t>
            </a:r>
            <a:r>
              <a:rPr sz="1200" spc="-25" dirty="0">
                <a:solidFill>
                  <a:schemeClr val="tx1"/>
                </a:solidFill>
                <a:latin typeface="Century Gothic" panose="020B0502020202020204" pitchFamily="34" charset="0"/>
                <a:cs typeface="Arial"/>
              </a:rPr>
              <a:t>of </a:t>
            </a:r>
            <a:r>
              <a:rPr sz="1200" spc="-10" dirty="0">
                <a:solidFill>
                  <a:schemeClr val="tx1"/>
                </a:solidFill>
                <a:latin typeface="Century Gothic" panose="020B0502020202020204" pitchFamily="34" charset="0"/>
                <a:cs typeface="Arial"/>
              </a:rPr>
              <a:t>the</a:t>
            </a:r>
            <a:r>
              <a:rPr sz="1200" spc="-70" dirty="0">
                <a:solidFill>
                  <a:schemeClr val="tx1"/>
                </a:solidFill>
                <a:latin typeface="Century Gothic" panose="020B0502020202020204" pitchFamily="34" charset="0"/>
                <a:cs typeface="Arial"/>
              </a:rPr>
              <a:t> </a:t>
            </a:r>
            <a:r>
              <a:rPr sz="1200" spc="-80" dirty="0">
                <a:solidFill>
                  <a:schemeClr val="tx1"/>
                </a:solidFill>
                <a:latin typeface="Century Gothic" panose="020B0502020202020204" pitchFamily="34" charset="0"/>
                <a:cs typeface="Arial"/>
              </a:rPr>
              <a:t>Op-</a:t>
            </a:r>
            <a:r>
              <a:rPr sz="1200" spc="-20" dirty="0">
                <a:solidFill>
                  <a:schemeClr val="tx1"/>
                </a:solidFill>
                <a:latin typeface="Century Gothic" panose="020B0502020202020204" pitchFamily="34" charset="0"/>
                <a:cs typeface="Arial"/>
              </a:rPr>
              <a:t>Art</a:t>
            </a:r>
            <a:r>
              <a:rPr sz="1200" spc="-60" dirty="0">
                <a:solidFill>
                  <a:schemeClr val="tx1"/>
                </a:solidFill>
                <a:latin typeface="Century Gothic" panose="020B0502020202020204" pitchFamily="34" charset="0"/>
                <a:cs typeface="Arial"/>
              </a:rPr>
              <a:t> </a:t>
            </a:r>
            <a:r>
              <a:rPr sz="1200" dirty="0">
                <a:solidFill>
                  <a:schemeClr val="tx1"/>
                </a:solidFill>
                <a:latin typeface="Century Gothic" panose="020B0502020202020204" pitchFamily="34" charset="0"/>
                <a:cs typeface="Arial"/>
              </a:rPr>
              <a:t>of</a:t>
            </a:r>
            <a:r>
              <a:rPr sz="1200" spc="-4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the</a:t>
            </a:r>
            <a:r>
              <a:rPr sz="1200" spc="-55" dirty="0">
                <a:solidFill>
                  <a:schemeClr val="tx1"/>
                </a:solidFill>
                <a:latin typeface="Century Gothic" panose="020B0502020202020204" pitchFamily="34" charset="0"/>
                <a:cs typeface="Arial"/>
              </a:rPr>
              <a:t> </a:t>
            </a:r>
            <a:r>
              <a:rPr sz="1200" spc="-10" dirty="0">
                <a:solidFill>
                  <a:schemeClr val="tx1"/>
                </a:solidFill>
                <a:latin typeface="Century Gothic" panose="020B0502020202020204" pitchFamily="34" charset="0"/>
                <a:cs typeface="Arial"/>
              </a:rPr>
              <a:t>60ties.</a:t>
            </a:r>
            <a:endParaRPr sz="1200" dirty="0">
              <a:solidFill>
                <a:schemeClr val="tx1"/>
              </a:solidFill>
              <a:latin typeface="Century Gothic" panose="020B0502020202020204" pitchFamily="34" charset="0"/>
              <a:cs typeface="Arial"/>
            </a:endParaRPr>
          </a:p>
        </p:txBody>
      </p:sp>
      <p:grpSp>
        <p:nvGrpSpPr>
          <p:cNvPr id="4" name="object 4"/>
          <p:cNvGrpSpPr/>
          <p:nvPr/>
        </p:nvGrpSpPr>
        <p:grpSpPr>
          <a:xfrm>
            <a:off x="450151" y="1368983"/>
            <a:ext cx="4392930" cy="5868035"/>
            <a:chOff x="450151" y="1368983"/>
            <a:chExt cx="4392930" cy="5868035"/>
          </a:xfrm>
        </p:grpSpPr>
        <p:pic>
          <p:nvPicPr>
            <p:cNvPr id="5" name="object 5"/>
            <p:cNvPicPr/>
            <p:nvPr/>
          </p:nvPicPr>
          <p:blipFill>
            <a:blip r:embed="rId2" cstate="print"/>
            <a:stretch>
              <a:fillRect/>
            </a:stretch>
          </p:blipFill>
          <p:spPr>
            <a:xfrm>
              <a:off x="453351" y="1368983"/>
              <a:ext cx="4389247" cy="5868035"/>
            </a:xfrm>
            <a:prstGeom prst="rect">
              <a:avLst/>
            </a:prstGeom>
          </p:spPr>
        </p:pic>
        <p:pic>
          <p:nvPicPr>
            <p:cNvPr id="6" name="object 6"/>
            <p:cNvPicPr/>
            <p:nvPr/>
          </p:nvPicPr>
          <p:blipFill>
            <a:blip r:embed="rId3" cstate="print"/>
            <a:stretch>
              <a:fillRect/>
            </a:stretch>
          </p:blipFill>
          <p:spPr>
            <a:xfrm>
              <a:off x="2142616" y="4392980"/>
              <a:ext cx="2700020" cy="2700020"/>
            </a:xfrm>
            <a:prstGeom prst="rect">
              <a:avLst/>
            </a:prstGeom>
          </p:spPr>
        </p:pic>
        <p:pic>
          <p:nvPicPr>
            <p:cNvPr id="7" name="object 7"/>
            <p:cNvPicPr/>
            <p:nvPr/>
          </p:nvPicPr>
          <p:blipFill>
            <a:blip r:embed="rId4" cstate="print"/>
            <a:stretch>
              <a:fillRect/>
            </a:stretch>
          </p:blipFill>
          <p:spPr>
            <a:xfrm>
              <a:off x="450151" y="1728724"/>
              <a:ext cx="2700020" cy="2700020"/>
            </a:xfrm>
            <a:prstGeom prst="rect">
              <a:avLst/>
            </a:prstGeom>
          </p:spPr>
        </p:pic>
        <p:sp>
          <p:nvSpPr>
            <p:cNvPr id="8" name="object 8"/>
            <p:cNvSpPr/>
            <p:nvPr/>
          </p:nvSpPr>
          <p:spPr>
            <a:xfrm>
              <a:off x="3509518" y="2627503"/>
              <a:ext cx="369570" cy="384810"/>
            </a:xfrm>
            <a:custGeom>
              <a:avLst/>
              <a:gdLst/>
              <a:ahLst/>
              <a:cxnLst/>
              <a:rect l="l" t="t" r="r" b="b"/>
              <a:pathLst>
                <a:path w="369570" h="384810">
                  <a:moveTo>
                    <a:pt x="17145" y="0"/>
                  </a:moveTo>
                  <a:lnTo>
                    <a:pt x="0" y="254000"/>
                  </a:lnTo>
                  <a:lnTo>
                    <a:pt x="67818" y="194818"/>
                  </a:lnTo>
                  <a:lnTo>
                    <a:pt x="233680" y="384556"/>
                  </a:lnTo>
                  <a:lnTo>
                    <a:pt x="369189" y="266064"/>
                  </a:lnTo>
                  <a:lnTo>
                    <a:pt x="203327" y="76326"/>
                  </a:lnTo>
                  <a:lnTo>
                    <a:pt x="271145" y="17018"/>
                  </a:lnTo>
                  <a:lnTo>
                    <a:pt x="17145" y="0"/>
                  </a:lnTo>
                  <a:close/>
                </a:path>
              </a:pathLst>
            </a:custGeom>
            <a:solidFill>
              <a:srgbClr val="FF0000"/>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362D089F-BDCC-DD43-9F3B-E2C8F4B9CCAF}"/>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3" name="TextBox 12">
            <a:extLst>
              <a:ext uri="{FF2B5EF4-FFF2-40B4-BE49-F238E27FC236}">
                <a16:creationId xmlns:a16="http://schemas.microsoft.com/office/drawing/2014/main" id="{D534FFAD-B3F1-C94C-A8B4-8DBD68BF3345}"/>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4" name="Slide Number Placeholder 14">
            <a:extLst>
              <a:ext uri="{FF2B5EF4-FFF2-40B4-BE49-F238E27FC236}">
                <a16:creationId xmlns:a16="http://schemas.microsoft.com/office/drawing/2014/main" id="{161EC582-3947-FD49-8605-7AF7228E84CD}"/>
              </a:ext>
            </a:extLst>
          </p:cNvPr>
          <p:cNvSpPr txBox="1">
            <a:spLocks/>
          </p:cNvSpPr>
          <p:nvPr/>
        </p:nvSpPr>
        <p:spPr>
          <a:xfrm>
            <a:off x="314431" y="317813"/>
            <a:ext cx="304800"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9</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0151" y="1368983"/>
            <a:ext cx="4403725" cy="5868035"/>
            <a:chOff x="450151" y="1368983"/>
            <a:chExt cx="4403725" cy="5868035"/>
          </a:xfrm>
        </p:grpSpPr>
        <p:pic>
          <p:nvPicPr>
            <p:cNvPr id="4" name="object 4"/>
            <p:cNvPicPr/>
            <p:nvPr/>
          </p:nvPicPr>
          <p:blipFill>
            <a:blip r:embed="rId2" cstate="print"/>
            <a:stretch>
              <a:fillRect/>
            </a:stretch>
          </p:blipFill>
          <p:spPr>
            <a:xfrm>
              <a:off x="450151" y="1368983"/>
              <a:ext cx="4403725" cy="5868035"/>
            </a:xfrm>
            <a:prstGeom prst="rect">
              <a:avLst/>
            </a:prstGeom>
          </p:spPr>
        </p:pic>
        <p:pic>
          <p:nvPicPr>
            <p:cNvPr id="5" name="object 5"/>
            <p:cNvPicPr/>
            <p:nvPr/>
          </p:nvPicPr>
          <p:blipFill>
            <a:blip r:embed="rId3" cstate="print"/>
            <a:stretch>
              <a:fillRect/>
            </a:stretch>
          </p:blipFill>
          <p:spPr>
            <a:xfrm>
              <a:off x="1098232" y="3636594"/>
              <a:ext cx="3240024" cy="3240024"/>
            </a:xfrm>
            <a:prstGeom prst="rect">
              <a:avLst/>
            </a:prstGeom>
          </p:spPr>
        </p:pic>
        <p:sp>
          <p:nvSpPr>
            <p:cNvPr id="6" name="object 6"/>
            <p:cNvSpPr/>
            <p:nvPr/>
          </p:nvSpPr>
          <p:spPr>
            <a:xfrm>
              <a:off x="1433829" y="1717675"/>
              <a:ext cx="426720" cy="354330"/>
            </a:xfrm>
            <a:custGeom>
              <a:avLst/>
              <a:gdLst/>
              <a:ahLst/>
              <a:cxnLst/>
              <a:rect l="l" t="t" r="r" b="b"/>
              <a:pathLst>
                <a:path w="426719" h="354330">
                  <a:moveTo>
                    <a:pt x="80517" y="0"/>
                  </a:moveTo>
                  <a:lnTo>
                    <a:pt x="0" y="161036"/>
                  </a:lnTo>
                  <a:lnTo>
                    <a:pt x="225297" y="273812"/>
                  </a:lnTo>
                  <a:lnTo>
                    <a:pt x="185038" y="354329"/>
                  </a:lnTo>
                  <a:lnTo>
                    <a:pt x="426593" y="273938"/>
                  </a:lnTo>
                  <a:lnTo>
                    <a:pt x="346201" y="32385"/>
                  </a:lnTo>
                  <a:lnTo>
                    <a:pt x="305943" y="112902"/>
                  </a:lnTo>
                  <a:lnTo>
                    <a:pt x="80517"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041900" y="2039708"/>
            <a:ext cx="5443220" cy="5534849"/>
          </a:xfrm>
          <a:prstGeom prst="rect">
            <a:avLst/>
          </a:prstGeom>
        </p:spPr>
        <p:txBody>
          <a:bodyPr vert="horz" wrap="square" lIns="0" tIns="118110" rIns="0" bIns="0" rtlCol="0">
            <a:spAutoFit/>
          </a:bodyPr>
          <a:lstStyle/>
          <a:p>
            <a:pPr marL="76200">
              <a:lnSpc>
                <a:spcPct val="100000"/>
              </a:lnSpc>
              <a:spcBef>
                <a:spcPts val="930"/>
              </a:spcBef>
            </a:pPr>
            <a:r>
              <a:rPr sz="1600" b="1" dirty="0">
                <a:solidFill>
                  <a:schemeClr val="tx1"/>
                </a:solidFill>
                <a:latin typeface="Century Gothic" panose="020B0502020202020204" pitchFamily="34" charset="0"/>
                <a:cs typeface="Arial"/>
              </a:rPr>
              <a:t>West Broadway / Chambers Street</a:t>
            </a:r>
            <a:endParaRPr sz="1600" dirty="0">
              <a:solidFill>
                <a:schemeClr val="tx1"/>
              </a:solidFill>
              <a:latin typeface="Century Gothic" panose="020B0502020202020204" pitchFamily="34" charset="0"/>
              <a:cs typeface="Arial"/>
            </a:endParaRPr>
          </a:p>
          <a:p>
            <a:pPr marL="76200" marR="2450465">
              <a:lnSpc>
                <a:spcPct val="141700"/>
              </a:lnSpc>
              <a:spcBef>
                <a:spcPts val="30"/>
              </a:spcBef>
            </a:pPr>
            <a:r>
              <a:rPr sz="1200" b="1" dirty="0">
                <a:solidFill>
                  <a:schemeClr val="tx1"/>
                </a:solidFill>
                <a:latin typeface="Century Gothic" panose="020B0502020202020204" pitchFamily="34" charset="0"/>
                <a:cs typeface="Arial"/>
              </a:rPr>
              <a:t>DPW – Department of Public Works; Mc Nulty Rubbing June 2000</a:t>
            </a: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76200" marR="68580" algn="just">
              <a:lnSpc>
                <a:spcPct val="100000"/>
              </a:lnSpc>
            </a:pPr>
            <a:r>
              <a:rPr sz="1200" dirty="0">
                <a:solidFill>
                  <a:schemeClr val="tx1"/>
                </a:solidFill>
                <a:latin typeface="Century Gothic" panose="020B0502020202020204" pitchFamily="34" charset="0"/>
                <a:cs typeface="Arial"/>
              </a:rPr>
              <a:t>There are many covers of the type »Department of Public Works« within the City, all of them in the form of a cartwheel, but with different inscriptions. This one has embossed spokes and rings, informing us about the foundry and the date of the patent: (McNulty, Jan. 30</a:t>
            </a:r>
            <a:r>
              <a:rPr sz="1200" baseline="24305" dirty="0">
                <a:solidFill>
                  <a:schemeClr val="tx1"/>
                </a:solidFill>
                <a:latin typeface="Century Gothic" panose="020B0502020202020204" pitchFamily="34" charset="0"/>
                <a:cs typeface="Arial"/>
              </a:rPr>
              <a:t>th</a:t>
            </a:r>
            <a:r>
              <a:rPr sz="1200" dirty="0">
                <a:solidFill>
                  <a:schemeClr val="tx1"/>
                </a:solidFill>
                <a:latin typeface="Century Gothic" panose="020B0502020202020204" pitchFamily="34" charset="0"/>
                <a:cs typeface="Arial"/>
              </a:rPr>
              <a:t>, 1912). I liked inscriptions with such information due to the fact that I did not have to research it arduously in libraries as I had to with others.</a:t>
            </a:r>
          </a:p>
          <a:p>
            <a:pPr marL="76200" marR="69215" algn="just">
              <a:lnSpc>
                <a:spcPct val="100000"/>
              </a:lnSpc>
              <a:spcBef>
                <a:spcPts val="1200"/>
              </a:spcBef>
            </a:pPr>
            <a:r>
              <a:rPr sz="1200" dirty="0">
                <a:solidFill>
                  <a:schemeClr val="tx1"/>
                </a:solidFill>
                <a:latin typeface="Century Gothic" panose="020B0502020202020204" pitchFamily="34" charset="0"/>
                <a:cs typeface="Arial"/>
              </a:rPr>
              <a:t>This, I write despite the fact that visiting the fabulous library at the corner of 5</a:t>
            </a:r>
            <a:r>
              <a:rPr sz="1200" baseline="24305" dirty="0">
                <a:solidFill>
                  <a:schemeClr val="tx1"/>
                </a:solidFill>
                <a:latin typeface="Century Gothic" panose="020B0502020202020204" pitchFamily="34" charset="0"/>
                <a:cs typeface="Arial"/>
              </a:rPr>
              <a:t>th </a:t>
            </a:r>
            <a:r>
              <a:rPr sz="1200" dirty="0">
                <a:solidFill>
                  <a:schemeClr val="tx1"/>
                </a:solidFill>
                <a:latin typeface="Century Gothic" panose="020B0502020202020204" pitchFamily="34" charset="0"/>
                <a:cs typeface="Arial"/>
              </a:rPr>
              <a:t>Ave. and 42</a:t>
            </a:r>
            <a:r>
              <a:rPr sz="1200" baseline="24305" dirty="0">
                <a:solidFill>
                  <a:schemeClr val="tx1"/>
                </a:solidFill>
                <a:latin typeface="Century Gothic" panose="020B0502020202020204" pitchFamily="34" charset="0"/>
                <a:cs typeface="Arial"/>
              </a:rPr>
              <a:t>nd </a:t>
            </a:r>
            <a:r>
              <a:rPr sz="1200" dirty="0">
                <a:solidFill>
                  <a:schemeClr val="tx1"/>
                </a:solidFill>
                <a:latin typeface="Century Gothic" panose="020B0502020202020204" pitchFamily="34" charset="0"/>
                <a:cs typeface="Arial"/>
              </a:rPr>
              <a:t>St. was like participating in a celebration for me (especially on hot days when we had 90° F and more) due to the librarians friendly and quick service and the informative answers to my many questions.</a:t>
            </a:r>
          </a:p>
          <a:p>
            <a:pPr marL="76200" marR="68580" algn="just">
              <a:lnSpc>
                <a:spcPct val="100000"/>
              </a:lnSpc>
              <a:spcBef>
                <a:spcPts val="1205"/>
              </a:spcBef>
            </a:pPr>
            <a:r>
              <a:rPr sz="1200" dirty="0">
                <a:solidFill>
                  <a:schemeClr val="tx1"/>
                </a:solidFill>
                <a:latin typeface="Century Gothic" panose="020B0502020202020204" pitchFamily="34" charset="0"/>
                <a:cs typeface="Arial"/>
              </a:rPr>
              <a:t>I started early into my days in New York to be able to work undisturbed and not disturbing the purposeful flow of New Yorkers. I was walking the roads rather tired, nowhere meeting people »running for their lives« – with the sole exception of Chinatown – but finding plenty of people sleeping in doorways. On most days I had a nice and well-earned breakfast after completing two rubbings.</a:t>
            </a:r>
          </a:p>
          <a:p>
            <a:pPr marL="76200" marR="68580" algn="just">
              <a:lnSpc>
                <a:spcPct val="100000"/>
              </a:lnSpc>
              <a:spcBef>
                <a:spcPts val="495"/>
              </a:spcBef>
            </a:pPr>
            <a:r>
              <a:rPr sz="1200" dirty="0">
                <a:solidFill>
                  <a:schemeClr val="tx1"/>
                </a:solidFill>
                <a:latin typeface="Century Gothic" panose="020B0502020202020204" pitchFamily="34" charset="0"/>
                <a:cs typeface="Arial"/>
              </a:rPr>
              <a:t>I went to one of those practical and homey coffee carts with steaming coffee and warm bagels mostly located next to a subway station where I meet crowds of people on their way to their workplaces. They were all gone by 07:30 a.m. – what a feast for early birds!</a:t>
            </a:r>
          </a:p>
        </p:txBody>
      </p:sp>
      <p:sp>
        <p:nvSpPr>
          <p:cNvPr id="10" name="TextBox 9">
            <a:extLst>
              <a:ext uri="{FF2B5EF4-FFF2-40B4-BE49-F238E27FC236}">
                <a16:creationId xmlns:a16="http://schemas.microsoft.com/office/drawing/2014/main" id="{F2C9CD41-08D6-2E42-B4B5-1A02DA62B3DE}"/>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F56D6F4E-F260-E543-9193-62C3049313BF}"/>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80E848F6-F173-154B-BBA6-2AC244E95B2A}"/>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10</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34733" y="1368983"/>
            <a:ext cx="4407916" cy="5868035"/>
            <a:chOff x="434733" y="1368983"/>
            <a:chExt cx="4407916" cy="5868035"/>
          </a:xfrm>
        </p:grpSpPr>
        <p:pic>
          <p:nvPicPr>
            <p:cNvPr id="4" name="object 4"/>
            <p:cNvPicPr/>
            <p:nvPr/>
          </p:nvPicPr>
          <p:blipFill>
            <a:blip r:embed="rId2" cstate="print"/>
            <a:stretch>
              <a:fillRect/>
            </a:stretch>
          </p:blipFill>
          <p:spPr>
            <a:xfrm>
              <a:off x="434733" y="1368983"/>
              <a:ext cx="4407916" cy="5868035"/>
            </a:xfrm>
            <a:prstGeom prst="rect">
              <a:avLst/>
            </a:prstGeom>
          </p:spPr>
        </p:pic>
        <p:pic>
          <p:nvPicPr>
            <p:cNvPr id="5" name="object 5"/>
            <p:cNvPicPr/>
            <p:nvPr/>
          </p:nvPicPr>
          <p:blipFill>
            <a:blip r:embed="rId3" cstate="print"/>
            <a:stretch>
              <a:fillRect/>
            </a:stretch>
          </p:blipFill>
          <p:spPr>
            <a:xfrm>
              <a:off x="1458595" y="3132899"/>
              <a:ext cx="3240024" cy="3240024"/>
            </a:xfrm>
            <a:prstGeom prst="rect">
              <a:avLst/>
            </a:prstGeom>
          </p:spPr>
        </p:pic>
        <p:sp>
          <p:nvSpPr>
            <p:cNvPr id="6" name="object 6"/>
            <p:cNvSpPr/>
            <p:nvPr/>
          </p:nvSpPr>
          <p:spPr>
            <a:xfrm>
              <a:off x="1557273" y="2098675"/>
              <a:ext cx="364490" cy="410845"/>
            </a:xfrm>
            <a:custGeom>
              <a:avLst/>
              <a:gdLst/>
              <a:ahLst/>
              <a:cxnLst/>
              <a:rect l="l" t="t" r="r" b="b"/>
              <a:pathLst>
                <a:path w="364489" h="410844">
                  <a:moveTo>
                    <a:pt x="51942" y="0"/>
                  </a:moveTo>
                  <a:lnTo>
                    <a:pt x="0" y="249300"/>
                  </a:lnTo>
                  <a:lnTo>
                    <a:pt x="75311" y="200025"/>
                  </a:lnTo>
                  <a:lnTo>
                    <a:pt x="213359" y="410844"/>
                  </a:lnTo>
                  <a:lnTo>
                    <a:pt x="363981" y="312165"/>
                  </a:lnTo>
                  <a:lnTo>
                    <a:pt x="225932" y="101346"/>
                  </a:lnTo>
                  <a:lnTo>
                    <a:pt x="301117" y="51942"/>
                  </a:lnTo>
                  <a:lnTo>
                    <a:pt x="51942"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118100" y="2028825"/>
            <a:ext cx="5410200" cy="5479064"/>
          </a:xfrm>
          <a:prstGeom prst="rect">
            <a:avLst/>
          </a:prstGeom>
        </p:spPr>
        <p:txBody>
          <a:bodyPr vert="horz" wrap="square" lIns="0" tIns="118110" rIns="0" bIns="0" rtlCol="0">
            <a:spAutoFit/>
          </a:bodyPr>
          <a:lstStyle/>
          <a:p>
            <a:pPr marL="12700">
              <a:lnSpc>
                <a:spcPct val="100000"/>
              </a:lnSpc>
              <a:spcBef>
                <a:spcPts val="930"/>
              </a:spcBef>
            </a:pPr>
            <a:r>
              <a:rPr sz="1600" b="1" dirty="0">
                <a:solidFill>
                  <a:schemeClr val="tx1"/>
                </a:solidFill>
                <a:latin typeface="Century Gothic" panose="020B0502020202020204" pitchFamily="34" charset="0"/>
                <a:cs typeface="Arial"/>
              </a:rPr>
              <a:t>21 Charlton Street</a:t>
            </a:r>
            <a:endParaRPr sz="1600" dirty="0">
              <a:solidFill>
                <a:schemeClr val="tx1"/>
              </a:solidFill>
              <a:latin typeface="Century Gothic" panose="020B0502020202020204" pitchFamily="34" charset="0"/>
              <a:cs typeface="Arial"/>
            </a:endParaRPr>
          </a:p>
          <a:p>
            <a:pPr marL="12700" marR="3629660">
              <a:lnSpc>
                <a:spcPct val="141700"/>
              </a:lnSpc>
              <a:spcBef>
                <a:spcPts val="30"/>
              </a:spcBef>
            </a:pPr>
            <a:r>
              <a:rPr sz="1200" b="1" dirty="0">
                <a:solidFill>
                  <a:schemeClr val="tx1"/>
                </a:solidFill>
                <a:latin typeface="Century Gothic" panose="020B0502020202020204" pitchFamily="34" charset="0"/>
                <a:cs typeface="Arial"/>
              </a:rPr>
              <a:t>Cornell‘s Iron Works; 1845 Rubbing October 2001</a:t>
            </a: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12700" marR="5080" algn="just">
              <a:lnSpc>
                <a:spcPct val="100000"/>
              </a:lnSpc>
            </a:pPr>
            <a:r>
              <a:rPr sz="1200" dirty="0">
                <a:solidFill>
                  <a:schemeClr val="tx1"/>
                </a:solidFill>
                <a:latin typeface="Century Gothic" panose="020B0502020202020204" pitchFamily="34" charset="0"/>
                <a:cs typeface="Arial"/>
              </a:rPr>
              <a:t>As it happened, by pure chance I found another cover from Cornell’s foundry (see no. 01, Henry St.). This one displays a wonderful flower image pattern. I found it in a nice street with brownstone houses in SoHo quite close to one of the houses on the sidewalk. It displays the same address as the cover from no. 90, Henry St. in Brooklyn: 141 &amp; 143 Centre Street. Cornell’s foundry was erected in 1840 close to Charlton Street and this coal chute cover most likely was one of the first ones installed in the </a:t>
            </a:r>
            <a:r>
              <a:rPr sz="1200" dirty="0" err="1">
                <a:solidFill>
                  <a:schemeClr val="tx1"/>
                </a:solidFill>
                <a:latin typeface="Century Gothic" panose="020B0502020202020204" pitchFamily="34" charset="0"/>
                <a:cs typeface="Arial"/>
              </a:rPr>
              <a:t>neighbourhood</a:t>
            </a:r>
            <a:r>
              <a:rPr sz="1200" dirty="0">
                <a:solidFill>
                  <a:schemeClr val="tx1"/>
                </a:solidFill>
                <a:latin typeface="Century Gothic" panose="020B0502020202020204" pitchFamily="34" charset="0"/>
                <a:cs typeface="Arial"/>
              </a:rPr>
              <a:t>.</a:t>
            </a:r>
          </a:p>
          <a:p>
            <a:pPr marL="12700" marR="5715" algn="just">
              <a:lnSpc>
                <a:spcPct val="100000"/>
              </a:lnSpc>
              <a:spcBef>
                <a:spcPts val="1200"/>
              </a:spcBef>
            </a:pPr>
            <a:r>
              <a:rPr sz="1200" dirty="0">
                <a:solidFill>
                  <a:schemeClr val="tx1"/>
                </a:solidFill>
                <a:latin typeface="Century Gothic" panose="020B0502020202020204" pitchFamily="34" charset="0"/>
                <a:cs typeface="Arial"/>
              </a:rPr>
              <a:t>Cornell produced a wide array of ironwork. The family-owned-company was one of the important foundries that established the Cast-Iron Historic District now known as SoHo and TriBeCa.</a:t>
            </a:r>
          </a:p>
          <a:p>
            <a:pPr marL="12700" marR="5715" algn="just">
              <a:lnSpc>
                <a:spcPct val="100000"/>
              </a:lnSpc>
              <a:spcBef>
                <a:spcPts val="1205"/>
              </a:spcBef>
            </a:pPr>
            <a:r>
              <a:rPr sz="1200" dirty="0">
                <a:solidFill>
                  <a:schemeClr val="tx1"/>
                </a:solidFill>
                <a:latin typeface="Century Gothic" panose="020B0502020202020204" pitchFamily="34" charset="0"/>
                <a:cs typeface="Arial"/>
              </a:rPr>
              <a:t>I made the rubbing in October 2001 – only one month after 9/11 – mostly I tried to work early in the morning: it was hard to work because of darkness, rain and wind! Like everybody on the street in those post-9/11 days, I had to wear a dust mask.</a:t>
            </a:r>
          </a:p>
          <a:p>
            <a:pPr marL="12700" marR="6350" algn="just">
              <a:lnSpc>
                <a:spcPct val="100000"/>
              </a:lnSpc>
              <a:spcBef>
                <a:spcPts val="900"/>
              </a:spcBef>
            </a:pPr>
            <a:r>
              <a:rPr sz="1200" dirty="0">
                <a:solidFill>
                  <a:schemeClr val="tx1"/>
                </a:solidFill>
                <a:latin typeface="Century Gothic" panose="020B0502020202020204" pitchFamily="34" charset="0"/>
                <a:cs typeface="Arial"/>
              </a:rPr>
              <a:t>In The New York Chronicle </a:t>
            </a:r>
            <a:r>
              <a:rPr sz="1200" dirty="0" err="1">
                <a:solidFill>
                  <a:schemeClr val="tx1"/>
                </a:solidFill>
                <a:latin typeface="Century Gothic" panose="020B0502020202020204" pitchFamily="34" charset="0"/>
                <a:cs typeface="Arial"/>
              </a:rPr>
              <a:t>Nr</a:t>
            </a:r>
            <a:r>
              <a:rPr sz="1200" dirty="0">
                <a:solidFill>
                  <a:schemeClr val="tx1"/>
                </a:solidFill>
                <a:latin typeface="Century Gothic" panose="020B0502020202020204" pitchFamily="34" charset="0"/>
                <a:cs typeface="Arial"/>
              </a:rPr>
              <a:t> 3,1999, Diana Stuart wrote an article on »covers almost lost« and mentioned that “this beautiful coal chute cover [with an identical decor which] once adorned a Manhattan sidewalk is now part of the </a:t>
            </a:r>
            <a:r>
              <a:rPr sz="1200" dirty="0" err="1">
                <a:solidFill>
                  <a:schemeClr val="tx1"/>
                </a:solidFill>
                <a:latin typeface="Century Gothic" panose="020B0502020202020204" pitchFamily="34" charset="0"/>
                <a:cs typeface="Arial"/>
              </a:rPr>
              <a:t>Cohill</a:t>
            </a:r>
            <a:r>
              <a:rPr sz="1200" dirty="0">
                <a:solidFill>
                  <a:schemeClr val="tx1"/>
                </a:solidFill>
                <a:latin typeface="Century Gothic" panose="020B0502020202020204" pitchFamily="34" charset="0"/>
                <a:cs typeface="Arial"/>
              </a:rPr>
              <a:t> family’s patio” (a private collection of old manhole covers).</a:t>
            </a:r>
          </a:p>
        </p:txBody>
      </p:sp>
      <p:sp>
        <p:nvSpPr>
          <p:cNvPr id="10" name="TextBox 9">
            <a:extLst>
              <a:ext uri="{FF2B5EF4-FFF2-40B4-BE49-F238E27FC236}">
                <a16:creationId xmlns:a16="http://schemas.microsoft.com/office/drawing/2014/main" id="{7362D7B0-7F7A-0A47-A344-BDCFC316C85B}"/>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B686F30D-BE8B-5C41-A159-89EE6FFFFBDC}"/>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80F3E33E-3E21-EA41-B3F8-D2CC2BDFD6B6}"/>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11</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1281" y="1368983"/>
            <a:ext cx="4391406" cy="5868035"/>
            <a:chOff x="451281" y="1368983"/>
            <a:chExt cx="4391406" cy="5868035"/>
          </a:xfrm>
        </p:grpSpPr>
        <p:pic>
          <p:nvPicPr>
            <p:cNvPr id="4" name="object 4"/>
            <p:cNvPicPr/>
            <p:nvPr/>
          </p:nvPicPr>
          <p:blipFill>
            <a:blip r:embed="rId2" cstate="print"/>
            <a:stretch>
              <a:fillRect/>
            </a:stretch>
          </p:blipFill>
          <p:spPr>
            <a:xfrm>
              <a:off x="451281" y="1368983"/>
              <a:ext cx="4391406" cy="5868035"/>
            </a:xfrm>
            <a:prstGeom prst="rect">
              <a:avLst/>
            </a:prstGeom>
          </p:spPr>
        </p:pic>
        <p:pic>
          <p:nvPicPr>
            <p:cNvPr id="5" name="object 5"/>
            <p:cNvPicPr/>
            <p:nvPr/>
          </p:nvPicPr>
          <p:blipFill>
            <a:blip r:embed="rId3" cstate="print"/>
            <a:stretch>
              <a:fillRect/>
            </a:stretch>
          </p:blipFill>
          <p:spPr>
            <a:xfrm>
              <a:off x="666178" y="2700528"/>
              <a:ext cx="3240024" cy="3240024"/>
            </a:xfrm>
            <a:prstGeom prst="rect">
              <a:avLst/>
            </a:prstGeom>
          </p:spPr>
        </p:pic>
        <p:sp>
          <p:nvSpPr>
            <p:cNvPr id="6" name="object 6"/>
            <p:cNvSpPr/>
            <p:nvPr/>
          </p:nvSpPr>
          <p:spPr>
            <a:xfrm>
              <a:off x="3572890" y="1586738"/>
              <a:ext cx="436880" cy="339725"/>
            </a:xfrm>
            <a:custGeom>
              <a:avLst/>
              <a:gdLst/>
              <a:ahLst/>
              <a:cxnLst/>
              <a:rect l="l" t="t" r="r" b="b"/>
              <a:pathLst>
                <a:path w="436879" h="339725">
                  <a:moveTo>
                    <a:pt x="375666" y="0"/>
                  </a:moveTo>
                  <a:lnTo>
                    <a:pt x="138684" y="85725"/>
                  </a:lnTo>
                  <a:lnTo>
                    <a:pt x="108076" y="1015"/>
                  </a:lnTo>
                  <a:lnTo>
                    <a:pt x="0" y="231521"/>
                  </a:lnTo>
                  <a:lnTo>
                    <a:pt x="230378" y="339598"/>
                  </a:lnTo>
                  <a:lnTo>
                    <a:pt x="199898" y="255015"/>
                  </a:lnTo>
                  <a:lnTo>
                    <a:pt x="436880" y="169290"/>
                  </a:lnTo>
                  <a:lnTo>
                    <a:pt x="375666"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118100" y="2039708"/>
            <a:ext cx="5316855" cy="5070619"/>
          </a:xfrm>
          <a:prstGeom prst="rect">
            <a:avLst/>
          </a:prstGeom>
        </p:spPr>
        <p:txBody>
          <a:bodyPr vert="horz" wrap="square" lIns="0" tIns="118110" rIns="0" bIns="0" rtlCol="0">
            <a:spAutoFit/>
          </a:bodyPr>
          <a:lstStyle/>
          <a:p>
            <a:pPr marL="12700">
              <a:lnSpc>
                <a:spcPct val="100000"/>
              </a:lnSpc>
              <a:spcBef>
                <a:spcPts val="930"/>
              </a:spcBef>
            </a:pPr>
            <a:r>
              <a:rPr sz="1600" b="1" dirty="0">
                <a:solidFill>
                  <a:schemeClr val="tx1"/>
                </a:solidFill>
                <a:latin typeface="Century Gothic" panose="020B0502020202020204" pitchFamily="34" charset="0"/>
                <a:cs typeface="Arial"/>
              </a:rPr>
              <a:t>19 Charlton Street</a:t>
            </a:r>
            <a:endParaRPr sz="1600" dirty="0">
              <a:solidFill>
                <a:schemeClr val="tx1"/>
              </a:solidFill>
              <a:latin typeface="Century Gothic" panose="020B0502020202020204" pitchFamily="34" charset="0"/>
              <a:cs typeface="Arial"/>
            </a:endParaRPr>
          </a:p>
          <a:p>
            <a:pPr marL="12700" marR="2345055">
              <a:lnSpc>
                <a:spcPct val="141700"/>
              </a:lnSpc>
              <a:spcBef>
                <a:spcPts val="30"/>
              </a:spcBef>
            </a:pPr>
            <a:r>
              <a:rPr sz="1200" b="1" dirty="0">
                <a:solidFill>
                  <a:schemeClr val="tx1"/>
                </a:solidFill>
                <a:latin typeface="Century Gothic" panose="020B0502020202020204" pitchFamily="34" charset="0"/>
                <a:cs typeface="Arial"/>
              </a:rPr>
              <a:t>1845 N.Y.F.H. Grosz (foundry), coal chute-cover Rubbing October 2001</a:t>
            </a:r>
            <a:endParaRPr sz="1200" dirty="0">
              <a:solidFill>
                <a:schemeClr val="tx1"/>
              </a:solidFill>
              <a:latin typeface="Century Gothic" panose="020B0502020202020204" pitchFamily="34" charset="0"/>
              <a:cs typeface="Arial"/>
            </a:endParaRPr>
          </a:p>
          <a:p>
            <a:pPr>
              <a:lnSpc>
                <a:spcPct val="100000"/>
              </a:lnSpc>
            </a:pP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12700" marR="5080" algn="just">
              <a:lnSpc>
                <a:spcPct val="100000"/>
              </a:lnSpc>
            </a:pPr>
            <a:r>
              <a:rPr sz="1200" dirty="0">
                <a:solidFill>
                  <a:schemeClr val="tx1"/>
                </a:solidFill>
                <a:latin typeface="Century Gothic" panose="020B0502020202020204" pitchFamily="34" charset="0"/>
                <a:cs typeface="Arial"/>
              </a:rPr>
              <a:t>Next to the beautiful coal chute cover just described was another, very similar cover with a large flower in the middle and very decorative elements in concentric designed abstract ornaments. This one was made in 1845 by another famous foundry in the historic district of SoHo: N.Y.F.H. Grosz in 45 Greene Street.</a:t>
            </a:r>
          </a:p>
          <a:p>
            <a:pPr marL="12700" marR="5080" algn="just">
              <a:lnSpc>
                <a:spcPct val="100000"/>
              </a:lnSpc>
              <a:spcBef>
                <a:spcPts val="1200"/>
              </a:spcBef>
            </a:pPr>
            <a:r>
              <a:rPr sz="1200" dirty="0">
                <a:solidFill>
                  <a:schemeClr val="tx1"/>
                </a:solidFill>
                <a:latin typeface="Century Gothic" panose="020B0502020202020204" pitchFamily="34" charset="0"/>
                <a:cs typeface="Arial"/>
              </a:rPr>
              <a:t>Because it looked so private, I asked the house owner for permission to make a rubbing of his coal chute cover and we had a nice informative discussion about its former function: feeding the coal into the cellar underneath. He remembered as a child seeing the coal chute in action. He enjoyed learning about my project land liked my rubbing because he knew the value of this precious object and the possibility it could be stolen like other particularly old ones. He promised to keep an eye on it.</a:t>
            </a:r>
          </a:p>
          <a:p>
            <a:pPr marL="12700" marR="5715" algn="just">
              <a:lnSpc>
                <a:spcPct val="100000"/>
              </a:lnSpc>
              <a:spcBef>
                <a:spcPts val="1205"/>
              </a:spcBef>
            </a:pPr>
            <a:r>
              <a:rPr sz="1200" dirty="0">
                <a:solidFill>
                  <a:schemeClr val="tx1"/>
                </a:solidFill>
                <a:latin typeface="Century Gothic" panose="020B0502020202020204" pitchFamily="34" charset="0"/>
                <a:cs typeface="Arial"/>
              </a:rPr>
              <a:t>The year after, when I came back to look after my favorite covers, Nr. 19 Charlton Street was stolen. It was done in a »cloak-and-dagger operation«. No one had noticed it missing it seems. The chute now is closed with cement.</a:t>
            </a:r>
          </a:p>
          <a:p>
            <a:pPr marL="12700" algn="just">
              <a:lnSpc>
                <a:spcPct val="100000"/>
              </a:lnSpc>
              <a:spcBef>
                <a:spcPts val="1200"/>
              </a:spcBef>
            </a:pPr>
            <a:r>
              <a:rPr sz="1200" dirty="0">
                <a:solidFill>
                  <a:schemeClr val="tx1"/>
                </a:solidFill>
                <a:latin typeface="Century Gothic" panose="020B0502020202020204" pitchFamily="34" charset="0"/>
                <a:cs typeface="Arial"/>
              </a:rPr>
              <a:t>There are many collectors of iron covers and many thieves.</a:t>
            </a:r>
          </a:p>
        </p:txBody>
      </p:sp>
      <p:sp>
        <p:nvSpPr>
          <p:cNvPr id="10" name="TextBox 9">
            <a:extLst>
              <a:ext uri="{FF2B5EF4-FFF2-40B4-BE49-F238E27FC236}">
                <a16:creationId xmlns:a16="http://schemas.microsoft.com/office/drawing/2014/main" id="{CCB4267E-8074-2B45-8F49-DDB08471B171}"/>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79402B58-DDEB-0A44-BBD8-32BEDB33B113}"/>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3156D075-360F-3F48-A77D-8A74F05D31E4}"/>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12</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485" y="1368983"/>
            <a:ext cx="4414139" cy="5868035"/>
            <a:chOff x="428485" y="1368983"/>
            <a:chExt cx="4414139" cy="5868035"/>
          </a:xfrm>
        </p:grpSpPr>
        <p:pic>
          <p:nvPicPr>
            <p:cNvPr id="4" name="object 4"/>
            <p:cNvPicPr/>
            <p:nvPr/>
          </p:nvPicPr>
          <p:blipFill>
            <a:blip r:embed="rId2" cstate="print"/>
            <a:stretch>
              <a:fillRect/>
            </a:stretch>
          </p:blipFill>
          <p:spPr>
            <a:xfrm>
              <a:off x="428485" y="1368983"/>
              <a:ext cx="4414139" cy="5868035"/>
            </a:xfrm>
            <a:prstGeom prst="rect">
              <a:avLst/>
            </a:prstGeom>
          </p:spPr>
        </p:pic>
        <p:pic>
          <p:nvPicPr>
            <p:cNvPr id="5" name="object 5"/>
            <p:cNvPicPr/>
            <p:nvPr/>
          </p:nvPicPr>
          <p:blipFill>
            <a:blip r:embed="rId3" cstate="print"/>
            <a:stretch>
              <a:fillRect/>
            </a:stretch>
          </p:blipFill>
          <p:spPr>
            <a:xfrm>
              <a:off x="1170241" y="3276549"/>
              <a:ext cx="3240024" cy="3240024"/>
            </a:xfrm>
            <a:prstGeom prst="rect">
              <a:avLst/>
            </a:prstGeom>
          </p:spPr>
        </p:pic>
        <p:sp>
          <p:nvSpPr>
            <p:cNvPr id="6" name="object 6"/>
            <p:cNvSpPr/>
            <p:nvPr/>
          </p:nvSpPr>
          <p:spPr>
            <a:xfrm>
              <a:off x="1756664" y="1800352"/>
              <a:ext cx="348615" cy="441325"/>
            </a:xfrm>
            <a:custGeom>
              <a:avLst/>
              <a:gdLst/>
              <a:ahLst/>
              <a:cxnLst/>
              <a:rect l="l" t="t" r="r" b="b"/>
              <a:pathLst>
                <a:path w="348614" h="441325">
                  <a:moveTo>
                    <a:pt x="198500" y="0"/>
                  </a:moveTo>
                  <a:lnTo>
                    <a:pt x="24256" y="45085"/>
                  </a:lnTo>
                  <a:lnTo>
                    <a:pt x="87249" y="289051"/>
                  </a:lnTo>
                  <a:lnTo>
                    <a:pt x="0" y="311531"/>
                  </a:lnTo>
                  <a:lnTo>
                    <a:pt x="219329" y="440944"/>
                  </a:lnTo>
                  <a:lnTo>
                    <a:pt x="348615" y="221614"/>
                  </a:lnTo>
                  <a:lnTo>
                    <a:pt x="261493" y="244094"/>
                  </a:lnTo>
                  <a:lnTo>
                    <a:pt x="198500"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118100" y="2039708"/>
            <a:ext cx="5318125" cy="5069336"/>
          </a:xfrm>
          <a:prstGeom prst="rect">
            <a:avLst/>
          </a:prstGeom>
        </p:spPr>
        <p:txBody>
          <a:bodyPr vert="horz" wrap="square" lIns="0" tIns="118110" rIns="0" bIns="0" rtlCol="0">
            <a:spAutoFit/>
          </a:bodyPr>
          <a:lstStyle/>
          <a:p>
            <a:pPr marL="12700">
              <a:lnSpc>
                <a:spcPct val="100000"/>
              </a:lnSpc>
              <a:spcBef>
                <a:spcPts val="930"/>
              </a:spcBef>
            </a:pPr>
            <a:r>
              <a:rPr sz="1600" b="1" dirty="0">
                <a:solidFill>
                  <a:schemeClr val="tx1"/>
                </a:solidFill>
                <a:latin typeface="Century Gothic" panose="020B0502020202020204" pitchFamily="34" charset="0"/>
                <a:cs typeface="Arial"/>
              </a:rPr>
              <a:t>West Broadway / Greenwich Street</a:t>
            </a:r>
            <a:endParaRPr sz="1600" dirty="0">
              <a:solidFill>
                <a:schemeClr val="tx1"/>
              </a:solidFill>
              <a:latin typeface="Century Gothic" panose="020B0502020202020204" pitchFamily="34" charset="0"/>
              <a:cs typeface="Arial"/>
            </a:endParaRPr>
          </a:p>
          <a:p>
            <a:pPr marL="12700">
              <a:lnSpc>
                <a:spcPct val="100000"/>
              </a:lnSpc>
              <a:spcBef>
                <a:spcPts val="630"/>
              </a:spcBef>
            </a:pPr>
            <a:r>
              <a:rPr sz="1200" b="1" dirty="0">
                <a:solidFill>
                  <a:schemeClr val="tx1"/>
                </a:solidFill>
                <a:latin typeface="Century Gothic" panose="020B0502020202020204" pitchFamily="34" charset="0"/>
                <a:cs typeface="Arial"/>
              </a:rPr>
              <a:t>Con Edison; 1929</a:t>
            </a:r>
            <a:endParaRPr sz="1200" dirty="0">
              <a:solidFill>
                <a:schemeClr val="tx1"/>
              </a:solidFill>
              <a:latin typeface="Century Gothic" panose="020B0502020202020204" pitchFamily="34" charset="0"/>
              <a:cs typeface="Arial"/>
            </a:endParaRPr>
          </a:p>
          <a:p>
            <a:pPr marL="12700">
              <a:lnSpc>
                <a:spcPct val="100000"/>
              </a:lnSpc>
              <a:spcBef>
                <a:spcPts val="600"/>
              </a:spcBef>
            </a:pPr>
            <a:r>
              <a:rPr sz="1200" b="1" dirty="0">
                <a:solidFill>
                  <a:schemeClr val="tx1"/>
                </a:solidFill>
                <a:latin typeface="Century Gothic" panose="020B0502020202020204" pitchFamily="34" charset="0"/>
                <a:cs typeface="Arial"/>
              </a:rPr>
              <a:t>Rubbing May 2000</a:t>
            </a:r>
            <a:endParaRPr sz="1200" dirty="0">
              <a:solidFill>
                <a:schemeClr val="tx1"/>
              </a:solidFill>
              <a:latin typeface="Century Gothic" panose="020B0502020202020204" pitchFamily="34" charset="0"/>
              <a:cs typeface="Arial"/>
            </a:endParaRPr>
          </a:p>
          <a:p>
            <a:pPr>
              <a:lnSpc>
                <a:spcPct val="100000"/>
              </a:lnSpc>
            </a:pP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12700" marR="6350" algn="just">
              <a:lnSpc>
                <a:spcPct val="100000"/>
              </a:lnSpc>
            </a:pPr>
            <a:r>
              <a:rPr sz="1200" dirty="0">
                <a:solidFill>
                  <a:schemeClr val="tx1"/>
                </a:solidFill>
                <a:latin typeface="Century Gothic" panose="020B0502020202020204" pitchFamily="34" charset="0"/>
                <a:cs typeface="Arial"/>
              </a:rPr>
              <a:t>Where I found this big manhole cover for Con Edison’s works, there were many casted lids with different utilities and functions underneath. – I remember this quite clearly!</a:t>
            </a:r>
          </a:p>
          <a:p>
            <a:pPr marL="12700" marR="6985" algn="just">
              <a:lnSpc>
                <a:spcPct val="100000"/>
              </a:lnSpc>
              <a:spcBef>
                <a:spcPts val="1200"/>
              </a:spcBef>
            </a:pPr>
            <a:r>
              <a:rPr sz="1200" dirty="0">
                <a:solidFill>
                  <a:schemeClr val="tx1"/>
                </a:solidFill>
                <a:latin typeface="Century Gothic" panose="020B0502020202020204" pitchFamily="34" charset="0"/>
                <a:cs typeface="Arial"/>
              </a:rPr>
              <a:t>I chose this one in the middle of the day when the area was overcrowded with busy people on the move. The next morning around 5 a.m. I made the rubbing undisturbed. Later I finished and overdrew the cotton in the studio with different hard graphite pens (bought at Pearl’s Paint on Canal Street).</a:t>
            </a:r>
          </a:p>
          <a:p>
            <a:pPr marL="12700" marR="5080" algn="just">
              <a:lnSpc>
                <a:spcPct val="100000"/>
              </a:lnSpc>
              <a:spcBef>
                <a:spcPts val="1205"/>
              </a:spcBef>
            </a:pPr>
            <a:r>
              <a:rPr sz="1200" dirty="0">
                <a:solidFill>
                  <a:schemeClr val="tx1"/>
                </a:solidFill>
                <a:latin typeface="Century Gothic" panose="020B0502020202020204" pitchFamily="34" charset="0"/>
                <a:cs typeface="Arial"/>
              </a:rPr>
              <a:t>It’s special design (from 1929) was used quite often by Con Edison: formed as a wheel with four round casted lines and spokes within  this “circular bingo” or concentric circle design (Diana Stuart). It has three rows with casted embossed rings around holes, the ones in the middle row are bonded like chains. With its strong lines and the round dots, it looks so clear and bright.</a:t>
            </a:r>
          </a:p>
          <a:p>
            <a:pPr marL="12700" marR="5715" algn="just">
              <a:lnSpc>
                <a:spcPct val="100000"/>
              </a:lnSpc>
              <a:spcBef>
                <a:spcPts val="1200"/>
              </a:spcBef>
            </a:pPr>
            <a:r>
              <a:rPr sz="1200" dirty="0">
                <a:solidFill>
                  <a:schemeClr val="tx1"/>
                </a:solidFill>
                <a:latin typeface="Century Gothic" panose="020B0502020202020204" pitchFamily="34" charset="0"/>
                <a:cs typeface="Arial"/>
              </a:rPr>
              <a:t>This Con Edison cover for electric underground cables was the one closest to the North Tower of the former World Trade Center. I made the rubbing in May 2000. Now it is not there any more, replaced by the big construction site for the new One World Center.</a:t>
            </a:r>
          </a:p>
        </p:txBody>
      </p:sp>
      <p:sp>
        <p:nvSpPr>
          <p:cNvPr id="10" name="TextBox 9">
            <a:extLst>
              <a:ext uri="{FF2B5EF4-FFF2-40B4-BE49-F238E27FC236}">
                <a16:creationId xmlns:a16="http://schemas.microsoft.com/office/drawing/2014/main" id="{548767B4-036D-F349-9187-3E823BBF947C}"/>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2F677592-F62F-434B-9019-CA716393D89B}"/>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03B85110-0DB6-7941-8CEC-9ABB27CBD312}"/>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13</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485" y="1368983"/>
            <a:ext cx="4414139" cy="5868035"/>
            <a:chOff x="428485" y="1368983"/>
            <a:chExt cx="4414139" cy="5868035"/>
          </a:xfrm>
        </p:grpSpPr>
        <p:pic>
          <p:nvPicPr>
            <p:cNvPr id="4" name="object 4"/>
            <p:cNvPicPr/>
            <p:nvPr/>
          </p:nvPicPr>
          <p:blipFill>
            <a:blip r:embed="rId2" cstate="print"/>
            <a:stretch>
              <a:fillRect/>
            </a:stretch>
          </p:blipFill>
          <p:spPr>
            <a:xfrm>
              <a:off x="428485" y="1368983"/>
              <a:ext cx="4414139" cy="5868035"/>
            </a:xfrm>
            <a:prstGeom prst="rect">
              <a:avLst/>
            </a:prstGeom>
          </p:spPr>
        </p:pic>
        <p:pic>
          <p:nvPicPr>
            <p:cNvPr id="5" name="object 5"/>
            <p:cNvPicPr/>
            <p:nvPr/>
          </p:nvPicPr>
          <p:blipFill>
            <a:blip r:embed="rId3" cstate="print"/>
            <a:stretch>
              <a:fillRect/>
            </a:stretch>
          </p:blipFill>
          <p:spPr>
            <a:xfrm>
              <a:off x="954214" y="2844800"/>
              <a:ext cx="3240024" cy="3240024"/>
            </a:xfrm>
            <a:prstGeom prst="rect">
              <a:avLst/>
            </a:prstGeom>
          </p:spPr>
        </p:pic>
        <p:sp>
          <p:nvSpPr>
            <p:cNvPr id="6" name="object 6"/>
            <p:cNvSpPr/>
            <p:nvPr/>
          </p:nvSpPr>
          <p:spPr>
            <a:xfrm>
              <a:off x="594169" y="1908429"/>
              <a:ext cx="360045" cy="432434"/>
            </a:xfrm>
            <a:custGeom>
              <a:avLst/>
              <a:gdLst/>
              <a:ahLst/>
              <a:cxnLst/>
              <a:rect l="l" t="t" r="r" b="b"/>
              <a:pathLst>
                <a:path w="360044" h="432435">
                  <a:moveTo>
                    <a:pt x="180022" y="0"/>
                  </a:moveTo>
                  <a:lnTo>
                    <a:pt x="0" y="179959"/>
                  </a:lnTo>
                  <a:lnTo>
                    <a:pt x="90017" y="179959"/>
                  </a:lnTo>
                  <a:lnTo>
                    <a:pt x="90017" y="432054"/>
                  </a:lnTo>
                  <a:lnTo>
                    <a:pt x="270027" y="432054"/>
                  </a:lnTo>
                  <a:lnTo>
                    <a:pt x="270027" y="179959"/>
                  </a:lnTo>
                  <a:lnTo>
                    <a:pt x="360045" y="179959"/>
                  </a:lnTo>
                  <a:lnTo>
                    <a:pt x="180022"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118100" y="2039708"/>
            <a:ext cx="5318125" cy="4993675"/>
          </a:xfrm>
          <a:prstGeom prst="rect">
            <a:avLst/>
          </a:prstGeom>
        </p:spPr>
        <p:txBody>
          <a:bodyPr vert="horz" wrap="square" lIns="0" tIns="118110" rIns="0" bIns="0" rtlCol="0">
            <a:spAutoFit/>
          </a:bodyPr>
          <a:lstStyle/>
          <a:p>
            <a:pPr marL="12700">
              <a:lnSpc>
                <a:spcPct val="100000"/>
              </a:lnSpc>
              <a:spcBef>
                <a:spcPts val="930"/>
              </a:spcBef>
            </a:pPr>
            <a:r>
              <a:rPr sz="1600" b="1" dirty="0">
                <a:solidFill>
                  <a:schemeClr val="tx1"/>
                </a:solidFill>
                <a:latin typeface="Century Gothic" panose="020B0502020202020204" pitchFamily="34" charset="0"/>
                <a:cs typeface="Arial"/>
              </a:rPr>
              <a:t>Washington Square</a:t>
            </a:r>
            <a:endParaRPr sz="1600" dirty="0">
              <a:solidFill>
                <a:schemeClr val="tx1"/>
              </a:solidFill>
              <a:latin typeface="Century Gothic" panose="020B0502020202020204" pitchFamily="34" charset="0"/>
              <a:cs typeface="Arial"/>
            </a:endParaRPr>
          </a:p>
          <a:p>
            <a:pPr marL="12700" marR="921385">
              <a:lnSpc>
                <a:spcPct val="141700"/>
              </a:lnSpc>
              <a:spcBef>
                <a:spcPts val="30"/>
              </a:spcBef>
            </a:pPr>
            <a:r>
              <a:rPr sz="1200" b="1" dirty="0">
                <a:solidFill>
                  <a:schemeClr val="tx1"/>
                </a:solidFill>
                <a:latin typeface="Century Gothic" panose="020B0502020202020204" pitchFamily="34" charset="0"/>
                <a:cs typeface="Arial"/>
              </a:rPr>
              <a:t>C.T.E.S.Co – Consolidated Telegraph Electrical Subway Company, 1885 Rubbing May 2000</a:t>
            </a:r>
            <a:endParaRPr sz="1200" dirty="0">
              <a:solidFill>
                <a:schemeClr val="tx1"/>
              </a:solidFill>
              <a:latin typeface="Century Gothic" panose="020B0502020202020204" pitchFamily="34" charset="0"/>
              <a:cs typeface="Arial"/>
            </a:endParaRPr>
          </a:p>
          <a:p>
            <a:pPr>
              <a:lnSpc>
                <a:spcPct val="100000"/>
              </a:lnSpc>
            </a:pP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12700" marR="5080" algn="just">
              <a:lnSpc>
                <a:spcPct val="100000"/>
              </a:lnSpc>
            </a:pPr>
            <a:r>
              <a:rPr sz="1200" dirty="0">
                <a:solidFill>
                  <a:schemeClr val="tx1"/>
                </a:solidFill>
                <a:latin typeface="Century Gothic" panose="020B0502020202020204" pitchFamily="34" charset="0"/>
                <a:cs typeface="Arial"/>
              </a:rPr>
              <a:t>One of the places in NY I love most is Washington Square: in the afternoon it is crowded with students from the nearby university. Early in the morning when there were only a few people strolling with their dogs (nearly as many as in Berlin) I liked to do my rubbings at this well-kept place with its civilized aura.</a:t>
            </a:r>
          </a:p>
          <a:p>
            <a:pPr marL="12700" marR="5080" algn="just">
              <a:lnSpc>
                <a:spcPct val="100000"/>
              </a:lnSpc>
              <a:spcBef>
                <a:spcPts val="1200"/>
              </a:spcBef>
            </a:pPr>
            <a:r>
              <a:rPr sz="1200" dirty="0">
                <a:solidFill>
                  <a:schemeClr val="tx1"/>
                </a:solidFill>
                <a:latin typeface="Century Gothic" panose="020B0502020202020204" pitchFamily="34" charset="0"/>
                <a:cs typeface="Arial"/>
              </a:rPr>
              <a:t>The dog walkers were the inhabitants of the magnificent buildings surrounding the Park. They were interested and polite, asking about reason and purpose for the rubbings. Though one morning there was a young couple crying out “She is crazy, isn’t she?” This – irritating as it was – made me chuckle inside.</a:t>
            </a:r>
          </a:p>
          <a:p>
            <a:pPr marL="12700" marR="5080" algn="just">
              <a:lnSpc>
                <a:spcPct val="100000"/>
              </a:lnSpc>
              <a:spcBef>
                <a:spcPts val="905"/>
              </a:spcBef>
            </a:pPr>
            <a:r>
              <a:rPr sz="1200" dirty="0">
                <a:solidFill>
                  <a:schemeClr val="tx1"/>
                </a:solidFill>
                <a:latin typeface="Century Gothic" panose="020B0502020202020204" pitchFamily="34" charset="0"/>
                <a:cs typeface="Arial"/>
              </a:rPr>
              <a:t>The C.T.E.S.Co cover dated 1885 is very large. This might be due to the fact that there are two utilities underneath: one for housing electricity and the other for subway cables. I did not include the frame of the cover in my rubbing. The ornaments were rather worn down: you could only partially guess its form.</a:t>
            </a:r>
          </a:p>
          <a:p>
            <a:pPr marL="12700" marR="5715" algn="just">
              <a:lnSpc>
                <a:spcPct val="100000"/>
              </a:lnSpc>
              <a:spcBef>
                <a:spcPts val="900"/>
              </a:spcBef>
            </a:pPr>
            <a:r>
              <a:rPr sz="1200" dirty="0">
                <a:solidFill>
                  <a:schemeClr val="tx1"/>
                </a:solidFill>
                <a:latin typeface="Century Gothic" panose="020B0502020202020204" pitchFamily="34" charset="0"/>
                <a:cs typeface="Arial"/>
              </a:rPr>
              <a:t>But its wear and tear was the reason I liked it in particular. The cover shows the traces of the last 120 years. It was intriguing how this artefact displayed life’s perishability due to its exposure to time.</a:t>
            </a:r>
          </a:p>
        </p:txBody>
      </p:sp>
      <p:sp>
        <p:nvSpPr>
          <p:cNvPr id="10" name="TextBox 9">
            <a:extLst>
              <a:ext uri="{FF2B5EF4-FFF2-40B4-BE49-F238E27FC236}">
                <a16:creationId xmlns:a16="http://schemas.microsoft.com/office/drawing/2014/main" id="{00F2F249-8BB5-6D41-BF47-3D36B459654E}"/>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5" name="TextBox 14">
            <a:extLst>
              <a:ext uri="{FF2B5EF4-FFF2-40B4-BE49-F238E27FC236}">
                <a16:creationId xmlns:a16="http://schemas.microsoft.com/office/drawing/2014/main" id="{EEE8949B-AC99-5949-A489-0EB1B4AED92B}"/>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6" name="Slide Number Placeholder 14">
            <a:extLst>
              <a:ext uri="{FF2B5EF4-FFF2-40B4-BE49-F238E27FC236}">
                <a16:creationId xmlns:a16="http://schemas.microsoft.com/office/drawing/2014/main" id="{20FA8461-FA29-9A40-B00F-93BE02FCEC04}"/>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14</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4319" y="1368983"/>
            <a:ext cx="4418330" cy="5868035"/>
            <a:chOff x="424319" y="1368983"/>
            <a:chExt cx="4418330" cy="5868035"/>
          </a:xfrm>
        </p:grpSpPr>
        <p:pic>
          <p:nvPicPr>
            <p:cNvPr id="4" name="object 4"/>
            <p:cNvPicPr/>
            <p:nvPr/>
          </p:nvPicPr>
          <p:blipFill>
            <a:blip r:embed="rId2" cstate="print"/>
            <a:stretch>
              <a:fillRect/>
            </a:stretch>
          </p:blipFill>
          <p:spPr>
            <a:xfrm>
              <a:off x="424319" y="1368983"/>
              <a:ext cx="4418330" cy="5868035"/>
            </a:xfrm>
            <a:prstGeom prst="rect">
              <a:avLst/>
            </a:prstGeom>
          </p:spPr>
        </p:pic>
        <p:pic>
          <p:nvPicPr>
            <p:cNvPr id="5" name="object 5"/>
            <p:cNvPicPr/>
            <p:nvPr/>
          </p:nvPicPr>
          <p:blipFill>
            <a:blip r:embed="rId3" cstate="print"/>
            <a:stretch>
              <a:fillRect/>
            </a:stretch>
          </p:blipFill>
          <p:spPr>
            <a:xfrm>
              <a:off x="1386204" y="1620774"/>
              <a:ext cx="3240023" cy="3240024"/>
            </a:xfrm>
            <a:prstGeom prst="rect">
              <a:avLst/>
            </a:prstGeom>
          </p:spPr>
        </p:pic>
        <p:sp>
          <p:nvSpPr>
            <p:cNvPr id="6" name="object 6"/>
            <p:cNvSpPr/>
            <p:nvPr/>
          </p:nvSpPr>
          <p:spPr>
            <a:xfrm>
              <a:off x="893000" y="5167376"/>
              <a:ext cx="364490" cy="410209"/>
            </a:xfrm>
            <a:custGeom>
              <a:avLst/>
              <a:gdLst/>
              <a:ahLst/>
              <a:cxnLst/>
              <a:rect l="l" t="t" r="r" b="b"/>
              <a:pathLst>
                <a:path w="364490" h="410210">
                  <a:moveTo>
                    <a:pt x="51104" y="0"/>
                  </a:moveTo>
                  <a:lnTo>
                    <a:pt x="0" y="249427"/>
                  </a:lnTo>
                  <a:lnTo>
                    <a:pt x="75120" y="199898"/>
                  </a:lnTo>
                  <a:lnTo>
                    <a:pt x="213931" y="410210"/>
                  </a:lnTo>
                  <a:lnTo>
                    <a:pt x="364185" y="311023"/>
                  </a:lnTo>
                  <a:lnTo>
                    <a:pt x="225374" y="100711"/>
                  </a:lnTo>
                  <a:lnTo>
                    <a:pt x="300507" y="51054"/>
                  </a:lnTo>
                  <a:lnTo>
                    <a:pt x="51104"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118100" y="2039708"/>
            <a:ext cx="5316855" cy="4331955"/>
          </a:xfrm>
          <a:prstGeom prst="rect">
            <a:avLst/>
          </a:prstGeom>
        </p:spPr>
        <p:txBody>
          <a:bodyPr vert="horz" wrap="square" lIns="0" tIns="118110" rIns="0" bIns="0" rtlCol="0">
            <a:spAutoFit/>
          </a:bodyPr>
          <a:lstStyle/>
          <a:p>
            <a:pPr marL="12700" algn="just">
              <a:lnSpc>
                <a:spcPct val="100000"/>
              </a:lnSpc>
              <a:spcBef>
                <a:spcPts val="930"/>
              </a:spcBef>
            </a:pPr>
            <a:r>
              <a:rPr sz="1600" b="1" dirty="0">
                <a:solidFill>
                  <a:schemeClr val="tx1"/>
                </a:solidFill>
                <a:latin typeface="Century Gothic" panose="020B0502020202020204" pitchFamily="34" charset="0"/>
                <a:cs typeface="Arial"/>
              </a:rPr>
              <a:t>Murray Street / West Broadway</a:t>
            </a:r>
            <a:endParaRPr sz="1600" dirty="0">
              <a:solidFill>
                <a:schemeClr val="tx1"/>
              </a:solidFill>
              <a:latin typeface="Century Gothic" panose="020B0502020202020204" pitchFamily="34" charset="0"/>
              <a:cs typeface="Arial"/>
            </a:endParaRPr>
          </a:p>
          <a:p>
            <a:pPr marL="12700" marR="2303145">
              <a:lnSpc>
                <a:spcPct val="141700"/>
              </a:lnSpc>
              <a:spcBef>
                <a:spcPts val="30"/>
              </a:spcBef>
            </a:pPr>
            <a:r>
              <a:rPr sz="1200" b="1" dirty="0">
                <a:solidFill>
                  <a:schemeClr val="tx1"/>
                </a:solidFill>
                <a:latin typeface="Century Gothic" panose="020B0502020202020204" pitchFamily="34" charset="0"/>
                <a:cs typeface="Arial"/>
              </a:rPr>
              <a:t>N.Y.M. - New York Municipal (railway company) Rubbing May 2000</a:t>
            </a:r>
            <a:endParaRPr sz="1200" dirty="0">
              <a:solidFill>
                <a:schemeClr val="tx1"/>
              </a:solidFill>
              <a:latin typeface="Century Gothic" panose="020B0502020202020204" pitchFamily="34" charset="0"/>
              <a:cs typeface="Arial"/>
            </a:endParaRPr>
          </a:p>
          <a:p>
            <a:pPr>
              <a:lnSpc>
                <a:spcPct val="100000"/>
              </a:lnSpc>
            </a:pP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12700" marR="5080" algn="just">
              <a:lnSpc>
                <a:spcPct val="100000"/>
              </a:lnSpc>
            </a:pPr>
            <a:r>
              <a:rPr sz="1200" dirty="0">
                <a:solidFill>
                  <a:schemeClr val="tx1"/>
                </a:solidFill>
                <a:latin typeface="Century Gothic" panose="020B0502020202020204" pitchFamily="34" charset="0"/>
                <a:cs typeface="Arial"/>
              </a:rPr>
              <a:t>Covers with this design were installed on behalf of New York’s municipal railway approximately since 1913, which is most likely the time of its design and production.</a:t>
            </a:r>
          </a:p>
          <a:p>
            <a:pPr marL="12700" marR="5715" algn="just">
              <a:lnSpc>
                <a:spcPct val="100000"/>
              </a:lnSpc>
              <a:spcBef>
                <a:spcPts val="1200"/>
              </a:spcBef>
            </a:pPr>
            <a:r>
              <a:rPr sz="1200" dirty="0">
                <a:solidFill>
                  <a:schemeClr val="tx1"/>
                </a:solidFill>
                <a:latin typeface="Century Gothic" panose="020B0502020202020204" pitchFamily="34" charset="0"/>
                <a:cs typeface="Arial"/>
              </a:rPr>
              <a:t>New York Municipal Railway Corporation was founded in 1913 for the Brooklyn Rapid Transit, an Interborough Rapid Transit, part of today’s subway system.</a:t>
            </a:r>
          </a:p>
          <a:p>
            <a:pPr marL="12700" marR="5715" algn="just">
              <a:lnSpc>
                <a:spcPct val="100000"/>
              </a:lnSpc>
              <a:spcBef>
                <a:spcPts val="1200"/>
              </a:spcBef>
            </a:pPr>
            <a:r>
              <a:rPr sz="1200" dirty="0">
                <a:solidFill>
                  <a:schemeClr val="tx1"/>
                </a:solidFill>
                <a:latin typeface="Century Gothic" panose="020B0502020202020204" pitchFamily="34" charset="0"/>
                <a:cs typeface="Arial"/>
              </a:rPr>
              <a:t>The cover’s design displays six circular rings and radiant spokes. The letters within the inner circle, the areas in between the rings and the outer ring which looks like a gear-wheel , are embossed.</a:t>
            </a:r>
          </a:p>
          <a:p>
            <a:pPr marL="12700" marR="5080" algn="just">
              <a:lnSpc>
                <a:spcPct val="100000"/>
              </a:lnSpc>
              <a:spcBef>
                <a:spcPts val="1205"/>
              </a:spcBef>
            </a:pPr>
            <a:r>
              <a:rPr sz="1200" dirty="0">
                <a:solidFill>
                  <a:schemeClr val="tx1"/>
                </a:solidFill>
                <a:latin typeface="Century Gothic" panose="020B0502020202020204" pitchFamily="34" charset="0"/>
                <a:cs typeface="Arial"/>
              </a:rPr>
              <a:t>The intersection of Murray Street and West Broadway is full of manhole covers. This indicates that it is hollow throughout with canals and installations of diverse companies. Therefore, it was not really surprising when the road surface recently caved in when there was a rupture of a water main.</a:t>
            </a:r>
          </a:p>
        </p:txBody>
      </p:sp>
      <p:sp>
        <p:nvSpPr>
          <p:cNvPr id="10" name="TextBox 9">
            <a:extLst>
              <a:ext uri="{FF2B5EF4-FFF2-40B4-BE49-F238E27FC236}">
                <a16:creationId xmlns:a16="http://schemas.microsoft.com/office/drawing/2014/main" id="{5AF1C1B7-DD8F-7F4B-B6EE-A113D4210AB9}"/>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5" name="TextBox 14">
            <a:extLst>
              <a:ext uri="{FF2B5EF4-FFF2-40B4-BE49-F238E27FC236}">
                <a16:creationId xmlns:a16="http://schemas.microsoft.com/office/drawing/2014/main" id="{D1DC1808-F919-3049-A796-8C54EDA1E507}"/>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6" name="Slide Number Placeholder 14">
            <a:extLst>
              <a:ext uri="{FF2B5EF4-FFF2-40B4-BE49-F238E27FC236}">
                <a16:creationId xmlns:a16="http://schemas.microsoft.com/office/drawing/2014/main" id="{3849F0FC-003F-5F47-B069-3678D98ED01E}"/>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15</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34733" y="1368983"/>
            <a:ext cx="4407916" cy="5868035"/>
            <a:chOff x="434733" y="1368983"/>
            <a:chExt cx="4407916" cy="5868035"/>
          </a:xfrm>
        </p:grpSpPr>
        <p:pic>
          <p:nvPicPr>
            <p:cNvPr id="4" name="object 4"/>
            <p:cNvPicPr/>
            <p:nvPr/>
          </p:nvPicPr>
          <p:blipFill>
            <a:blip r:embed="rId2" cstate="print"/>
            <a:stretch>
              <a:fillRect/>
            </a:stretch>
          </p:blipFill>
          <p:spPr>
            <a:xfrm>
              <a:off x="434733" y="1368983"/>
              <a:ext cx="4407916" cy="5868035"/>
            </a:xfrm>
            <a:prstGeom prst="rect">
              <a:avLst/>
            </a:prstGeom>
          </p:spPr>
        </p:pic>
        <p:pic>
          <p:nvPicPr>
            <p:cNvPr id="5" name="object 5"/>
            <p:cNvPicPr/>
            <p:nvPr/>
          </p:nvPicPr>
          <p:blipFill>
            <a:blip r:embed="rId3" cstate="print"/>
            <a:stretch>
              <a:fillRect/>
            </a:stretch>
          </p:blipFill>
          <p:spPr>
            <a:xfrm>
              <a:off x="666178" y="1692783"/>
              <a:ext cx="3240024" cy="3240023"/>
            </a:xfrm>
            <a:prstGeom prst="rect">
              <a:avLst/>
            </a:prstGeom>
          </p:spPr>
        </p:pic>
        <p:sp>
          <p:nvSpPr>
            <p:cNvPr id="6" name="object 6"/>
            <p:cNvSpPr/>
            <p:nvPr/>
          </p:nvSpPr>
          <p:spPr>
            <a:xfrm>
              <a:off x="3764280" y="5126863"/>
              <a:ext cx="365125" cy="408940"/>
            </a:xfrm>
            <a:custGeom>
              <a:avLst/>
              <a:gdLst/>
              <a:ahLst/>
              <a:cxnLst/>
              <a:rect l="l" t="t" r="r" b="b"/>
              <a:pathLst>
                <a:path w="365125" h="408939">
                  <a:moveTo>
                    <a:pt x="149225" y="0"/>
                  </a:moveTo>
                  <a:lnTo>
                    <a:pt x="0" y="100711"/>
                  </a:lnTo>
                  <a:lnTo>
                    <a:pt x="140970" y="309625"/>
                  </a:lnTo>
                  <a:lnTo>
                    <a:pt x="66421" y="359918"/>
                  </a:lnTo>
                  <a:lnTo>
                    <a:pt x="316357" y="408431"/>
                  </a:lnTo>
                  <a:lnTo>
                    <a:pt x="364871" y="158495"/>
                  </a:lnTo>
                  <a:lnTo>
                    <a:pt x="290195" y="208914"/>
                  </a:lnTo>
                  <a:lnTo>
                    <a:pt x="149225"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041900" y="2039708"/>
            <a:ext cx="5417820" cy="4809650"/>
          </a:xfrm>
          <a:prstGeom prst="rect">
            <a:avLst/>
          </a:prstGeom>
        </p:spPr>
        <p:txBody>
          <a:bodyPr vert="horz" wrap="square" lIns="0" tIns="118110" rIns="0" bIns="0" rtlCol="0">
            <a:spAutoFit/>
          </a:bodyPr>
          <a:lstStyle/>
          <a:p>
            <a:pPr marL="76200">
              <a:lnSpc>
                <a:spcPct val="100000"/>
              </a:lnSpc>
              <a:spcBef>
                <a:spcPts val="930"/>
              </a:spcBef>
            </a:pPr>
            <a:r>
              <a:rPr sz="1600" b="1" dirty="0">
                <a:solidFill>
                  <a:schemeClr val="tx1"/>
                </a:solidFill>
                <a:latin typeface="Century Gothic" panose="020B0502020202020204" pitchFamily="34" charset="0"/>
                <a:cs typeface="Arial"/>
              </a:rPr>
              <a:t>31 Van Dam Street</a:t>
            </a:r>
            <a:endParaRPr sz="1600" dirty="0">
              <a:solidFill>
                <a:schemeClr val="tx1"/>
              </a:solidFill>
              <a:latin typeface="Century Gothic" panose="020B0502020202020204" pitchFamily="34" charset="0"/>
              <a:cs typeface="Arial"/>
            </a:endParaRPr>
          </a:p>
          <a:p>
            <a:pPr marL="76200" marR="3385820">
              <a:lnSpc>
                <a:spcPct val="141700"/>
              </a:lnSpc>
              <a:spcBef>
                <a:spcPts val="30"/>
              </a:spcBef>
            </a:pPr>
            <a:r>
              <a:rPr sz="1200" b="1" dirty="0">
                <a:solidFill>
                  <a:schemeClr val="tx1"/>
                </a:solidFill>
                <a:latin typeface="Century Gothic" panose="020B0502020202020204" pitchFamily="34" charset="0"/>
                <a:cs typeface="Arial"/>
              </a:rPr>
              <a:t>Petroleum Heat and Power Co. Rubbing 23</a:t>
            </a:r>
            <a:r>
              <a:rPr sz="1200" b="1" baseline="24305" dirty="0">
                <a:solidFill>
                  <a:schemeClr val="tx1"/>
                </a:solidFill>
                <a:latin typeface="Century Gothic" panose="020B0502020202020204" pitchFamily="34" charset="0"/>
                <a:cs typeface="Arial"/>
              </a:rPr>
              <a:t>rd </a:t>
            </a:r>
            <a:r>
              <a:rPr sz="1200" b="1" dirty="0">
                <a:solidFill>
                  <a:schemeClr val="tx1"/>
                </a:solidFill>
                <a:latin typeface="Century Gothic" panose="020B0502020202020204" pitchFamily="34" charset="0"/>
                <a:cs typeface="Arial"/>
              </a:rPr>
              <a:t>of Oct. 2001</a:t>
            </a:r>
            <a:endParaRPr sz="1200" dirty="0">
              <a:solidFill>
                <a:schemeClr val="tx1"/>
              </a:solidFill>
              <a:latin typeface="Century Gothic" panose="020B0502020202020204" pitchFamily="34" charset="0"/>
              <a:cs typeface="Arial"/>
            </a:endParaRPr>
          </a:p>
          <a:p>
            <a:pPr>
              <a:lnSpc>
                <a:spcPct val="100000"/>
              </a:lnSpc>
            </a:pPr>
            <a:endParaRPr sz="1200" dirty="0">
              <a:solidFill>
                <a:schemeClr val="tx1"/>
              </a:solidFill>
              <a:latin typeface="Century Gothic" panose="020B0502020202020204" pitchFamily="34" charset="0"/>
              <a:cs typeface="Arial"/>
            </a:endParaRPr>
          </a:p>
          <a:p>
            <a:pPr>
              <a:lnSpc>
                <a:spcPct val="100000"/>
              </a:lnSpc>
              <a:spcBef>
                <a:spcPts val="240"/>
              </a:spcBef>
            </a:pPr>
            <a:endParaRPr sz="1200" dirty="0">
              <a:solidFill>
                <a:schemeClr val="tx1"/>
              </a:solidFill>
              <a:latin typeface="Century Gothic" panose="020B0502020202020204" pitchFamily="34" charset="0"/>
              <a:cs typeface="Arial"/>
            </a:endParaRPr>
          </a:p>
          <a:p>
            <a:pPr marL="76200" marR="43180" algn="just">
              <a:lnSpc>
                <a:spcPct val="100000"/>
              </a:lnSpc>
            </a:pPr>
            <a:r>
              <a:rPr sz="1200" dirty="0">
                <a:solidFill>
                  <a:schemeClr val="tx1"/>
                </a:solidFill>
                <a:latin typeface="Century Gothic" panose="020B0502020202020204" pitchFamily="34" charset="0"/>
                <a:cs typeface="Arial"/>
              </a:rPr>
              <a:t>Wow – was I happy, when I found this cover in 31 Van Dam Street! – It is large and it is inscribed with the utility underneath (»Petroleum Heat &amp; Power CO«) and the street where the foundry was located (»5th Ave«). It must be very old because it dates from the time when people were still using petroleum-light. I thought it was a real discovery!</a:t>
            </a:r>
          </a:p>
          <a:p>
            <a:pPr marL="76200" marR="41275" algn="just">
              <a:lnSpc>
                <a:spcPct val="100000"/>
              </a:lnSpc>
              <a:spcBef>
                <a:spcPts val="1200"/>
              </a:spcBef>
            </a:pPr>
            <a:r>
              <a:rPr sz="1200" dirty="0">
                <a:solidFill>
                  <a:schemeClr val="tx1"/>
                </a:solidFill>
                <a:latin typeface="Century Gothic" panose="020B0502020202020204" pitchFamily="34" charset="0"/>
                <a:cs typeface="Arial"/>
              </a:rPr>
              <a:t>But – this was only my romantic imagination. In reality, it was the cover of a company founded in 1907 in San Francisco. Its presence in New York dates from 1920, when their offices were located at 511 on 5th Avenue. Today the Petroleum Heat &amp; Power Company manufactures in Stamford, Connecticut, where they combine the merchandising of fuel oil with manufacturing oil installations.</a:t>
            </a:r>
          </a:p>
          <a:p>
            <a:pPr marL="76200" marR="42545" algn="just">
              <a:lnSpc>
                <a:spcPct val="100000"/>
              </a:lnSpc>
              <a:spcBef>
                <a:spcPts val="1205"/>
              </a:spcBef>
            </a:pPr>
            <a:r>
              <a:rPr sz="1200" dirty="0">
                <a:solidFill>
                  <a:schemeClr val="tx1"/>
                </a:solidFill>
                <a:latin typeface="Century Gothic" panose="020B0502020202020204" pitchFamily="34" charset="0"/>
                <a:cs typeface="Arial"/>
              </a:rPr>
              <a:t>Three stars separate the name and the company address like a frame, the whole middle is filled with little abstract fish. This cover might be one of the earliest examples with a rich fish-tread design. This mass-produced pattern is widely used today. Mostly for utilities / functions connected to air and light.</a:t>
            </a:r>
          </a:p>
        </p:txBody>
      </p:sp>
      <p:sp>
        <p:nvSpPr>
          <p:cNvPr id="10" name="TextBox 9">
            <a:extLst>
              <a:ext uri="{FF2B5EF4-FFF2-40B4-BE49-F238E27FC236}">
                <a16:creationId xmlns:a16="http://schemas.microsoft.com/office/drawing/2014/main" id="{E80E7EF6-0F00-B642-A087-403474DED89F}"/>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356A3592-D82A-0945-BDD4-C357EDFD0A6F}"/>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0958ED3E-CC18-1C41-A73A-B98EB9501885}"/>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16</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0151" y="1368983"/>
            <a:ext cx="4383151" cy="5868035"/>
            <a:chOff x="450151" y="1368983"/>
            <a:chExt cx="4383151" cy="5868035"/>
          </a:xfrm>
        </p:grpSpPr>
        <p:pic>
          <p:nvPicPr>
            <p:cNvPr id="4" name="object 4"/>
            <p:cNvPicPr/>
            <p:nvPr/>
          </p:nvPicPr>
          <p:blipFill>
            <a:blip r:embed="rId2" cstate="print"/>
            <a:stretch>
              <a:fillRect/>
            </a:stretch>
          </p:blipFill>
          <p:spPr>
            <a:xfrm>
              <a:off x="450151" y="1368983"/>
              <a:ext cx="4383151" cy="5868035"/>
            </a:xfrm>
            <a:prstGeom prst="rect">
              <a:avLst/>
            </a:prstGeom>
          </p:spPr>
        </p:pic>
        <p:pic>
          <p:nvPicPr>
            <p:cNvPr id="5" name="object 5"/>
            <p:cNvPicPr/>
            <p:nvPr/>
          </p:nvPicPr>
          <p:blipFill>
            <a:blip r:embed="rId3" cstate="print"/>
            <a:stretch>
              <a:fillRect/>
            </a:stretch>
          </p:blipFill>
          <p:spPr>
            <a:xfrm>
              <a:off x="1026579" y="2916555"/>
              <a:ext cx="3240023" cy="3240024"/>
            </a:xfrm>
            <a:prstGeom prst="rect">
              <a:avLst/>
            </a:prstGeom>
          </p:spPr>
        </p:pic>
        <p:sp>
          <p:nvSpPr>
            <p:cNvPr id="6" name="object 6"/>
            <p:cNvSpPr/>
            <p:nvPr/>
          </p:nvSpPr>
          <p:spPr>
            <a:xfrm>
              <a:off x="2231643" y="1914652"/>
              <a:ext cx="399415" cy="367665"/>
            </a:xfrm>
            <a:custGeom>
              <a:avLst/>
              <a:gdLst/>
              <a:ahLst/>
              <a:cxnLst/>
              <a:rect l="l" t="t" r="r" b="b"/>
              <a:pathLst>
                <a:path w="399414" h="367664">
                  <a:moveTo>
                    <a:pt x="108204" y="0"/>
                  </a:moveTo>
                  <a:lnTo>
                    <a:pt x="0" y="143890"/>
                  </a:lnTo>
                  <a:lnTo>
                    <a:pt x="201422" y="295401"/>
                  </a:lnTo>
                  <a:lnTo>
                    <a:pt x="147319" y="367284"/>
                  </a:lnTo>
                  <a:lnTo>
                    <a:pt x="399414" y="331597"/>
                  </a:lnTo>
                  <a:lnTo>
                    <a:pt x="363728" y="79501"/>
                  </a:lnTo>
                  <a:lnTo>
                    <a:pt x="309625" y="151511"/>
                  </a:lnTo>
                  <a:lnTo>
                    <a:pt x="108204"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118100" y="2039708"/>
            <a:ext cx="5316220" cy="5473293"/>
          </a:xfrm>
          <a:prstGeom prst="rect">
            <a:avLst/>
          </a:prstGeom>
        </p:spPr>
        <p:txBody>
          <a:bodyPr vert="horz" wrap="square" lIns="0" tIns="118110" rIns="0" bIns="0" rtlCol="0">
            <a:spAutoFit/>
          </a:bodyPr>
          <a:lstStyle/>
          <a:p>
            <a:pPr marL="12700">
              <a:lnSpc>
                <a:spcPct val="100000"/>
              </a:lnSpc>
              <a:spcBef>
                <a:spcPts val="930"/>
              </a:spcBef>
            </a:pPr>
            <a:r>
              <a:rPr sz="1600" b="1" dirty="0">
                <a:solidFill>
                  <a:schemeClr val="tx1"/>
                </a:solidFill>
                <a:latin typeface="Century Gothic" panose="020B0502020202020204" pitchFamily="34" charset="0"/>
                <a:cs typeface="Arial"/>
              </a:rPr>
              <a:t>Union Square</a:t>
            </a:r>
            <a:endParaRPr sz="1600" dirty="0">
              <a:solidFill>
                <a:schemeClr val="tx1"/>
              </a:solidFill>
              <a:latin typeface="Century Gothic" panose="020B0502020202020204" pitchFamily="34" charset="0"/>
              <a:cs typeface="Arial"/>
            </a:endParaRPr>
          </a:p>
          <a:p>
            <a:pPr marL="12700" marR="3188970">
              <a:lnSpc>
                <a:spcPct val="141700"/>
              </a:lnSpc>
              <a:spcBef>
                <a:spcPts val="30"/>
              </a:spcBef>
            </a:pPr>
            <a:r>
              <a:rPr sz="1200" b="1" dirty="0">
                <a:solidFill>
                  <a:schemeClr val="tx1"/>
                </a:solidFill>
                <a:latin typeface="Century Gothic" panose="020B0502020202020204" pitchFamily="34" charset="0"/>
                <a:cs typeface="Arial"/>
              </a:rPr>
              <a:t>design by Lawrence Weiner, 2000 Rubbing May 2005</a:t>
            </a:r>
            <a:endParaRPr sz="1200" dirty="0">
              <a:solidFill>
                <a:schemeClr val="tx1"/>
              </a:solidFill>
              <a:latin typeface="Century Gothic" panose="020B0502020202020204" pitchFamily="34" charset="0"/>
              <a:cs typeface="Arial"/>
            </a:endParaRPr>
          </a:p>
          <a:p>
            <a:pPr>
              <a:lnSpc>
                <a:spcPct val="100000"/>
              </a:lnSpc>
              <a:spcBef>
                <a:spcPts val="1015"/>
              </a:spcBef>
            </a:pPr>
            <a:endParaRPr sz="1200" dirty="0">
              <a:solidFill>
                <a:schemeClr val="tx1"/>
              </a:solidFill>
              <a:latin typeface="Century Gothic" panose="020B0502020202020204" pitchFamily="34" charset="0"/>
              <a:cs typeface="Arial"/>
            </a:endParaRPr>
          </a:p>
          <a:p>
            <a:pPr marL="12700" marR="5080" algn="just">
              <a:lnSpc>
                <a:spcPct val="100000"/>
              </a:lnSpc>
              <a:spcBef>
                <a:spcPts val="5"/>
              </a:spcBef>
            </a:pPr>
            <a:r>
              <a:rPr sz="1200" dirty="0">
                <a:solidFill>
                  <a:schemeClr val="tx1"/>
                </a:solidFill>
                <a:latin typeface="Century Gothic" panose="020B0502020202020204" pitchFamily="34" charset="0"/>
                <a:cs typeface="Arial"/>
              </a:rPr>
              <a:t>With the help of Con Edison and Roman Stone, a manhole cover fabricator in Bay Shore, Long Island, Lawrence Weiner, a New York conceptual artist, designed a new cover surface in his own special style. It was his answer to the Public Art Fund’s request to create his idea of the perfect New York City statement.</a:t>
            </a:r>
          </a:p>
          <a:p>
            <a:pPr marL="12700" marR="5715" algn="just">
              <a:lnSpc>
                <a:spcPct val="100000"/>
              </a:lnSpc>
              <a:spcBef>
                <a:spcPts val="900"/>
              </a:spcBef>
            </a:pPr>
            <a:r>
              <a:rPr sz="1200" dirty="0">
                <a:solidFill>
                  <a:schemeClr val="tx1"/>
                </a:solidFill>
                <a:latin typeface="Century Gothic" panose="020B0502020202020204" pitchFamily="34" charset="0"/>
                <a:cs typeface="Arial"/>
              </a:rPr>
              <a:t>In summer 2005, I was pleased to be asked by Con Edison to prepare this rubbing for them. Now 19 covers were replicated and can be found across Manhattan from the West Village to Washington Square, Union Square and Tompkin Square Park. The manholes are intended to be temporary, but they may stay in place for some years, depending on Con Edison.</a:t>
            </a:r>
          </a:p>
          <a:p>
            <a:pPr marL="12700" marR="5715" algn="just">
              <a:lnSpc>
                <a:spcPct val="100000"/>
              </a:lnSpc>
              <a:spcBef>
                <a:spcPts val="905"/>
              </a:spcBef>
            </a:pPr>
            <a:r>
              <a:rPr sz="1200" dirty="0">
                <a:solidFill>
                  <a:schemeClr val="tx1"/>
                </a:solidFill>
                <a:latin typeface="Century Gothic" panose="020B0502020202020204" pitchFamily="34" charset="0"/>
                <a:cs typeface="Arial"/>
              </a:rPr>
              <a:t>First I was irritated by the strange words in this noticeable graphic design against all composition-rules. The scripture looks like a montage of a different material. Lawrence Weiner explained his concept:</a:t>
            </a:r>
          </a:p>
          <a:p>
            <a:pPr marL="12700" marR="5080" algn="just">
              <a:lnSpc>
                <a:spcPct val="100000"/>
              </a:lnSpc>
              <a:spcBef>
                <a:spcPts val="900"/>
              </a:spcBef>
            </a:pPr>
            <a:r>
              <a:rPr sz="1200" dirty="0">
                <a:solidFill>
                  <a:schemeClr val="tx1"/>
                </a:solidFill>
                <a:latin typeface="Century Gothic" panose="020B0502020202020204" pitchFamily="34" charset="0"/>
                <a:cs typeface="Arial"/>
              </a:rPr>
              <a:t>“It’s meant to be curious and evocative and poetic.... I wanted to use a normal part of the city to make people a little confused and a little curious.”</a:t>
            </a:r>
          </a:p>
          <a:p>
            <a:pPr marL="12700" marR="5715" algn="just">
              <a:lnSpc>
                <a:spcPct val="100000"/>
              </a:lnSpc>
              <a:spcBef>
                <a:spcPts val="900"/>
              </a:spcBef>
            </a:pPr>
            <a:r>
              <a:rPr sz="1200" dirty="0">
                <a:solidFill>
                  <a:schemeClr val="tx1"/>
                </a:solidFill>
                <a:latin typeface="Century Gothic" panose="020B0502020202020204" pitchFamily="34" charset="0"/>
                <a:cs typeface="Arial"/>
              </a:rPr>
              <a:t>He also said that he chose these words because they refer to the grid of the city and the asphalt surface of the street.</a:t>
            </a:r>
          </a:p>
          <a:p>
            <a:pPr marL="12700" algn="just">
              <a:lnSpc>
                <a:spcPct val="100000"/>
              </a:lnSpc>
              <a:spcBef>
                <a:spcPts val="900"/>
              </a:spcBef>
            </a:pPr>
            <a:r>
              <a:rPr sz="1200" dirty="0">
                <a:solidFill>
                  <a:schemeClr val="tx1"/>
                </a:solidFill>
                <a:latin typeface="Century Gothic" panose="020B0502020202020204" pitchFamily="34" charset="0"/>
                <a:cs typeface="Arial"/>
              </a:rPr>
              <a:t>This they do!</a:t>
            </a:r>
          </a:p>
        </p:txBody>
      </p:sp>
      <p:sp>
        <p:nvSpPr>
          <p:cNvPr id="10" name="TextBox 9">
            <a:extLst>
              <a:ext uri="{FF2B5EF4-FFF2-40B4-BE49-F238E27FC236}">
                <a16:creationId xmlns:a16="http://schemas.microsoft.com/office/drawing/2014/main" id="{946E387A-47D7-F34D-A59A-4F6F6710FC8B}"/>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54221A4F-EF9B-1644-8DFC-729AC44F42DF}"/>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22005F08-5908-D640-BF85-98DFB83CCD7B}"/>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17</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0151" y="1368983"/>
            <a:ext cx="4399661" cy="5868035"/>
            <a:chOff x="450151" y="1368983"/>
            <a:chExt cx="4399661" cy="5868035"/>
          </a:xfrm>
        </p:grpSpPr>
        <p:pic>
          <p:nvPicPr>
            <p:cNvPr id="4" name="object 4"/>
            <p:cNvPicPr/>
            <p:nvPr/>
          </p:nvPicPr>
          <p:blipFill>
            <a:blip r:embed="rId2" cstate="print"/>
            <a:stretch>
              <a:fillRect/>
            </a:stretch>
          </p:blipFill>
          <p:spPr>
            <a:xfrm>
              <a:off x="450151" y="1368983"/>
              <a:ext cx="4399661" cy="5868035"/>
            </a:xfrm>
            <a:prstGeom prst="rect">
              <a:avLst/>
            </a:prstGeom>
          </p:spPr>
        </p:pic>
        <p:pic>
          <p:nvPicPr>
            <p:cNvPr id="5" name="object 5"/>
            <p:cNvPicPr/>
            <p:nvPr/>
          </p:nvPicPr>
          <p:blipFill>
            <a:blip r:embed="rId3" cstate="print"/>
            <a:stretch>
              <a:fillRect/>
            </a:stretch>
          </p:blipFill>
          <p:spPr>
            <a:xfrm>
              <a:off x="666178" y="1692402"/>
              <a:ext cx="3641216" cy="3240024"/>
            </a:xfrm>
            <a:prstGeom prst="rect">
              <a:avLst/>
            </a:prstGeom>
          </p:spPr>
        </p:pic>
        <p:sp>
          <p:nvSpPr>
            <p:cNvPr id="6" name="object 6"/>
            <p:cNvSpPr/>
            <p:nvPr/>
          </p:nvSpPr>
          <p:spPr>
            <a:xfrm>
              <a:off x="3119374" y="5967729"/>
              <a:ext cx="440690" cy="356235"/>
            </a:xfrm>
            <a:custGeom>
              <a:avLst/>
              <a:gdLst/>
              <a:ahLst/>
              <a:cxnLst/>
              <a:rect l="l" t="t" r="r" b="b"/>
              <a:pathLst>
                <a:path w="440689" h="356235">
                  <a:moveTo>
                    <a:pt x="289560" y="0"/>
                  </a:moveTo>
                  <a:lnTo>
                    <a:pt x="276098" y="89027"/>
                  </a:lnTo>
                  <a:lnTo>
                    <a:pt x="26924" y="51308"/>
                  </a:lnTo>
                  <a:lnTo>
                    <a:pt x="0" y="229235"/>
                  </a:lnTo>
                  <a:lnTo>
                    <a:pt x="249174" y="267081"/>
                  </a:lnTo>
                  <a:lnTo>
                    <a:pt x="235712" y="356019"/>
                  </a:lnTo>
                  <a:lnTo>
                    <a:pt x="440689" y="204978"/>
                  </a:lnTo>
                  <a:lnTo>
                    <a:pt x="289560" y="0"/>
                  </a:lnTo>
                  <a:close/>
                </a:path>
              </a:pathLst>
            </a:custGeom>
            <a:solidFill>
              <a:srgbClr val="FF0000"/>
            </a:solidFill>
          </p:spPr>
          <p:txBody>
            <a:bodyPr wrap="square" lIns="0" tIns="0" rIns="0" bIns="0" rtlCol="0"/>
            <a:lstStyle/>
            <a:p>
              <a:endParaRPr/>
            </a:p>
          </p:txBody>
        </p:sp>
      </p:grpSp>
      <p:sp>
        <p:nvSpPr>
          <p:cNvPr id="7" name="object 7"/>
          <p:cNvSpPr txBox="1"/>
          <p:nvPr/>
        </p:nvSpPr>
        <p:spPr>
          <a:xfrm>
            <a:off x="5118100" y="2039708"/>
            <a:ext cx="5318760" cy="5388655"/>
          </a:xfrm>
          <a:prstGeom prst="rect">
            <a:avLst/>
          </a:prstGeom>
        </p:spPr>
        <p:txBody>
          <a:bodyPr vert="horz" wrap="square" lIns="0" tIns="118110" rIns="0" bIns="0" rtlCol="0">
            <a:spAutoFit/>
          </a:bodyPr>
          <a:lstStyle/>
          <a:p>
            <a:pPr marL="12700">
              <a:lnSpc>
                <a:spcPct val="100000"/>
              </a:lnSpc>
              <a:spcBef>
                <a:spcPts val="930"/>
              </a:spcBef>
            </a:pPr>
            <a:r>
              <a:rPr sz="1600" b="1" dirty="0">
                <a:solidFill>
                  <a:schemeClr val="tx1"/>
                </a:solidFill>
                <a:latin typeface="Century Gothic" panose="020B0502020202020204" pitchFamily="34" charset="0"/>
                <a:cs typeface="Arial"/>
              </a:rPr>
              <a:t>36 Orange Street, Brooklyn Heights</a:t>
            </a:r>
            <a:endParaRPr sz="1600" dirty="0">
              <a:solidFill>
                <a:schemeClr val="tx1"/>
              </a:solidFill>
              <a:latin typeface="Century Gothic" panose="020B0502020202020204" pitchFamily="34" charset="0"/>
              <a:cs typeface="Arial"/>
            </a:endParaRPr>
          </a:p>
          <a:p>
            <a:pPr marL="12700" marR="2343785">
              <a:lnSpc>
                <a:spcPct val="141700"/>
              </a:lnSpc>
              <a:spcBef>
                <a:spcPts val="30"/>
              </a:spcBef>
            </a:pPr>
            <a:r>
              <a:rPr sz="1200" b="1" dirty="0">
                <a:solidFill>
                  <a:schemeClr val="tx1"/>
                </a:solidFill>
                <a:latin typeface="Century Gothic" panose="020B0502020202020204" pitchFamily="34" charset="0"/>
                <a:cs typeface="Arial"/>
              </a:rPr>
              <a:t>Coal chute cover made by Howell Saxton &amp; Co. Rubbing May 2000</a:t>
            </a:r>
            <a:endParaRPr sz="1200" dirty="0">
              <a:solidFill>
                <a:schemeClr val="tx1"/>
              </a:solidFill>
              <a:latin typeface="Century Gothic" panose="020B0502020202020204" pitchFamily="34" charset="0"/>
              <a:cs typeface="Arial"/>
            </a:endParaRPr>
          </a:p>
          <a:p>
            <a:pPr>
              <a:lnSpc>
                <a:spcPct val="100000"/>
              </a:lnSpc>
              <a:spcBef>
                <a:spcPts val="1015"/>
              </a:spcBef>
            </a:pPr>
            <a:endParaRPr sz="1200" dirty="0">
              <a:solidFill>
                <a:schemeClr val="tx1"/>
              </a:solidFill>
              <a:latin typeface="Century Gothic" panose="020B0502020202020204" pitchFamily="34" charset="0"/>
              <a:cs typeface="Arial"/>
            </a:endParaRPr>
          </a:p>
          <a:p>
            <a:pPr marL="12700" marR="5715" algn="just">
              <a:lnSpc>
                <a:spcPct val="100000"/>
              </a:lnSpc>
              <a:spcBef>
                <a:spcPts val="5"/>
              </a:spcBef>
            </a:pPr>
            <a:r>
              <a:rPr sz="1200" dirty="0">
                <a:solidFill>
                  <a:schemeClr val="tx1"/>
                </a:solidFill>
                <a:latin typeface="Century Gothic" panose="020B0502020202020204" pitchFamily="34" charset="0"/>
                <a:cs typeface="Arial"/>
              </a:rPr>
              <a:t>This rubbing was done in my beloved Brooklyn Heights with its dark-red stone houses with iron balconies and iron fences and many trees. Many of those old buildings have coal chute covers from the old foundries like this one. Its inscription reads: »Howell Saxtan &amp;. CO; 353 Adams St. BK’H«, written in a rimmed circle with a star in the middle. According to Diana Stuart »Howell« was the honourable James Howell, mayor of the City of Brooklyn for two terms beginning in 1877 and a trustee and later, president of what was called the »New York and Brooklyn Bridge«. Possibly he or one of his relatives was also one of the owners of a foundry. This cover was made in the last third of 19th century.</a:t>
            </a:r>
          </a:p>
          <a:p>
            <a:pPr marL="12700" marR="5715" algn="just">
              <a:lnSpc>
                <a:spcPct val="100000"/>
              </a:lnSpc>
              <a:spcBef>
                <a:spcPts val="1205"/>
              </a:spcBef>
            </a:pPr>
            <a:r>
              <a:rPr sz="1200" dirty="0">
                <a:solidFill>
                  <a:schemeClr val="tx1"/>
                </a:solidFill>
                <a:latin typeface="Century Gothic" panose="020B0502020202020204" pitchFamily="34" charset="0"/>
                <a:cs typeface="Arial"/>
              </a:rPr>
              <a:t>I remember a very interesting conversation with someone while I was rubbing in front of the house where he lived. He told me about a famous New York artist, “the doyenne of the New York avant-garde”, Sari Dienes (1898 – 1992), who worked on a similar project about 20 years earlier. But she used paper and later used the rubbings as a component for her media-mixed works. I became keen to hear about her friends. Sari lived together with John Cage and many other outstanding artists of that time in America and France. During my stay in New York I was lucky to see an exhibition of her art in a SoHo gallery.</a:t>
            </a:r>
          </a:p>
          <a:p>
            <a:pPr marL="12700" marR="5080" algn="just">
              <a:lnSpc>
                <a:spcPct val="100000"/>
              </a:lnSpc>
              <a:spcBef>
                <a:spcPts val="1200"/>
              </a:spcBef>
            </a:pPr>
            <a:r>
              <a:rPr sz="1200" dirty="0">
                <a:solidFill>
                  <a:schemeClr val="tx1"/>
                </a:solidFill>
                <a:latin typeface="Century Gothic" panose="020B0502020202020204" pitchFamily="34" charset="0"/>
                <a:cs typeface="Arial"/>
              </a:rPr>
              <a:t>In the end, the story of this corner is so sad: This cover was quarried out of the sidewalk and the hole filled with concrete.</a:t>
            </a:r>
          </a:p>
        </p:txBody>
      </p:sp>
      <p:sp>
        <p:nvSpPr>
          <p:cNvPr id="10" name="TextBox 9">
            <a:extLst>
              <a:ext uri="{FF2B5EF4-FFF2-40B4-BE49-F238E27FC236}">
                <a16:creationId xmlns:a16="http://schemas.microsoft.com/office/drawing/2014/main" id="{586719A3-9A9B-0342-A020-404C9FD4A664}"/>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TextBox 11">
            <a:extLst>
              <a:ext uri="{FF2B5EF4-FFF2-40B4-BE49-F238E27FC236}">
                <a16:creationId xmlns:a16="http://schemas.microsoft.com/office/drawing/2014/main" id="{65191D40-026E-6542-A7C8-CC8CB7F12475}"/>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3" name="Slide Number Placeholder 14">
            <a:extLst>
              <a:ext uri="{FF2B5EF4-FFF2-40B4-BE49-F238E27FC236}">
                <a16:creationId xmlns:a16="http://schemas.microsoft.com/office/drawing/2014/main" id="{0F7C0DFC-03FF-944E-815C-977598A6133A}"/>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18</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81940" y="2025396"/>
            <a:ext cx="4713732" cy="3509772"/>
          </a:xfrm>
          <a:prstGeom prst="rect">
            <a:avLst/>
          </a:prstGeom>
        </p:spPr>
      </p:pic>
      <p:sp>
        <p:nvSpPr>
          <p:cNvPr id="4" name="object 4"/>
          <p:cNvSpPr txBox="1"/>
          <p:nvPr/>
        </p:nvSpPr>
        <p:spPr>
          <a:xfrm>
            <a:off x="579501" y="5436819"/>
            <a:ext cx="4119245" cy="595676"/>
          </a:xfrm>
          <a:prstGeom prst="rect">
            <a:avLst/>
          </a:prstGeom>
          <a:solidFill>
            <a:schemeClr val="bg1">
              <a:lumMod val="95000"/>
            </a:schemeClr>
          </a:solidFill>
        </p:spPr>
        <p:txBody>
          <a:bodyPr vert="horz" wrap="square" lIns="0" tIns="41275" rIns="0" bIns="0" rtlCol="0">
            <a:spAutoFit/>
          </a:bodyPr>
          <a:lstStyle/>
          <a:p>
            <a:pPr marL="207010" marR="198755" algn="ctr">
              <a:lnSpc>
                <a:spcPct val="100000"/>
              </a:lnSpc>
              <a:spcBef>
                <a:spcPts val="325"/>
              </a:spcBef>
            </a:pPr>
            <a:r>
              <a:rPr sz="1200" dirty="0">
                <a:latin typeface="Arial"/>
                <a:cs typeface="Arial"/>
              </a:rPr>
              <a:t>Preview of a sample of U</a:t>
            </a:r>
            <a:r>
              <a:rPr sz="950" dirty="0">
                <a:latin typeface="Arial"/>
                <a:cs typeface="Arial"/>
              </a:rPr>
              <a:t>NDERFOOT IN </a:t>
            </a:r>
            <a:r>
              <a:rPr sz="1200" dirty="0">
                <a:latin typeface="Arial"/>
                <a:cs typeface="Arial"/>
              </a:rPr>
              <a:t>N</a:t>
            </a:r>
            <a:r>
              <a:rPr sz="950" dirty="0">
                <a:latin typeface="Arial"/>
                <a:cs typeface="Arial"/>
              </a:rPr>
              <a:t>EW </a:t>
            </a:r>
            <a:r>
              <a:rPr sz="1200" dirty="0">
                <a:latin typeface="Arial"/>
                <a:cs typeface="Arial"/>
              </a:rPr>
              <a:t>Y</a:t>
            </a:r>
            <a:r>
              <a:rPr sz="950" dirty="0">
                <a:latin typeface="Arial"/>
                <a:cs typeface="Arial"/>
              </a:rPr>
              <a:t>ORK </a:t>
            </a:r>
            <a:r>
              <a:rPr sz="1200" dirty="0">
                <a:latin typeface="Arial"/>
                <a:cs typeface="Arial"/>
              </a:rPr>
              <a:t>displayed in Berlin at GSG in December 2001 in cooperation with International Design Center</a:t>
            </a:r>
          </a:p>
        </p:txBody>
      </p:sp>
      <p:sp>
        <p:nvSpPr>
          <p:cNvPr id="5" name="object 5"/>
          <p:cNvSpPr txBox="1"/>
          <p:nvPr/>
        </p:nvSpPr>
        <p:spPr>
          <a:xfrm>
            <a:off x="4994275" y="2145918"/>
            <a:ext cx="5534660" cy="3266920"/>
          </a:xfrm>
          <a:prstGeom prst="rect">
            <a:avLst/>
          </a:prstGeom>
        </p:spPr>
        <p:txBody>
          <a:bodyPr vert="horz" wrap="square" lIns="0" tIns="12065" rIns="0" bIns="0" rtlCol="0">
            <a:spAutoFit/>
          </a:bodyPr>
          <a:lstStyle/>
          <a:p>
            <a:pPr marL="12700">
              <a:lnSpc>
                <a:spcPct val="100000"/>
              </a:lnSpc>
              <a:spcBef>
                <a:spcPts val="95"/>
              </a:spcBef>
            </a:pPr>
            <a:r>
              <a:rPr sz="1600" b="1" cap="small" dirty="0">
                <a:solidFill>
                  <a:schemeClr val="tx1"/>
                </a:solidFill>
                <a:latin typeface="Century Gothic" panose="020B0502020202020204" pitchFamily="34" charset="0"/>
                <a:cs typeface="Arial"/>
              </a:rPr>
              <a:t>Inspiration Underfoot in New York:</a:t>
            </a:r>
            <a:endParaRPr sz="1600" dirty="0">
              <a:solidFill>
                <a:schemeClr val="tx1"/>
              </a:solidFill>
              <a:latin typeface="Century Gothic" panose="020B0502020202020204" pitchFamily="34" charset="0"/>
              <a:cs typeface="Arial"/>
            </a:endParaRPr>
          </a:p>
          <a:p>
            <a:pPr marL="12700">
              <a:lnSpc>
                <a:spcPct val="100000"/>
              </a:lnSpc>
            </a:pPr>
            <a:r>
              <a:rPr sz="1600" b="1" dirty="0">
                <a:solidFill>
                  <a:schemeClr val="tx1"/>
                </a:solidFill>
                <a:latin typeface="Century Gothic" panose="020B0502020202020204" pitchFamily="34" charset="0"/>
                <a:cs typeface="Arial"/>
              </a:rPr>
              <a:t>A Project for People in Transition – Young and Old</a:t>
            </a:r>
            <a:br>
              <a:rPr lang="de-DE" sz="1600" b="1" dirty="0">
                <a:solidFill>
                  <a:schemeClr val="tx1"/>
                </a:solidFill>
                <a:latin typeface="Century Gothic" panose="020B0502020202020204" pitchFamily="34" charset="0"/>
                <a:cs typeface="Arial"/>
              </a:rPr>
            </a:br>
            <a:endParaRPr sz="1600" dirty="0">
              <a:solidFill>
                <a:schemeClr val="tx1"/>
              </a:solidFill>
              <a:latin typeface="Century Gothic" panose="020B0502020202020204" pitchFamily="34" charset="0"/>
              <a:cs typeface="Arial"/>
            </a:endParaRPr>
          </a:p>
          <a:p>
            <a:pPr marL="12700" marR="5080" algn="just">
              <a:lnSpc>
                <a:spcPct val="100000"/>
              </a:lnSpc>
              <a:spcBef>
                <a:spcPts val="5"/>
              </a:spcBef>
            </a:pPr>
            <a:r>
              <a:rPr sz="1200" dirty="0">
                <a:solidFill>
                  <a:schemeClr val="tx1"/>
                </a:solidFill>
                <a:latin typeface="Century Gothic" panose="020B0502020202020204" pitchFamily="34" charset="0"/>
                <a:cs typeface="Arial"/>
              </a:rPr>
              <a:t>Probably nearly every child sooner or later playfully will make a rubbing of a coin or other object. Gisla Burkhardt‘s rubbings U</a:t>
            </a:r>
            <a:r>
              <a:rPr sz="950" dirty="0">
                <a:solidFill>
                  <a:schemeClr val="tx1"/>
                </a:solidFill>
                <a:latin typeface="Century Gothic" panose="020B0502020202020204" pitchFamily="34" charset="0"/>
                <a:cs typeface="Arial"/>
              </a:rPr>
              <a:t>NDERFOOT IN </a:t>
            </a:r>
            <a:r>
              <a:rPr sz="1200" dirty="0">
                <a:solidFill>
                  <a:schemeClr val="tx1"/>
                </a:solidFill>
                <a:latin typeface="Century Gothic" panose="020B0502020202020204" pitchFamily="34" charset="0"/>
                <a:cs typeface="Arial"/>
              </a:rPr>
              <a:t>N</a:t>
            </a:r>
            <a:r>
              <a:rPr sz="950" dirty="0">
                <a:solidFill>
                  <a:schemeClr val="tx1"/>
                </a:solidFill>
                <a:latin typeface="Century Gothic" panose="020B0502020202020204" pitchFamily="34" charset="0"/>
                <a:cs typeface="Arial"/>
              </a:rPr>
              <a:t>EW </a:t>
            </a:r>
            <a:r>
              <a:rPr sz="1200" dirty="0">
                <a:solidFill>
                  <a:schemeClr val="tx1"/>
                </a:solidFill>
                <a:latin typeface="Century Gothic" panose="020B0502020202020204" pitchFamily="34" charset="0"/>
                <a:cs typeface="Arial"/>
              </a:rPr>
              <a:t>Y</a:t>
            </a:r>
            <a:r>
              <a:rPr sz="950" dirty="0">
                <a:solidFill>
                  <a:schemeClr val="tx1"/>
                </a:solidFill>
                <a:latin typeface="Century Gothic" panose="020B0502020202020204" pitchFamily="34" charset="0"/>
                <a:cs typeface="Arial"/>
              </a:rPr>
              <a:t>ORK </a:t>
            </a:r>
            <a:r>
              <a:rPr sz="1200" dirty="0">
                <a:solidFill>
                  <a:schemeClr val="tx1"/>
                </a:solidFill>
                <a:latin typeface="Century Gothic" panose="020B0502020202020204" pitchFamily="34" charset="0"/>
                <a:cs typeface="Arial"/>
              </a:rPr>
              <a:t>and her project I</a:t>
            </a:r>
            <a:r>
              <a:rPr sz="950" dirty="0">
                <a:solidFill>
                  <a:schemeClr val="tx1"/>
                </a:solidFill>
                <a:latin typeface="Century Gothic" panose="020B0502020202020204" pitchFamily="34" charset="0"/>
                <a:cs typeface="Arial"/>
              </a:rPr>
              <a:t>NSPIRATION </a:t>
            </a:r>
            <a:r>
              <a:rPr sz="1200" dirty="0">
                <a:solidFill>
                  <a:schemeClr val="tx1"/>
                </a:solidFill>
                <a:latin typeface="Century Gothic" panose="020B0502020202020204" pitchFamily="34" charset="0"/>
                <a:cs typeface="Arial"/>
              </a:rPr>
              <a:t>U</a:t>
            </a:r>
            <a:r>
              <a:rPr sz="950" dirty="0">
                <a:solidFill>
                  <a:schemeClr val="tx1"/>
                </a:solidFill>
                <a:latin typeface="Century Gothic" panose="020B0502020202020204" pitchFamily="34" charset="0"/>
                <a:cs typeface="Arial"/>
              </a:rPr>
              <a:t>NDERFOOT IN </a:t>
            </a:r>
            <a:r>
              <a:rPr sz="1200" dirty="0">
                <a:solidFill>
                  <a:schemeClr val="tx1"/>
                </a:solidFill>
                <a:latin typeface="Century Gothic" panose="020B0502020202020204" pitchFamily="34" charset="0"/>
                <a:cs typeface="Arial"/>
              </a:rPr>
              <a:t>N</a:t>
            </a:r>
            <a:r>
              <a:rPr sz="950" dirty="0">
                <a:solidFill>
                  <a:schemeClr val="tx1"/>
                </a:solidFill>
                <a:latin typeface="Century Gothic" panose="020B0502020202020204" pitchFamily="34" charset="0"/>
                <a:cs typeface="Arial"/>
              </a:rPr>
              <a:t>EW </a:t>
            </a:r>
            <a:r>
              <a:rPr sz="1200" dirty="0">
                <a:solidFill>
                  <a:schemeClr val="tx1"/>
                </a:solidFill>
                <a:latin typeface="Century Gothic" panose="020B0502020202020204" pitchFamily="34" charset="0"/>
                <a:cs typeface="Arial"/>
              </a:rPr>
              <a:t>Y</a:t>
            </a:r>
            <a:r>
              <a:rPr sz="950" dirty="0">
                <a:solidFill>
                  <a:schemeClr val="tx1"/>
                </a:solidFill>
                <a:latin typeface="Century Gothic" panose="020B0502020202020204" pitchFamily="34" charset="0"/>
                <a:cs typeface="Arial"/>
              </a:rPr>
              <a:t>ORK </a:t>
            </a:r>
            <a:r>
              <a:rPr sz="1200" dirty="0">
                <a:solidFill>
                  <a:schemeClr val="tx1"/>
                </a:solidFill>
                <a:latin typeface="Century Gothic" panose="020B0502020202020204" pitchFamily="34" charset="0"/>
                <a:cs typeface="Arial"/>
              </a:rPr>
              <a:t>connect to our childhood rubbings and adventures. The project opens a whole world of inspiration and creativity from art and culture often stepped upon. We are educated in our heritage while opening our eyes to the beauty around us. The project is grounded in the City‘s urban development and in art – art that exists in everyday life; art that in its core is there for everybody!</a:t>
            </a:r>
          </a:p>
          <a:p>
            <a:pPr marL="12700" marR="5715" algn="just">
              <a:lnSpc>
                <a:spcPct val="100000"/>
              </a:lnSpc>
              <a:spcBef>
                <a:spcPts val="900"/>
              </a:spcBef>
            </a:pPr>
            <a:r>
              <a:rPr sz="1200" dirty="0">
                <a:solidFill>
                  <a:schemeClr val="tx1"/>
                </a:solidFill>
                <a:latin typeface="Century Gothic" panose="020B0502020202020204" pitchFamily="34" charset="0"/>
                <a:cs typeface="Arial"/>
              </a:rPr>
              <a:t>Gisla‘s project I</a:t>
            </a:r>
            <a:r>
              <a:rPr sz="950" dirty="0">
                <a:solidFill>
                  <a:schemeClr val="tx1"/>
                </a:solidFill>
                <a:latin typeface="Century Gothic" panose="020B0502020202020204" pitchFamily="34" charset="0"/>
                <a:cs typeface="Arial"/>
              </a:rPr>
              <a:t>NSPIRATION </a:t>
            </a:r>
            <a:r>
              <a:rPr sz="1200" dirty="0">
                <a:solidFill>
                  <a:schemeClr val="tx1"/>
                </a:solidFill>
                <a:latin typeface="Century Gothic" panose="020B0502020202020204" pitchFamily="34" charset="0"/>
                <a:cs typeface="Arial"/>
              </a:rPr>
              <a:t>U</a:t>
            </a:r>
            <a:r>
              <a:rPr sz="950" dirty="0">
                <a:solidFill>
                  <a:schemeClr val="tx1"/>
                </a:solidFill>
                <a:latin typeface="Century Gothic" panose="020B0502020202020204" pitchFamily="34" charset="0"/>
                <a:cs typeface="Arial"/>
              </a:rPr>
              <a:t>NDERFOOT IN </a:t>
            </a:r>
            <a:r>
              <a:rPr sz="1200" dirty="0">
                <a:solidFill>
                  <a:schemeClr val="tx1"/>
                </a:solidFill>
                <a:latin typeface="Century Gothic" panose="020B0502020202020204" pitchFamily="34" charset="0"/>
                <a:cs typeface="Arial"/>
              </a:rPr>
              <a:t>N</a:t>
            </a:r>
            <a:r>
              <a:rPr sz="950" dirty="0">
                <a:solidFill>
                  <a:schemeClr val="tx1"/>
                </a:solidFill>
                <a:latin typeface="Century Gothic" panose="020B0502020202020204" pitchFamily="34" charset="0"/>
                <a:cs typeface="Arial"/>
              </a:rPr>
              <a:t>EW </a:t>
            </a:r>
            <a:r>
              <a:rPr sz="1200" dirty="0">
                <a:solidFill>
                  <a:schemeClr val="tx1"/>
                </a:solidFill>
                <a:latin typeface="Century Gothic" panose="020B0502020202020204" pitchFamily="34" charset="0"/>
                <a:cs typeface="Arial"/>
              </a:rPr>
              <a:t>Y</a:t>
            </a:r>
            <a:r>
              <a:rPr sz="950" dirty="0">
                <a:solidFill>
                  <a:schemeClr val="tx1"/>
                </a:solidFill>
                <a:latin typeface="Century Gothic" panose="020B0502020202020204" pitchFamily="34" charset="0"/>
                <a:cs typeface="Arial"/>
              </a:rPr>
              <a:t>ORK </a:t>
            </a:r>
            <a:r>
              <a:rPr sz="1200" dirty="0">
                <a:solidFill>
                  <a:schemeClr val="tx1"/>
                </a:solidFill>
                <a:latin typeface="Century Gothic" panose="020B0502020202020204" pitchFamily="34" charset="0"/>
                <a:cs typeface="Arial"/>
              </a:rPr>
              <a:t>will open the hearts and minds of people in transition to see the unexpected and find inspiration where none was before. It will bring together young and old people from around the world and tells the story of a city with its vast history and diverse culture. It‘s the story of transition!</a:t>
            </a:r>
          </a:p>
        </p:txBody>
      </p:sp>
      <p:sp>
        <p:nvSpPr>
          <p:cNvPr id="6" name="object 6"/>
          <p:cNvSpPr txBox="1"/>
          <p:nvPr/>
        </p:nvSpPr>
        <p:spPr>
          <a:xfrm>
            <a:off x="4985658" y="5454605"/>
            <a:ext cx="5532755" cy="936154"/>
          </a:xfrm>
          <a:prstGeom prst="rect">
            <a:avLst/>
          </a:prstGeom>
        </p:spPr>
        <p:txBody>
          <a:bodyPr vert="horz" wrap="square" lIns="0" tIns="12700" rIns="0" bIns="0" rtlCol="0">
            <a:spAutoFit/>
          </a:bodyPr>
          <a:lstStyle/>
          <a:p>
            <a:pPr marL="12700" marR="5080" algn="just">
              <a:lnSpc>
                <a:spcPct val="100000"/>
              </a:lnSpc>
              <a:spcBef>
                <a:spcPts val="100"/>
              </a:spcBef>
            </a:pPr>
            <a:r>
              <a:rPr sz="1200" dirty="0">
                <a:solidFill>
                  <a:schemeClr val="tx1"/>
                </a:solidFill>
                <a:latin typeface="Century Gothic" panose="020B0502020202020204" pitchFamily="34" charset="0"/>
                <a:cs typeface="Arial"/>
              </a:rPr>
              <a:t>I</a:t>
            </a:r>
            <a:r>
              <a:rPr sz="950" dirty="0">
                <a:solidFill>
                  <a:schemeClr val="tx1"/>
                </a:solidFill>
                <a:latin typeface="Century Gothic" panose="020B0502020202020204" pitchFamily="34" charset="0"/>
                <a:cs typeface="Arial"/>
              </a:rPr>
              <a:t>NSPIRATION </a:t>
            </a:r>
            <a:r>
              <a:rPr sz="1200" dirty="0">
                <a:solidFill>
                  <a:schemeClr val="tx1"/>
                </a:solidFill>
                <a:latin typeface="Century Gothic" panose="020B0502020202020204" pitchFamily="34" charset="0"/>
                <a:cs typeface="Arial"/>
              </a:rPr>
              <a:t>U</a:t>
            </a:r>
            <a:r>
              <a:rPr sz="950" dirty="0">
                <a:solidFill>
                  <a:schemeClr val="tx1"/>
                </a:solidFill>
                <a:latin typeface="Century Gothic" panose="020B0502020202020204" pitchFamily="34" charset="0"/>
                <a:cs typeface="Arial"/>
              </a:rPr>
              <a:t>NDERFOOT IN </a:t>
            </a:r>
            <a:r>
              <a:rPr sz="1200" dirty="0">
                <a:solidFill>
                  <a:schemeClr val="tx1"/>
                </a:solidFill>
                <a:latin typeface="Century Gothic" panose="020B0502020202020204" pitchFamily="34" charset="0"/>
                <a:cs typeface="Arial"/>
              </a:rPr>
              <a:t>N</a:t>
            </a:r>
            <a:r>
              <a:rPr sz="950" dirty="0">
                <a:solidFill>
                  <a:schemeClr val="tx1"/>
                </a:solidFill>
                <a:latin typeface="Century Gothic" panose="020B0502020202020204" pitchFamily="34" charset="0"/>
                <a:cs typeface="Arial"/>
              </a:rPr>
              <a:t>EW </a:t>
            </a:r>
            <a:r>
              <a:rPr sz="1200" dirty="0">
                <a:solidFill>
                  <a:schemeClr val="tx1"/>
                </a:solidFill>
                <a:latin typeface="Century Gothic" panose="020B0502020202020204" pitchFamily="34" charset="0"/>
                <a:cs typeface="Arial"/>
              </a:rPr>
              <a:t>Y</a:t>
            </a:r>
            <a:r>
              <a:rPr sz="950" dirty="0">
                <a:solidFill>
                  <a:schemeClr val="tx1"/>
                </a:solidFill>
                <a:latin typeface="Century Gothic" panose="020B0502020202020204" pitchFamily="34" charset="0"/>
                <a:cs typeface="Arial"/>
              </a:rPr>
              <a:t>ORK </a:t>
            </a:r>
            <a:r>
              <a:rPr sz="1200" dirty="0">
                <a:solidFill>
                  <a:schemeClr val="tx1"/>
                </a:solidFill>
                <a:latin typeface="Century Gothic" panose="020B0502020202020204" pitchFamily="34" charset="0"/>
                <a:cs typeface="Arial"/>
              </a:rPr>
              <a:t>is a project for people in transition – having reached midlife and asking themselves where they come from and what they still aim to achieve. It is changing their perspectives – from looking up to looking down and seeing possibilities and beauty in places least expected.</a:t>
            </a:r>
          </a:p>
        </p:txBody>
      </p:sp>
      <p:sp>
        <p:nvSpPr>
          <p:cNvPr id="7" name="object 7"/>
          <p:cNvSpPr txBox="1"/>
          <p:nvPr/>
        </p:nvSpPr>
        <p:spPr>
          <a:xfrm>
            <a:off x="4986293" y="6432526"/>
            <a:ext cx="5532120" cy="936154"/>
          </a:xfrm>
          <a:prstGeom prst="rect">
            <a:avLst/>
          </a:prstGeom>
        </p:spPr>
        <p:txBody>
          <a:bodyPr vert="horz" wrap="square" lIns="0" tIns="12700" rIns="0" bIns="0" rtlCol="0">
            <a:spAutoFit/>
          </a:bodyPr>
          <a:lstStyle/>
          <a:p>
            <a:pPr marL="12700" marR="5080" algn="just">
              <a:lnSpc>
                <a:spcPct val="100000"/>
              </a:lnSpc>
              <a:spcBef>
                <a:spcPts val="100"/>
              </a:spcBef>
            </a:pPr>
            <a:r>
              <a:rPr sz="1200" dirty="0">
                <a:solidFill>
                  <a:schemeClr val="tx1"/>
                </a:solidFill>
                <a:latin typeface="Century Gothic" panose="020B0502020202020204" pitchFamily="34" charset="0"/>
                <a:cs typeface="Arial"/>
              </a:rPr>
              <a:t>The project is developed by IE, the I</a:t>
            </a:r>
            <a:r>
              <a:rPr sz="950" dirty="0">
                <a:solidFill>
                  <a:schemeClr val="tx1"/>
                </a:solidFill>
                <a:latin typeface="Century Gothic" panose="020B0502020202020204" pitchFamily="34" charset="0"/>
                <a:cs typeface="Arial"/>
              </a:rPr>
              <a:t>NSPIRING </a:t>
            </a:r>
            <a:r>
              <a:rPr sz="1200" dirty="0">
                <a:solidFill>
                  <a:schemeClr val="tx1"/>
                </a:solidFill>
                <a:latin typeface="Century Gothic" panose="020B0502020202020204" pitchFamily="34" charset="0"/>
                <a:cs typeface="Arial"/>
              </a:rPr>
              <a:t>E</a:t>
            </a:r>
            <a:r>
              <a:rPr sz="950" dirty="0">
                <a:solidFill>
                  <a:schemeClr val="tx1"/>
                </a:solidFill>
                <a:latin typeface="Century Gothic" panose="020B0502020202020204" pitchFamily="34" charset="0"/>
                <a:cs typeface="Arial"/>
              </a:rPr>
              <a:t>NVIRONMENT </a:t>
            </a:r>
            <a:r>
              <a:rPr sz="1200" dirty="0">
                <a:solidFill>
                  <a:schemeClr val="tx1"/>
                </a:solidFill>
                <a:latin typeface="Century Gothic" panose="020B0502020202020204" pitchFamily="34" charset="0"/>
                <a:cs typeface="Arial"/>
              </a:rPr>
              <a:t>initiative, an association based in Berlin reaching out to New York and to people in transition worldwide to heighten awareness and belief in possibilities, creativity, growth and meaning hidden in the for- gotten relics of the past as we move through the many changes in life.</a:t>
            </a:r>
          </a:p>
        </p:txBody>
      </p:sp>
      <p:sp>
        <p:nvSpPr>
          <p:cNvPr id="11" name="TextBox 10">
            <a:extLst>
              <a:ext uri="{FF2B5EF4-FFF2-40B4-BE49-F238E27FC236}">
                <a16:creationId xmlns:a16="http://schemas.microsoft.com/office/drawing/2014/main" id="{ADB596AC-4E94-DA4E-9BAC-AD5301A8865A}"/>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12" name="Slide Number Placeholder 14">
            <a:extLst>
              <a:ext uri="{FF2B5EF4-FFF2-40B4-BE49-F238E27FC236}">
                <a16:creationId xmlns:a16="http://schemas.microsoft.com/office/drawing/2014/main" id="{EE940B88-BA78-DD49-B4FB-2E59EDB2D4B5}"/>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19</a:t>
            </a:r>
            <a:endParaRPr lang="de-DE" spc="-25" dirty="0">
              <a:solidFill>
                <a:schemeClr val="tx1">
                  <a:lumMod val="50000"/>
                  <a:lumOff val="50000"/>
                </a:schemeClr>
              </a:solidFill>
              <a:latin typeface="Century Gothic" panose="020B0502020202020204" pitchFamily="34" charset="0"/>
            </a:endParaRPr>
          </a:p>
        </p:txBody>
      </p:sp>
      <p:sp>
        <p:nvSpPr>
          <p:cNvPr id="14" name="TextBox 13">
            <a:extLst>
              <a:ext uri="{FF2B5EF4-FFF2-40B4-BE49-F238E27FC236}">
                <a16:creationId xmlns:a16="http://schemas.microsoft.com/office/drawing/2014/main" id="{87D35441-3ACA-1A47-BEBD-910623E0EDB6}"/>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15" name="TextBox 14">
            <a:extLst>
              <a:ext uri="{FF2B5EF4-FFF2-40B4-BE49-F238E27FC236}">
                <a16:creationId xmlns:a16="http://schemas.microsoft.com/office/drawing/2014/main" id="{F26B526D-8422-1B41-ABBC-5140A043DFCD}"/>
              </a:ext>
            </a:extLst>
          </p:cNvPr>
          <p:cNvSpPr txBox="1"/>
          <p:nvPr/>
        </p:nvSpPr>
        <p:spPr>
          <a:xfrm>
            <a:off x="792490" y="809625"/>
            <a:ext cx="4191000" cy="584775"/>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INSPIRATION</a:t>
            </a:r>
          </a:p>
        </p:txBody>
      </p:sp>
      <p:sp>
        <p:nvSpPr>
          <p:cNvPr id="16" name="TextBox 15">
            <a:extLst>
              <a:ext uri="{FF2B5EF4-FFF2-40B4-BE49-F238E27FC236}">
                <a16:creationId xmlns:a16="http://schemas.microsoft.com/office/drawing/2014/main" id="{E256F4A0-53A5-5548-B3DF-5C02ADB51DB2}"/>
              </a:ext>
            </a:extLst>
          </p:cNvPr>
          <p:cNvSpPr txBox="1"/>
          <p:nvPr/>
        </p:nvSpPr>
        <p:spPr>
          <a:xfrm>
            <a:off x="7705830" y="1735693"/>
            <a:ext cx="1222270" cy="369332"/>
          </a:xfrm>
          <a:prstGeom prst="rect">
            <a:avLst/>
          </a:prstGeom>
          <a:noFill/>
        </p:spPr>
        <p:txBody>
          <a:bodyPr wrap="square" rtlCol="0">
            <a:spAutoFit/>
          </a:bodyPr>
          <a:lstStyle/>
          <a:p>
            <a:pPr algn="ctr"/>
            <a:r>
              <a:rPr lang="de-DE" b="1" spc="300" dirty="0" err="1">
                <a:solidFill>
                  <a:schemeClr val="tx1"/>
                </a:solidFill>
                <a:latin typeface="Century Gothic" panose="020B0502020202020204" pitchFamily="34" charset="0"/>
              </a:rPr>
              <a:t>by</a:t>
            </a:r>
            <a:r>
              <a:rPr lang="de-DE" b="1" spc="300" dirty="0">
                <a:solidFill>
                  <a:schemeClr val="tx1"/>
                </a:solidFill>
                <a:latin typeface="Century Gothic" panose="020B0502020202020204" pitchFamily="34" charset="0"/>
              </a:rPr>
              <a:t> IE &amp;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4584701" y="2142871"/>
            <a:ext cx="5791199" cy="5019323"/>
          </a:xfrm>
          <a:prstGeom prst="rect">
            <a:avLst/>
          </a:prstGeom>
        </p:spPr>
        <p:txBody>
          <a:bodyPr vert="horz" wrap="square" lIns="0" tIns="12700" rIns="0" bIns="0" rtlCol="0">
            <a:spAutoFit/>
          </a:bodyPr>
          <a:lstStyle/>
          <a:p>
            <a:pPr marL="12700" algn="just">
              <a:lnSpc>
                <a:spcPct val="100000"/>
              </a:lnSpc>
              <a:spcBef>
                <a:spcPts val="100"/>
              </a:spcBef>
            </a:pPr>
            <a:r>
              <a:rPr dirty="0">
                <a:solidFill>
                  <a:schemeClr val="tx1"/>
                </a:solidFill>
                <a:latin typeface="Century Gothic" panose="020B0502020202020204" pitchFamily="34" charset="0"/>
              </a:rPr>
              <a:t>Vita</a:t>
            </a:r>
            <a:endParaRPr lang="de-DE" dirty="0">
              <a:solidFill>
                <a:schemeClr val="tx1"/>
              </a:solidFill>
              <a:latin typeface="Century Gothic" panose="020B0502020202020204" pitchFamily="34" charset="0"/>
            </a:endParaRPr>
          </a:p>
          <a:p>
            <a:pPr marL="12700" algn="just">
              <a:lnSpc>
                <a:spcPct val="100000"/>
              </a:lnSpc>
              <a:spcBef>
                <a:spcPts val="100"/>
              </a:spcBef>
            </a:pPr>
            <a:endParaRPr dirty="0">
              <a:solidFill>
                <a:schemeClr val="tx1"/>
              </a:solidFill>
              <a:latin typeface="Century Gothic" panose="020B0502020202020204" pitchFamily="34" charset="0"/>
            </a:endParaRPr>
          </a:p>
          <a:p>
            <a:pPr marL="12700" marR="5080" algn="just">
              <a:lnSpc>
                <a:spcPct val="100000"/>
              </a:lnSpc>
            </a:pPr>
            <a:r>
              <a:rPr sz="1400" b="0" dirty="0">
                <a:solidFill>
                  <a:schemeClr val="tx1"/>
                </a:solidFill>
                <a:latin typeface="Century Gothic" panose="020B0502020202020204" pitchFamily="34" charset="0"/>
              </a:rPr>
              <a:t>Gisla Burkhardt was born in Emmerich, Germany in the lower Rhine region in 1938. She </a:t>
            </a:r>
            <a:r>
              <a:rPr lang="de-DE" sz="1400" b="0" dirty="0">
                <a:solidFill>
                  <a:schemeClr val="tx1"/>
                </a:solidFill>
                <a:latin typeface="Century Gothic" panose="020B0502020202020204" pitchFamily="34" charset="0"/>
              </a:rPr>
              <a:t>was</a:t>
            </a:r>
            <a:r>
              <a:rPr sz="1400" b="0" dirty="0">
                <a:solidFill>
                  <a:schemeClr val="tx1"/>
                </a:solidFill>
                <a:latin typeface="Century Gothic" panose="020B0502020202020204" pitchFamily="34" charset="0"/>
              </a:rPr>
              <a:t> a renowned artist. Her early studies at »Staatliche Kunstakademie in Stuttgart« and at »Hochschule </a:t>
            </a:r>
            <a:r>
              <a:rPr sz="1400" b="0" dirty="0" err="1">
                <a:solidFill>
                  <a:schemeClr val="tx1"/>
                </a:solidFill>
                <a:latin typeface="Century Gothic" panose="020B0502020202020204" pitchFamily="34" charset="0"/>
              </a:rPr>
              <a:t>für</a:t>
            </a:r>
            <a:r>
              <a:rPr sz="1400" b="0" dirty="0">
                <a:solidFill>
                  <a:schemeClr val="tx1"/>
                </a:solidFill>
                <a:latin typeface="Century Gothic" panose="020B0502020202020204" pitchFamily="34" charset="0"/>
              </a:rPr>
              <a:t> </a:t>
            </a:r>
            <a:r>
              <a:rPr lang="de-DE" sz="1400" b="0" dirty="0">
                <a:solidFill>
                  <a:schemeClr val="tx1"/>
                </a:solidFill>
                <a:latin typeface="Century Gothic" panose="020B0502020202020204" pitchFamily="34" charset="0"/>
              </a:rPr>
              <a:t>B</a:t>
            </a:r>
            <a:r>
              <a:rPr sz="1400" b="0" dirty="0" err="1">
                <a:solidFill>
                  <a:schemeClr val="tx1"/>
                </a:solidFill>
                <a:latin typeface="Century Gothic" panose="020B0502020202020204" pitchFamily="34" charset="0"/>
              </a:rPr>
              <a:t>ildende</a:t>
            </a:r>
            <a:r>
              <a:rPr sz="1400" b="0" dirty="0">
                <a:solidFill>
                  <a:schemeClr val="tx1"/>
                </a:solidFill>
                <a:latin typeface="Century Gothic" panose="020B0502020202020204" pitchFamily="34" charset="0"/>
              </a:rPr>
              <a:t> Künste« in Berlin motivated her to create from her heart incorporating old techniques in new ways.</a:t>
            </a:r>
            <a:endParaRPr sz="1400" dirty="0">
              <a:solidFill>
                <a:schemeClr val="tx1"/>
              </a:solidFill>
              <a:latin typeface="Century Gothic" panose="020B0502020202020204" pitchFamily="34" charset="0"/>
            </a:endParaRPr>
          </a:p>
          <a:p>
            <a:pPr marL="12700" marR="5080" algn="just">
              <a:lnSpc>
                <a:spcPct val="100000"/>
              </a:lnSpc>
              <a:spcBef>
                <a:spcPts val="905"/>
              </a:spcBef>
            </a:pPr>
            <a:r>
              <a:rPr sz="1400" b="0" dirty="0">
                <a:solidFill>
                  <a:schemeClr val="tx1"/>
                </a:solidFill>
                <a:latin typeface="Century Gothic" panose="020B0502020202020204" pitchFamily="34" charset="0"/>
              </a:rPr>
              <a:t>She has been living in Berlin since 1961. Since 1965 she has had numerous expositions with art associations, galleries, museums and other institutions. From 1972 to 1982 she was an art teacher in Berlin. She </a:t>
            </a:r>
            <a:r>
              <a:rPr lang="de-DE" sz="1400" b="0" dirty="0">
                <a:solidFill>
                  <a:schemeClr val="tx1"/>
                </a:solidFill>
                <a:latin typeface="Century Gothic" panose="020B0502020202020204" pitchFamily="34" charset="0"/>
              </a:rPr>
              <a:t>was</a:t>
            </a:r>
            <a:r>
              <a:rPr sz="1400" b="0" dirty="0">
                <a:solidFill>
                  <a:schemeClr val="tx1"/>
                </a:solidFill>
                <a:latin typeface="Century Gothic" panose="020B0502020202020204" pitchFamily="34" charset="0"/>
              </a:rPr>
              <a:t> honoured to have been a member of the evaluation committee of</a:t>
            </a:r>
            <a:r>
              <a:rPr lang="de-DE" sz="1400" dirty="0">
                <a:solidFill>
                  <a:schemeClr val="tx1"/>
                </a:solidFill>
                <a:latin typeface="Century Gothic" panose="020B0502020202020204" pitchFamily="34" charset="0"/>
              </a:rPr>
              <a:t> </a:t>
            </a:r>
            <a:r>
              <a:rPr sz="1400" b="0" dirty="0">
                <a:solidFill>
                  <a:schemeClr val="tx1"/>
                </a:solidFill>
                <a:latin typeface="Century Gothic" panose="020B0502020202020204" pitchFamily="34" charset="0"/>
              </a:rPr>
              <a:t>»Künstlerförderung Berlin«, a Berlin city-state organization supporting young artists including artists like the now renowned artist Georg Baselitz in his youth. Like Lawrence Weiner (see above pg. 17 – cover no. 65, Union Square) and Karim Rashid (see above pg. 9 – cover no. 9, Irving Place), </a:t>
            </a:r>
            <a:r>
              <a:rPr lang="de-DE" sz="1400" b="0" dirty="0">
                <a:solidFill>
                  <a:schemeClr val="tx1"/>
                </a:solidFill>
                <a:latin typeface="Century Gothic" panose="020B0502020202020204" pitchFamily="34" charset="0"/>
              </a:rPr>
              <a:t>s</a:t>
            </a:r>
            <a:r>
              <a:rPr sz="1400" b="0" dirty="0">
                <a:solidFill>
                  <a:schemeClr val="tx1"/>
                </a:solidFill>
                <a:latin typeface="Century Gothic" panose="020B0502020202020204" pitchFamily="34" charset="0"/>
              </a:rPr>
              <a:t>he participated in Documenta numerous times.</a:t>
            </a:r>
            <a:endParaRPr sz="1400" dirty="0">
              <a:solidFill>
                <a:schemeClr val="tx1"/>
              </a:solidFill>
              <a:latin typeface="Century Gothic" panose="020B0502020202020204" pitchFamily="34" charset="0"/>
            </a:endParaRPr>
          </a:p>
          <a:p>
            <a:pPr marL="12700" marR="5080" algn="just">
              <a:lnSpc>
                <a:spcPct val="100000"/>
              </a:lnSpc>
              <a:spcBef>
                <a:spcPts val="900"/>
              </a:spcBef>
            </a:pPr>
            <a:r>
              <a:rPr sz="1400" b="0" dirty="0">
                <a:solidFill>
                  <a:schemeClr val="tx1"/>
                </a:solidFill>
                <a:latin typeface="Century Gothic" panose="020B0502020202020204" pitchFamily="34" charset="0"/>
              </a:rPr>
              <a:t>Since 1999, she travelled annually to New York, working there for several months during each trip on her projekt U</a:t>
            </a:r>
            <a:r>
              <a:rPr sz="1100" b="0" dirty="0">
                <a:solidFill>
                  <a:schemeClr val="tx1"/>
                </a:solidFill>
                <a:latin typeface="Century Gothic" panose="020B0502020202020204" pitchFamily="34" charset="0"/>
              </a:rPr>
              <a:t>NDERFOOT IN </a:t>
            </a:r>
            <a:r>
              <a:rPr sz="1400" b="0" dirty="0">
                <a:solidFill>
                  <a:schemeClr val="tx1"/>
                </a:solidFill>
                <a:latin typeface="Century Gothic" panose="020B0502020202020204" pitchFamily="34" charset="0"/>
              </a:rPr>
              <a:t>N</a:t>
            </a:r>
            <a:r>
              <a:rPr sz="1100" b="0" dirty="0">
                <a:solidFill>
                  <a:schemeClr val="tx1"/>
                </a:solidFill>
                <a:latin typeface="Century Gothic" panose="020B0502020202020204" pitchFamily="34" charset="0"/>
              </a:rPr>
              <a:t>EW </a:t>
            </a:r>
            <a:r>
              <a:rPr sz="1400" b="0" dirty="0">
                <a:solidFill>
                  <a:schemeClr val="tx1"/>
                </a:solidFill>
                <a:latin typeface="Century Gothic" panose="020B0502020202020204" pitchFamily="34" charset="0"/>
              </a:rPr>
              <a:t>Y</a:t>
            </a:r>
            <a:r>
              <a:rPr sz="1100" b="0" dirty="0">
                <a:solidFill>
                  <a:schemeClr val="tx1"/>
                </a:solidFill>
                <a:latin typeface="Century Gothic" panose="020B0502020202020204" pitchFamily="34" charset="0"/>
              </a:rPr>
              <a:t>ORK</a:t>
            </a:r>
            <a:r>
              <a:rPr sz="1400" b="0" dirty="0">
                <a:solidFill>
                  <a:schemeClr val="tx1"/>
                </a:solidFill>
                <a:latin typeface="Century Gothic" panose="020B0502020202020204" pitchFamily="34" charset="0"/>
              </a:rPr>
              <a:t>.</a:t>
            </a:r>
            <a:endParaRPr lang="de-DE" sz="1400" b="0" dirty="0">
              <a:solidFill>
                <a:schemeClr val="tx1"/>
              </a:solidFill>
              <a:latin typeface="Century Gothic" panose="020B0502020202020204" pitchFamily="34" charset="0"/>
            </a:endParaRPr>
          </a:p>
          <a:p>
            <a:pPr marL="12700" marR="5080" algn="just">
              <a:lnSpc>
                <a:spcPct val="100000"/>
              </a:lnSpc>
              <a:spcBef>
                <a:spcPts val="900"/>
              </a:spcBef>
            </a:pPr>
            <a:r>
              <a:rPr lang="de-DE" sz="1400" b="0" dirty="0" err="1">
                <a:solidFill>
                  <a:schemeClr val="tx1"/>
                </a:solidFill>
                <a:latin typeface="Century Gothic" panose="020B0502020202020204" pitchFamily="34" charset="0"/>
              </a:rPr>
              <a:t>Gisla</a:t>
            </a:r>
            <a:r>
              <a:rPr lang="de-DE" sz="1400" b="0" dirty="0">
                <a:solidFill>
                  <a:schemeClr val="tx1"/>
                </a:solidFill>
                <a:latin typeface="Century Gothic" panose="020B0502020202020204" pitchFamily="34" charset="0"/>
              </a:rPr>
              <a:t> Burkhardt </a:t>
            </a:r>
            <a:r>
              <a:rPr lang="de-DE" sz="1400" b="0" dirty="0" err="1">
                <a:solidFill>
                  <a:schemeClr val="tx1"/>
                </a:solidFill>
                <a:latin typeface="Century Gothic" panose="020B0502020202020204" pitchFamily="34" charset="0"/>
              </a:rPr>
              <a:t>died</a:t>
            </a:r>
            <a:r>
              <a:rPr lang="de-DE" sz="1400" b="0" dirty="0">
                <a:solidFill>
                  <a:schemeClr val="tx1"/>
                </a:solidFill>
                <a:latin typeface="Century Gothic" panose="020B0502020202020204" pitchFamily="34" charset="0"/>
              </a:rPr>
              <a:t> in Berlin on </a:t>
            </a:r>
            <a:r>
              <a:rPr lang="de-DE" sz="1400" b="0" dirty="0" err="1">
                <a:solidFill>
                  <a:schemeClr val="tx1"/>
                </a:solidFill>
                <a:latin typeface="Century Gothic" panose="020B0502020202020204" pitchFamily="34" charset="0"/>
              </a:rPr>
              <a:t>July</a:t>
            </a:r>
            <a:r>
              <a:rPr lang="de-DE" sz="1400" b="0" dirty="0">
                <a:solidFill>
                  <a:schemeClr val="tx1"/>
                </a:solidFill>
                <a:latin typeface="Century Gothic" panose="020B0502020202020204" pitchFamily="34" charset="0"/>
              </a:rPr>
              <a:t> 4, 2024.</a:t>
            </a:r>
            <a:endParaRPr sz="1400" dirty="0">
              <a:solidFill>
                <a:schemeClr val="tx1"/>
              </a:solidFill>
              <a:latin typeface="Century Gothic" panose="020B0502020202020204" pitchFamily="34" charset="0"/>
            </a:endParaRPr>
          </a:p>
        </p:txBody>
      </p:sp>
      <p:grpSp>
        <p:nvGrpSpPr>
          <p:cNvPr id="4" name="object 4"/>
          <p:cNvGrpSpPr/>
          <p:nvPr/>
        </p:nvGrpSpPr>
        <p:grpSpPr>
          <a:xfrm>
            <a:off x="853461" y="2254008"/>
            <a:ext cx="3467100" cy="4450080"/>
            <a:chOff x="853461" y="2254008"/>
            <a:chExt cx="3467100" cy="4450080"/>
          </a:xfrm>
        </p:grpSpPr>
        <p:pic>
          <p:nvPicPr>
            <p:cNvPr id="5" name="object 5"/>
            <p:cNvPicPr/>
            <p:nvPr/>
          </p:nvPicPr>
          <p:blipFill>
            <a:blip r:embed="rId2" cstate="print"/>
            <a:stretch>
              <a:fillRect/>
            </a:stretch>
          </p:blipFill>
          <p:spPr>
            <a:xfrm>
              <a:off x="853461" y="2254008"/>
              <a:ext cx="3467068" cy="4450055"/>
            </a:xfrm>
            <a:prstGeom prst="rect">
              <a:avLst/>
            </a:prstGeom>
          </p:spPr>
        </p:pic>
        <p:pic>
          <p:nvPicPr>
            <p:cNvPr id="6" name="object 6"/>
            <p:cNvPicPr/>
            <p:nvPr/>
          </p:nvPicPr>
          <p:blipFill>
            <a:blip r:embed="rId3" cstate="print"/>
            <a:stretch>
              <a:fillRect/>
            </a:stretch>
          </p:blipFill>
          <p:spPr>
            <a:xfrm>
              <a:off x="998562" y="2412428"/>
              <a:ext cx="2952368" cy="3935095"/>
            </a:xfrm>
            <a:prstGeom prst="rect">
              <a:avLst/>
            </a:prstGeom>
          </p:spPr>
        </p:pic>
      </p:grpSp>
      <p:sp>
        <p:nvSpPr>
          <p:cNvPr id="12" name="object 2">
            <a:extLst>
              <a:ext uri="{FF2B5EF4-FFF2-40B4-BE49-F238E27FC236}">
                <a16:creationId xmlns:a16="http://schemas.microsoft.com/office/drawing/2014/main" id="{C9C7351E-445F-7B4E-9911-0BE398166061}"/>
              </a:ext>
            </a:extLst>
          </p:cNvPr>
          <p:cNvSpPr txBox="1">
            <a:spLocks noGrp="1"/>
          </p:cNvSpPr>
          <p:nvPr>
            <p:ph type="title"/>
          </p:nvPr>
        </p:nvSpPr>
        <p:spPr>
          <a:xfrm>
            <a:off x="5880100" y="428625"/>
            <a:ext cx="4381245" cy="1597565"/>
          </a:xfrm>
          <a:prstGeom prst="rect">
            <a:avLst/>
          </a:prstGeom>
        </p:spPr>
        <p:txBody>
          <a:bodyPr vert="horz" wrap="square" lIns="0" tIns="119075" rIns="0" bIns="0" rtlCol="0">
            <a:spAutoFit/>
          </a:bodyPr>
          <a:lstStyle/>
          <a:p>
            <a:pPr marL="720090">
              <a:lnSpc>
                <a:spcPct val="100000"/>
              </a:lnSpc>
              <a:spcBef>
                <a:spcPts val="95"/>
              </a:spcBef>
            </a:pPr>
            <a:r>
              <a:rPr sz="4800" spc="-305" dirty="0">
                <a:solidFill>
                  <a:schemeClr val="tx1"/>
                </a:solidFill>
                <a:latin typeface="Goldstone" panose="02000504000000020004" pitchFamily="2" charset="0"/>
              </a:rPr>
              <a:t>Gisla</a:t>
            </a:r>
            <a:r>
              <a:rPr sz="4800" spc="320" dirty="0">
                <a:solidFill>
                  <a:schemeClr val="tx1"/>
                </a:solidFill>
                <a:latin typeface="Goldstone" panose="02000504000000020004" pitchFamily="2" charset="0"/>
              </a:rPr>
              <a:t> </a:t>
            </a:r>
            <a:r>
              <a:rPr sz="4800" spc="-225" dirty="0">
                <a:solidFill>
                  <a:schemeClr val="tx1"/>
                </a:solidFill>
                <a:latin typeface="Goldstone" panose="02000504000000020004" pitchFamily="2" charset="0"/>
              </a:rPr>
              <a:t>Burkhardt</a:t>
            </a:r>
          </a:p>
        </p:txBody>
      </p:sp>
      <p:sp>
        <p:nvSpPr>
          <p:cNvPr id="9" name="Slide Number Placeholder 14">
            <a:extLst>
              <a:ext uri="{FF2B5EF4-FFF2-40B4-BE49-F238E27FC236}">
                <a16:creationId xmlns:a16="http://schemas.microsoft.com/office/drawing/2014/main" id="{23DE5019-1EDD-BA42-BB11-02A38BD17DA4}"/>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20</a:t>
            </a:r>
            <a:endParaRPr lang="de-DE" spc="-25" dirty="0">
              <a:solidFill>
                <a:schemeClr val="tx1">
                  <a:lumMod val="50000"/>
                  <a:lumOff val="50000"/>
                </a:schemeClr>
              </a:solidFill>
              <a:latin typeface="Century Gothic" panose="020B0502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object 7">
            <a:extLst>
              <a:ext uri="{FF2B5EF4-FFF2-40B4-BE49-F238E27FC236}">
                <a16:creationId xmlns:a16="http://schemas.microsoft.com/office/drawing/2014/main" id="{D917169A-815D-AE4B-A785-63C4A68F4710}"/>
              </a:ext>
            </a:extLst>
          </p:cNvPr>
          <p:cNvPicPr/>
          <p:nvPr/>
        </p:nvPicPr>
        <p:blipFill>
          <a:blip r:embed="rId2" cstate="print"/>
          <a:stretch>
            <a:fillRect/>
          </a:stretch>
        </p:blipFill>
        <p:spPr>
          <a:xfrm>
            <a:off x="315087" y="1188079"/>
            <a:ext cx="4645232" cy="6221786"/>
          </a:xfrm>
          <a:prstGeom prst="rect">
            <a:avLst/>
          </a:prstGeom>
        </p:spPr>
      </p:pic>
      <p:sp>
        <p:nvSpPr>
          <p:cNvPr id="5" name="object 5"/>
          <p:cNvSpPr txBox="1"/>
          <p:nvPr/>
        </p:nvSpPr>
        <p:spPr>
          <a:xfrm>
            <a:off x="5194300" y="2569199"/>
            <a:ext cx="4878070" cy="1244600"/>
          </a:xfrm>
          <a:prstGeom prst="rect">
            <a:avLst/>
          </a:prstGeom>
        </p:spPr>
        <p:txBody>
          <a:bodyPr vert="horz" wrap="square" lIns="0" tIns="12065" rIns="0" bIns="0" rtlCol="0">
            <a:spAutoFit/>
          </a:bodyPr>
          <a:lstStyle/>
          <a:p>
            <a:pPr marL="12700">
              <a:lnSpc>
                <a:spcPct val="100000"/>
              </a:lnSpc>
              <a:spcBef>
                <a:spcPts val="95"/>
              </a:spcBef>
            </a:pPr>
            <a:r>
              <a:rPr sz="1600" b="1" dirty="0">
                <a:solidFill>
                  <a:schemeClr val="tx1"/>
                </a:solidFill>
                <a:latin typeface="Arial"/>
                <a:cs typeface="Arial"/>
              </a:rPr>
              <a:t>Literature</a:t>
            </a:r>
            <a:endParaRPr sz="1600" dirty="0">
              <a:solidFill>
                <a:schemeClr val="tx1"/>
              </a:solidFill>
              <a:latin typeface="Arial"/>
              <a:cs typeface="Arial"/>
            </a:endParaRPr>
          </a:p>
          <a:p>
            <a:pPr>
              <a:lnSpc>
                <a:spcPct val="100000"/>
              </a:lnSpc>
              <a:spcBef>
                <a:spcPts val="680"/>
              </a:spcBef>
            </a:pPr>
            <a:endParaRPr sz="1600" dirty="0">
              <a:solidFill>
                <a:schemeClr val="tx1"/>
              </a:solidFill>
              <a:latin typeface="Arial"/>
              <a:cs typeface="Arial"/>
            </a:endParaRPr>
          </a:p>
          <a:p>
            <a:pPr marL="911860" marR="5080" indent="-899794">
              <a:lnSpc>
                <a:spcPct val="100000"/>
              </a:lnSpc>
            </a:pPr>
            <a:r>
              <a:rPr sz="1300" b="1" dirty="0">
                <a:solidFill>
                  <a:schemeClr val="tx1"/>
                </a:solidFill>
                <a:latin typeface="Arial"/>
                <a:cs typeface="Arial"/>
              </a:rPr>
              <a:t>Diana Stuart</a:t>
            </a:r>
            <a:r>
              <a:rPr sz="1200" b="1" dirty="0">
                <a:solidFill>
                  <a:schemeClr val="tx1"/>
                </a:solidFill>
                <a:latin typeface="Arial"/>
                <a:cs typeface="Arial"/>
              </a:rPr>
              <a:t>: </a:t>
            </a:r>
            <a:r>
              <a:rPr sz="1200" dirty="0">
                <a:solidFill>
                  <a:schemeClr val="tx1"/>
                </a:solidFill>
                <a:latin typeface="Arial"/>
                <a:cs typeface="Arial"/>
              </a:rPr>
              <a:t>Designs Underfoot. The Art of Manhole Covers in New</a:t>
            </a:r>
            <a:r>
              <a:rPr lang="de-DE" sz="1200" dirty="0">
                <a:solidFill>
                  <a:schemeClr val="tx1"/>
                </a:solidFill>
                <a:latin typeface="Arial"/>
                <a:cs typeface="Arial"/>
              </a:rPr>
              <a:t> 	    </a:t>
            </a:r>
            <a:r>
              <a:rPr sz="1200" dirty="0">
                <a:solidFill>
                  <a:schemeClr val="tx1"/>
                </a:solidFill>
                <a:latin typeface="Arial"/>
                <a:cs typeface="Arial"/>
              </a:rPr>
              <a:t>York City 2003 Published by Design Books</a:t>
            </a:r>
          </a:p>
          <a:p>
            <a:pPr marL="12700">
              <a:lnSpc>
                <a:spcPct val="100000"/>
              </a:lnSpc>
              <a:spcBef>
                <a:spcPts val="600"/>
              </a:spcBef>
            </a:pPr>
            <a:r>
              <a:rPr sz="1300" b="1" dirty="0">
                <a:solidFill>
                  <a:schemeClr val="tx1"/>
                </a:solidFill>
                <a:latin typeface="Arial"/>
                <a:cs typeface="Arial"/>
              </a:rPr>
              <a:t>Mimi &amp; Robert A.</a:t>
            </a:r>
            <a:endParaRPr sz="1300" dirty="0">
              <a:solidFill>
                <a:schemeClr val="tx1"/>
              </a:solidFill>
              <a:latin typeface="Arial"/>
              <a:cs typeface="Arial"/>
            </a:endParaRPr>
          </a:p>
        </p:txBody>
      </p:sp>
      <p:sp>
        <p:nvSpPr>
          <p:cNvPr id="6" name="object 6"/>
          <p:cNvSpPr txBox="1"/>
          <p:nvPr/>
        </p:nvSpPr>
        <p:spPr>
          <a:xfrm>
            <a:off x="5194300" y="4086225"/>
            <a:ext cx="746253" cy="212238"/>
          </a:xfrm>
          <a:prstGeom prst="rect">
            <a:avLst/>
          </a:prstGeom>
        </p:spPr>
        <p:txBody>
          <a:bodyPr vert="horz" wrap="square" lIns="0" tIns="12065" rIns="0" bIns="0" rtlCol="0">
            <a:spAutoFit/>
          </a:bodyPr>
          <a:lstStyle/>
          <a:p>
            <a:pPr marL="12700">
              <a:lnSpc>
                <a:spcPct val="100000"/>
              </a:lnSpc>
              <a:spcBef>
                <a:spcPts val="95"/>
              </a:spcBef>
            </a:pPr>
            <a:r>
              <a:rPr sz="1300" b="1" dirty="0">
                <a:solidFill>
                  <a:schemeClr val="tx1"/>
                </a:solidFill>
                <a:latin typeface="Arial"/>
                <a:cs typeface="Arial"/>
              </a:rPr>
              <a:t>Melnick:</a:t>
            </a:r>
            <a:endParaRPr sz="1300" dirty="0">
              <a:solidFill>
                <a:schemeClr val="tx1"/>
              </a:solidFill>
              <a:latin typeface="Arial"/>
              <a:cs typeface="Arial"/>
            </a:endParaRPr>
          </a:p>
        </p:txBody>
      </p:sp>
      <p:sp>
        <p:nvSpPr>
          <p:cNvPr id="7" name="object 7"/>
          <p:cNvSpPr txBox="1"/>
          <p:nvPr/>
        </p:nvSpPr>
        <p:spPr>
          <a:xfrm>
            <a:off x="5940553" y="4118420"/>
            <a:ext cx="4321175" cy="374333"/>
          </a:xfrm>
          <a:prstGeom prst="rect">
            <a:avLst/>
          </a:prstGeom>
        </p:spPr>
        <p:txBody>
          <a:bodyPr vert="horz" wrap="square" lIns="0" tIns="9525" rIns="0" bIns="0" rtlCol="0">
            <a:spAutoFit/>
          </a:bodyPr>
          <a:lstStyle/>
          <a:p>
            <a:pPr marL="12700" marR="5080">
              <a:lnSpc>
                <a:spcPct val="101699"/>
              </a:lnSpc>
              <a:spcBef>
                <a:spcPts val="75"/>
              </a:spcBef>
            </a:pPr>
            <a:r>
              <a:rPr sz="1200" dirty="0">
                <a:solidFill>
                  <a:schemeClr val="tx1"/>
                </a:solidFill>
                <a:latin typeface="Arial"/>
                <a:cs typeface="Arial"/>
              </a:rPr>
              <a:t>Manhole Covers. 1994 Massachusetts Institute of Technology, Second printing.</a:t>
            </a:r>
          </a:p>
        </p:txBody>
      </p:sp>
      <p:sp>
        <p:nvSpPr>
          <p:cNvPr id="8" name="object 8"/>
          <p:cNvSpPr txBox="1"/>
          <p:nvPr/>
        </p:nvSpPr>
        <p:spPr>
          <a:xfrm>
            <a:off x="5194300" y="4603084"/>
            <a:ext cx="4251453" cy="751488"/>
          </a:xfrm>
          <a:prstGeom prst="rect">
            <a:avLst/>
          </a:prstGeom>
        </p:spPr>
        <p:txBody>
          <a:bodyPr vert="horz" wrap="square" lIns="0" tIns="88900" rIns="0" bIns="0" rtlCol="0">
            <a:spAutoFit/>
          </a:bodyPr>
          <a:lstStyle/>
          <a:p>
            <a:pPr marL="12700">
              <a:lnSpc>
                <a:spcPct val="100000"/>
              </a:lnSpc>
              <a:spcBef>
                <a:spcPts val="700"/>
              </a:spcBef>
            </a:pPr>
            <a:r>
              <a:rPr sz="1300" b="1" dirty="0">
                <a:solidFill>
                  <a:schemeClr val="tx1"/>
                </a:solidFill>
                <a:latin typeface="Arial"/>
                <a:cs typeface="Arial"/>
              </a:rPr>
              <a:t>New York Times: </a:t>
            </a:r>
            <a:r>
              <a:rPr sz="1200" dirty="0">
                <a:solidFill>
                  <a:schemeClr val="tx1"/>
                </a:solidFill>
                <a:latin typeface="Arial"/>
                <a:cs typeface="Arial"/>
              </a:rPr>
              <a:t>various articles between 2000 and 2005</a:t>
            </a:r>
            <a:br>
              <a:rPr lang="de-DE" sz="1200" dirty="0">
                <a:solidFill>
                  <a:schemeClr val="tx1"/>
                </a:solidFill>
                <a:latin typeface="Arial"/>
                <a:cs typeface="Arial"/>
              </a:rPr>
            </a:br>
            <a:endParaRPr sz="1200" dirty="0">
              <a:solidFill>
                <a:schemeClr val="tx1"/>
              </a:solidFill>
              <a:latin typeface="Arial"/>
              <a:cs typeface="Arial"/>
            </a:endParaRPr>
          </a:p>
          <a:p>
            <a:pPr marL="12700">
              <a:lnSpc>
                <a:spcPct val="100000"/>
              </a:lnSpc>
              <a:spcBef>
                <a:spcPts val="600"/>
              </a:spcBef>
            </a:pPr>
            <a:r>
              <a:rPr sz="1300" b="1" dirty="0">
                <a:solidFill>
                  <a:schemeClr val="tx1"/>
                </a:solidFill>
                <a:latin typeface="Arial"/>
                <a:cs typeface="Arial"/>
              </a:rPr>
              <a:t>New York Chronicle</a:t>
            </a:r>
            <a:endParaRPr sz="1300" dirty="0">
              <a:solidFill>
                <a:schemeClr val="tx1"/>
              </a:solidFill>
              <a:latin typeface="Arial"/>
              <a:cs typeface="Arial"/>
            </a:endParaRPr>
          </a:p>
        </p:txBody>
      </p:sp>
      <p:sp>
        <p:nvSpPr>
          <p:cNvPr id="10" name="object 10"/>
          <p:cNvSpPr/>
          <p:nvPr/>
        </p:nvSpPr>
        <p:spPr>
          <a:xfrm>
            <a:off x="5210047" y="5534025"/>
            <a:ext cx="3456940" cy="0"/>
          </a:xfrm>
          <a:custGeom>
            <a:avLst/>
            <a:gdLst/>
            <a:ahLst/>
            <a:cxnLst/>
            <a:rect l="l" t="t" r="r" b="b"/>
            <a:pathLst>
              <a:path w="3456940">
                <a:moveTo>
                  <a:pt x="0" y="0"/>
                </a:moveTo>
                <a:lnTo>
                  <a:pt x="3456432" y="0"/>
                </a:lnTo>
              </a:path>
            </a:pathLst>
          </a:custGeom>
          <a:ln w="31750">
            <a:solidFill>
              <a:srgbClr val="666666"/>
            </a:solidFill>
          </a:ln>
        </p:spPr>
        <p:txBody>
          <a:bodyPr wrap="square" lIns="0" tIns="0" rIns="0" bIns="0" rtlCol="0"/>
          <a:lstStyle/>
          <a:p>
            <a:endParaRPr>
              <a:solidFill>
                <a:schemeClr val="tx1"/>
              </a:solidFill>
            </a:endParaRPr>
          </a:p>
        </p:txBody>
      </p:sp>
      <p:sp>
        <p:nvSpPr>
          <p:cNvPr id="11" name="object 11"/>
          <p:cNvSpPr txBox="1"/>
          <p:nvPr/>
        </p:nvSpPr>
        <p:spPr>
          <a:xfrm>
            <a:off x="2848609" y="5728223"/>
            <a:ext cx="2117091" cy="780983"/>
          </a:xfrm>
          <a:prstGeom prst="rect">
            <a:avLst/>
          </a:prstGeom>
          <a:solidFill>
            <a:srgbClr val="D6D6D6"/>
          </a:solidFill>
        </p:spPr>
        <p:txBody>
          <a:bodyPr vert="horz" wrap="square" lIns="0" tIns="41910" rIns="0" bIns="0" rtlCol="0">
            <a:spAutoFit/>
          </a:bodyPr>
          <a:lstStyle/>
          <a:p>
            <a:pPr marL="91440" marR="340360" algn="r">
              <a:lnSpc>
                <a:spcPct val="100000"/>
              </a:lnSpc>
              <a:spcBef>
                <a:spcPts val="330"/>
              </a:spcBef>
            </a:pPr>
            <a:r>
              <a:rPr sz="1200" dirty="0">
                <a:latin typeface="Century Gothic" panose="020B0502020202020204" pitchFamily="34" charset="0"/>
                <a:cs typeface="Arial"/>
              </a:rPr>
              <a:t>Con Edison Millennium 2000 by Karim Rashid, Irving Place Rubbing made July 2000</a:t>
            </a:r>
          </a:p>
        </p:txBody>
      </p:sp>
      <p:sp>
        <p:nvSpPr>
          <p:cNvPr id="12" name="object 12"/>
          <p:cNvSpPr txBox="1"/>
          <p:nvPr/>
        </p:nvSpPr>
        <p:spPr>
          <a:xfrm>
            <a:off x="8775700" y="2147443"/>
            <a:ext cx="1954784" cy="212238"/>
          </a:xfrm>
          <a:prstGeom prst="rect">
            <a:avLst/>
          </a:prstGeom>
        </p:spPr>
        <p:txBody>
          <a:bodyPr vert="horz" wrap="square" lIns="0" tIns="12065" rIns="0" bIns="0" rtlCol="0">
            <a:spAutoFit/>
          </a:bodyPr>
          <a:lstStyle/>
          <a:p>
            <a:pPr marL="12700">
              <a:lnSpc>
                <a:spcPct val="100000"/>
              </a:lnSpc>
              <a:spcBef>
                <a:spcPts val="95"/>
              </a:spcBef>
            </a:pPr>
            <a:r>
              <a:rPr lang="de-DE" sz="1300" b="1" dirty="0">
                <a:solidFill>
                  <a:schemeClr val="tx1"/>
                </a:solidFill>
                <a:latin typeface="Arial"/>
                <a:cs typeface="Arial"/>
              </a:rPr>
              <a:t>http://</a:t>
            </a:r>
            <a:r>
              <a:rPr lang="de-DE" sz="1300" b="1" dirty="0" err="1">
                <a:solidFill>
                  <a:schemeClr val="tx1"/>
                </a:solidFill>
                <a:latin typeface="Arial"/>
                <a:cs typeface="Arial"/>
              </a:rPr>
              <a:t>gisla-art.github.io</a:t>
            </a:r>
            <a:endParaRPr sz="1300" b="1" dirty="0">
              <a:solidFill>
                <a:schemeClr val="tx1"/>
              </a:solidFill>
              <a:latin typeface="Arial"/>
              <a:cs typeface="Arial"/>
            </a:endParaRPr>
          </a:p>
        </p:txBody>
      </p:sp>
      <p:pic>
        <p:nvPicPr>
          <p:cNvPr id="13" name="object 13"/>
          <p:cNvPicPr/>
          <p:nvPr/>
        </p:nvPicPr>
        <p:blipFill>
          <a:blip r:embed="rId3" cstate="print"/>
          <a:stretch>
            <a:fillRect/>
          </a:stretch>
        </p:blipFill>
        <p:spPr>
          <a:xfrm>
            <a:off x="8635246" y="5546338"/>
            <a:ext cx="1795390" cy="1795390"/>
          </a:xfrm>
          <a:prstGeom prst="rect">
            <a:avLst/>
          </a:prstGeom>
        </p:spPr>
      </p:pic>
      <p:sp>
        <p:nvSpPr>
          <p:cNvPr id="14" name="object 14"/>
          <p:cNvSpPr txBox="1"/>
          <p:nvPr/>
        </p:nvSpPr>
        <p:spPr>
          <a:xfrm>
            <a:off x="5194300" y="5773121"/>
            <a:ext cx="2932202" cy="1004762"/>
          </a:xfrm>
          <a:prstGeom prst="rect">
            <a:avLst/>
          </a:prstGeom>
        </p:spPr>
        <p:txBody>
          <a:bodyPr vert="horz" wrap="square" lIns="0" tIns="12065" rIns="0" bIns="0" rtlCol="0">
            <a:spAutoFit/>
          </a:bodyPr>
          <a:lstStyle/>
          <a:p>
            <a:pPr marL="12700" algn="just">
              <a:lnSpc>
                <a:spcPct val="100000"/>
              </a:lnSpc>
              <a:spcBef>
                <a:spcPts val="95"/>
              </a:spcBef>
            </a:pPr>
            <a:r>
              <a:rPr sz="1600" b="1" dirty="0">
                <a:solidFill>
                  <a:schemeClr val="tx1"/>
                </a:solidFill>
                <a:latin typeface="Arial"/>
                <a:cs typeface="Arial"/>
              </a:rPr>
              <a:t>IE,</a:t>
            </a:r>
            <a:r>
              <a:rPr lang="de-DE" sz="1600" b="1" dirty="0">
                <a:solidFill>
                  <a:schemeClr val="tx1"/>
                </a:solidFill>
                <a:latin typeface="Arial"/>
                <a:cs typeface="Arial"/>
              </a:rPr>
              <a:t> </a:t>
            </a:r>
            <a:r>
              <a:rPr sz="1200" b="1" dirty="0">
                <a:solidFill>
                  <a:schemeClr val="tx1"/>
                </a:solidFill>
                <a:latin typeface="Arial"/>
                <a:cs typeface="Arial"/>
              </a:rPr>
              <a:t>the</a:t>
            </a:r>
            <a:r>
              <a:rPr lang="de-DE" sz="1200" b="1" dirty="0">
                <a:solidFill>
                  <a:schemeClr val="tx1"/>
                </a:solidFill>
                <a:latin typeface="Arial"/>
                <a:cs typeface="Arial"/>
              </a:rPr>
              <a:t> </a:t>
            </a:r>
            <a:r>
              <a:rPr sz="1600" b="1" dirty="0">
                <a:solidFill>
                  <a:schemeClr val="tx1"/>
                </a:solidFill>
                <a:latin typeface="Arial"/>
                <a:cs typeface="Arial"/>
              </a:rPr>
              <a:t>I</a:t>
            </a:r>
            <a:r>
              <a:rPr sz="1250" b="1" dirty="0">
                <a:solidFill>
                  <a:schemeClr val="tx1"/>
                </a:solidFill>
                <a:latin typeface="Arial"/>
                <a:cs typeface="Arial"/>
              </a:rPr>
              <a:t>NSPIRING</a:t>
            </a:r>
            <a:r>
              <a:rPr lang="de-DE" sz="1250" b="1" dirty="0">
                <a:solidFill>
                  <a:schemeClr val="tx1"/>
                </a:solidFill>
                <a:latin typeface="Arial"/>
                <a:cs typeface="Arial"/>
              </a:rPr>
              <a:t> </a:t>
            </a:r>
            <a:r>
              <a:rPr sz="1600" b="1" dirty="0">
                <a:solidFill>
                  <a:schemeClr val="tx1"/>
                </a:solidFill>
                <a:latin typeface="Arial"/>
                <a:cs typeface="Arial"/>
              </a:rPr>
              <a:t>E</a:t>
            </a:r>
            <a:r>
              <a:rPr sz="1250" b="1" dirty="0">
                <a:solidFill>
                  <a:schemeClr val="tx1"/>
                </a:solidFill>
                <a:latin typeface="Arial"/>
                <a:cs typeface="Arial"/>
              </a:rPr>
              <a:t>NVIRONMENT</a:t>
            </a:r>
            <a:br>
              <a:rPr lang="de-DE" sz="1250" b="1" dirty="0">
                <a:solidFill>
                  <a:schemeClr val="tx1"/>
                </a:solidFill>
                <a:latin typeface="Arial"/>
                <a:cs typeface="Arial"/>
              </a:rPr>
            </a:br>
            <a:endParaRPr sz="1250" dirty="0">
              <a:solidFill>
                <a:schemeClr val="tx1"/>
              </a:solidFill>
              <a:latin typeface="Arial"/>
              <a:cs typeface="Arial"/>
            </a:endParaRPr>
          </a:p>
          <a:p>
            <a:pPr marL="12700" marR="5715" algn="just">
              <a:lnSpc>
                <a:spcPct val="100000"/>
              </a:lnSpc>
              <a:spcBef>
                <a:spcPts val="25"/>
              </a:spcBef>
            </a:pPr>
            <a:r>
              <a:rPr sz="1200" b="1" dirty="0">
                <a:solidFill>
                  <a:schemeClr val="tx1"/>
                </a:solidFill>
                <a:latin typeface="Arial"/>
                <a:cs typeface="Arial"/>
              </a:rPr>
              <a:t>initiative, an association based in Berlin reaching out to New York and to people in transition worldwide</a:t>
            </a:r>
            <a:endParaRPr sz="1200" dirty="0">
              <a:solidFill>
                <a:schemeClr val="tx1"/>
              </a:solidFill>
              <a:latin typeface="Arial"/>
              <a:cs typeface="Arial"/>
            </a:endParaRPr>
          </a:p>
        </p:txBody>
      </p:sp>
      <p:sp>
        <p:nvSpPr>
          <p:cNvPr id="18" name="Slide Number Placeholder 14">
            <a:extLst>
              <a:ext uri="{FF2B5EF4-FFF2-40B4-BE49-F238E27FC236}">
                <a16:creationId xmlns:a16="http://schemas.microsoft.com/office/drawing/2014/main" id="{91067A95-228C-2649-BDDE-9142105DACE8}"/>
              </a:ext>
            </a:extLst>
          </p:cNvPr>
          <p:cNvSpPr txBox="1">
            <a:spLocks/>
          </p:cNvSpPr>
          <p:nvPr/>
        </p:nvSpPr>
        <p:spPr>
          <a:xfrm>
            <a:off x="314430" y="317813"/>
            <a:ext cx="536469" cy="232115"/>
          </a:xfrm>
          <a:prstGeom prst="rect">
            <a:avLst/>
          </a:prstGeom>
        </p:spPr>
        <p:txBody>
          <a:bodyPr wrap="square" lIns="0" tIns="0" rIns="0" bIns="0">
            <a:spAutoFit/>
          </a:bodyPr>
          <a:lstStyle>
            <a:defPPr>
              <a:defRPr kern="0"/>
            </a:defPPr>
            <a:lvl1pPr>
              <a:defRPr sz="1600" b="1" i="0">
                <a:solidFill>
                  <a:schemeClr val="tx1"/>
                </a:solidFill>
                <a:latin typeface="Arial"/>
                <a:cs typeface="Arial"/>
              </a:defRPr>
            </a:lvl1pPr>
          </a:lstStyle>
          <a:p>
            <a:pPr marL="12700">
              <a:lnSpc>
                <a:spcPts val="1614"/>
              </a:lnSpc>
            </a:pPr>
            <a:r>
              <a:rPr lang="de-DE" sz="2800" spc="-25" dirty="0">
                <a:solidFill>
                  <a:schemeClr val="tx1">
                    <a:lumMod val="50000"/>
                    <a:lumOff val="50000"/>
                  </a:schemeClr>
                </a:solidFill>
                <a:latin typeface="Century Gothic" panose="020B0502020202020204" pitchFamily="34" charset="0"/>
              </a:rPr>
              <a:t>21</a:t>
            </a:r>
            <a:endParaRPr lang="de-DE" spc="-25" dirty="0">
              <a:solidFill>
                <a:schemeClr val="tx1">
                  <a:lumMod val="50000"/>
                  <a:lumOff val="50000"/>
                </a:schemeClr>
              </a:solidFill>
              <a:latin typeface="Century Gothic" panose="020B0502020202020204" pitchFamily="34" charset="0"/>
            </a:endParaRPr>
          </a:p>
        </p:txBody>
      </p:sp>
      <p:sp>
        <p:nvSpPr>
          <p:cNvPr id="20" name="TextBox 19">
            <a:extLst>
              <a:ext uri="{FF2B5EF4-FFF2-40B4-BE49-F238E27FC236}">
                <a16:creationId xmlns:a16="http://schemas.microsoft.com/office/drawing/2014/main" id="{81EE032D-F869-EC42-BEC2-CB4E72874206}"/>
              </a:ext>
            </a:extLst>
          </p:cNvPr>
          <p:cNvSpPr txBox="1"/>
          <p:nvPr/>
        </p:nvSpPr>
        <p:spPr>
          <a:xfrm>
            <a:off x="8712200" y="1822003"/>
            <a:ext cx="1981200" cy="369332"/>
          </a:xfrm>
          <a:prstGeom prst="rect">
            <a:avLst/>
          </a:prstGeom>
          <a:noFill/>
        </p:spPr>
        <p:txBody>
          <a:bodyPr wrap="square" rtlCol="0">
            <a:spAutoFit/>
          </a:bodyPr>
          <a:lstStyle/>
          <a:p>
            <a:pPr algn="r"/>
            <a:r>
              <a:rPr lang="de-DE" sz="1800" spc="-140" dirty="0" err="1">
                <a:solidFill>
                  <a:schemeClr val="tx1"/>
                </a:solidFill>
                <a:latin typeface="Goldstone" panose="02000504000000020004" pitchFamily="2" charset="0"/>
                <a:cs typeface="Arial"/>
              </a:rPr>
              <a:t>Gisla</a:t>
            </a:r>
            <a:r>
              <a:rPr lang="de-DE" sz="1800" spc="-35" dirty="0">
                <a:solidFill>
                  <a:schemeClr val="tx1"/>
                </a:solidFill>
                <a:latin typeface="Goldstone" panose="02000504000000020004" pitchFamily="2" charset="0"/>
                <a:cs typeface="Arial"/>
              </a:rPr>
              <a:t> </a:t>
            </a:r>
            <a:r>
              <a:rPr lang="de-DE" sz="1800" spc="-10" dirty="0">
                <a:solidFill>
                  <a:schemeClr val="tx1"/>
                </a:solidFill>
                <a:latin typeface="Goldstone" panose="02000504000000020004" pitchFamily="2" charset="0"/>
                <a:cs typeface="Arial"/>
              </a:rPr>
              <a:t>Burkhardt</a:t>
            </a:r>
            <a:endParaRPr lang="de-DE" sz="1800" dirty="0">
              <a:solidFill>
                <a:schemeClr val="tx1"/>
              </a:solidFill>
              <a:latin typeface="Goldstone" panose="02000504000000020004" pitchFamily="2" charset="0"/>
              <a:cs typeface="Arial"/>
            </a:endParaRPr>
          </a:p>
        </p:txBody>
      </p:sp>
      <p:sp>
        <p:nvSpPr>
          <p:cNvPr id="21" name="TextBox 20">
            <a:extLst>
              <a:ext uri="{FF2B5EF4-FFF2-40B4-BE49-F238E27FC236}">
                <a16:creationId xmlns:a16="http://schemas.microsoft.com/office/drawing/2014/main" id="{64371E28-C223-6B49-A40D-048AD1EBBA5D}"/>
              </a:ext>
            </a:extLst>
          </p:cNvPr>
          <p:cNvSpPr txBox="1"/>
          <p:nvPr/>
        </p:nvSpPr>
        <p:spPr>
          <a:xfrm>
            <a:off x="7705830" y="1735693"/>
            <a:ext cx="1222270" cy="369332"/>
          </a:xfrm>
          <a:prstGeom prst="rect">
            <a:avLst/>
          </a:prstGeom>
          <a:noFill/>
        </p:spPr>
        <p:txBody>
          <a:bodyPr wrap="square" rtlCol="0">
            <a:spAutoFit/>
          </a:bodyPr>
          <a:lstStyle/>
          <a:p>
            <a:pPr algn="ctr"/>
            <a:r>
              <a:rPr lang="de-DE" b="1" spc="300" dirty="0" err="1">
                <a:solidFill>
                  <a:schemeClr val="tx1"/>
                </a:solidFill>
                <a:latin typeface="Century Gothic" panose="020B0502020202020204" pitchFamily="34" charset="0"/>
              </a:rPr>
              <a:t>by</a:t>
            </a:r>
            <a:r>
              <a:rPr lang="de-DE" b="1" spc="300" dirty="0">
                <a:solidFill>
                  <a:schemeClr val="tx1"/>
                </a:solidFill>
                <a:latin typeface="Century Gothic" panose="020B0502020202020204" pitchFamily="34" charset="0"/>
              </a:rPr>
              <a:t> IE &amp; </a:t>
            </a:r>
          </a:p>
        </p:txBody>
      </p:sp>
      <p:sp>
        <p:nvSpPr>
          <p:cNvPr id="22" name="TextBox 21">
            <a:extLst>
              <a:ext uri="{FF2B5EF4-FFF2-40B4-BE49-F238E27FC236}">
                <a16:creationId xmlns:a16="http://schemas.microsoft.com/office/drawing/2014/main" id="{5C8B8D40-9C99-1048-AFFB-90B9B47FB391}"/>
              </a:ext>
            </a:extLst>
          </p:cNvPr>
          <p:cNvSpPr txBox="1"/>
          <p:nvPr/>
        </p:nvSpPr>
        <p:spPr>
          <a:xfrm>
            <a:off x="5651500" y="600974"/>
            <a:ext cx="4191000" cy="1077218"/>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UNDERFOOT</a:t>
            </a:r>
          </a:p>
          <a:p>
            <a:pPr algn="ctr"/>
            <a:r>
              <a:rPr lang="de-DE" sz="3200" b="1" spc="300" dirty="0">
                <a:solidFill>
                  <a:schemeClr val="tx1"/>
                </a:solidFill>
                <a:latin typeface="Century Gothic" panose="020B0502020202020204" pitchFamily="34" charset="0"/>
              </a:rPr>
              <a:t>IN NEW YORK</a:t>
            </a:r>
          </a:p>
        </p:txBody>
      </p:sp>
      <p:sp>
        <p:nvSpPr>
          <p:cNvPr id="23" name="TextBox 22">
            <a:extLst>
              <a:ext uri="{FF2B5EF4-FFF2-40B4-BE49-F238E27FC236}">
                <a16:creationId xmlns:a16="http://schemas.microsoft.com/office/drawing/2014/main" id="{E6B9542F-2345-B443-A4D6-029FFBE2EA51}"/>
              </a:ext>
            </a:extLst>
          </p:cNvPr>
          <p:cNvSpPr txBox="1"/>
          <p:nvPr/>
        </p:nvSpPr>
        <p:spPr>
          <a:xfrm>
            <a:off x="5651500" y="145867"/>
            <a:ext cx="4191000" cy="584775"/>
          </a:xfrm>
          <a:prstGeom prst="rect">
            <a:avLst/>
          </a:prstGeom>
          <a:noFill/>
        </p:spPr>
        <p:txBody>
          <a:bodyPr wrap="square" rtlCol="0">
            <a:spAutoFit/>
          </a:bodyPr>
          <a:lstStyle/>
          <a:p>
            <a:pPr algn="ctr"/>
            <a:r>
              <a:rPr lang="de-DE" sz="3200" b="1" spc="300" dirty="0">
                <a:solidFill>
                  <a:schemeClr val="tx1"/>
                </a:solidFill>
                <a:latin typeface="Century Gothic" panose="020B0502020202020204" pitchFamily="34" charset="0"/>
              </a:rPr>
              <a:t>INSPIRATION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66666"/>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TotalTime>
  <Words>5409</Words>
  <Application>Microsoft Macintosh PowerPoint</Application>
  <PresentationFormat>Custom</PresentationFormat>
  <Paragraphs>232</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Narrow</vt:lpstr>
      <vt:lpstr>Calibri</vt:lpstr>
      <vt:lpstr>Century Gothic</vt:lpstr>
      <vt:lpstr>Euphemia UCAS</vt:lpstr>
      <vt:lpstr>Goldstone</vt:lpstr>
      <vt:lpstr>Office Theme</vt:lpstr>
      <vt:lpstr>Gisla Burkhardt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Gisla Burkhardt</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Dr. Frank Herdmann</dc:creator>
  <cp:lastModifiedBy>Margareta Reszka</cp:lastModifiedBy>
  <cp:revision>23</cp:revision>
  <dcterms:created xsi:type="dcterms:W3CDTF">2025-07-29T12:26:27Z</dcterms:created>
  <dcterms:modified xsi:type="dcterms:W3CDTF">2025-07-29T18:25:41Z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2017-10-08T00:00:00Z</vt:filetime>
  </property>
  <property fmtid="{D5CDD505-2E9C-101B-9397-08002B2CF9AE}" pid="3" name="Creator">
    <vt:lpwstr>Microsoft® PowerPoint® 2010</vt:lpwstr>
  </property>
  <property fmtid="{D5CDD505-2E9C-101B-9397-08002B2CF9AE}" pid="4" name="LastSaved">
    <vt:filetime>2025-07-29T00:00:00Z</vt:filetime>
  </property>
  <property fmtid="{D5CDD505-2E9C-101B-9397-08002B2CF9AE}" pid="5" name="Producer">
    <vt:lpwstr>Microsoft® PowerPoint® 2010</vt:lpwstr>
  </property>
</Properties>
</file>